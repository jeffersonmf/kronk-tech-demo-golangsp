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 noite, pessoal! É uma honra imensa estar aqui no evento oficial da GolangSP. Hoje vamos falar de um tema fascinante e de altíssimo nível: como criar e rodar inteligência artificial sem depender de serviços em nuvem, usando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mergulharmos de cabeça no código e na infraestrutura técnica, deixa eu me apresentar rapidamente. Sou o Jefferson, atuo como Engenheiro de Software Sênior e Tech Lead. Ao longo da minha trajetória profissional de mais de 20 anos, liderei arquitetura e engenharia em frentes de alta complexidade: atualmente estou na 1Global, focando em sistemas escaláveis de alto desempenho em Go; como consultor independente e em empresas como Tino e Tractian, projetei pipelines de IA local, RAG e orquestração de servidores MCP; tive uma longa passagem de 6 anos pela IBM e XP como Arquiteto de Big Data; e desenvolvi sistemas financeiros e de segurança de missão crítica para a B3 e o Itaú. É essa bagagem de sistemas distribuídos e IA prática que trago consolidada para vocês hoje!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 noite, pessoal! É um prazer enorme estar aqui no palco oficial da GolangSP. A nossa talk de hoje aborda a IA sem Cloud. Vamos focalizar 100% em engenharia de sistemas de IA e infraestrutura local-first. O nosso objetivo hoje é entender as engrenagens por dentro e provar como Go é a linguagem ideal para construir esse motor local de alta resiliência e baixíssimo custo.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Quero começar com uma provocação. Quantos de vocês já usaram um agente de IA pra programar? Quantos sabem exatamente quanto cada interação custa, em tokens, em dinheiro? É essa lacuna que essa talk ataca. Não é sobre 'IA é mágica'. É sobre entender o motor por dentro.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 interação com um modelo de linguagem tem um custo proporcional a uma coisa: quanto texto você manda pra ele, o contexto. Quanto mais contexto irrelevante, mais caro, mais lento, e às vezes pior a qualidade da resposta.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é um protocolo aberto que padroniza como um agente de IA pede informação e executa ações fora de si mesmo. Antes do MCP, cada ferramenta tinha sua forma proprietária de se conectar a dados. O pulo do gato pra essa comunidade Go: escrever um servidor MCP é escrever um servidor, coisa que Go faz muito bem há muito tempo.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 mostrar dois jeito de construir um servidor MCP que resolve o MESMO problema. Um é ingênuo: pega tudo, manda tudo. O outro usa busca semântica de verdade, rodando localmente, sem custar nuvem.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Esse é o mapa de hoje. Vamos primeiro entender o motor — o Kronk. Depois abrir o código dos dois servidores MCP. E só no final, com tudo entendido, ver os dois rodando ao vivo, com o contador de tokens e custo do Cline na tela. Bora?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entender como rodamos IA local de alta performance, precisamos falar do projeto open-source mais importante do ecossistema moderno: o llama.cpp. Criado por Georgi Gerganov no início de 2023, o seu objetivo fundamental era rodar o modelo LLaMA da Meta localmente usando C/C++ puro, sem depender da pesada pilha tradicional de Python (como PyTorch e Hugging Face). O llama.cpp compilado roda direto na máquina, falando diretamente com as otimizações vetoriais da sua CPU ou GPU. É por causa dele que a IA local-first é viável hoje de verdade. E como ele é escrito in C++, nós conseguimos nos conectar a ele diretamente a partir de linguagens como o Go!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falarmos de custos e contadores de tokens na nossa demo, precisamos primeiro entender o que é um token de verdade na engenharia de LLMs. Modelos de inteligência artificial não sabem ler texto. Eles enxergam apenas números. O primeiro passo da inferência é a tokenização, onde um algoritmo estatístico chamado BPE (Byte Pair Encoding) quebra as palavras em fragmentos. A palavra 'ChatGPT', por exemplo, que é extremamente comum, é convertida em um único token pelo modelo. Mas uma palavra rara ou código Go complexo pode ser fatiado em 3 ou 4 tokens. Em média, no ecossistema, 1 token equivale a 4 caracteres, ou 0.75 palavras. Além disso, o modelo usa tokens especiais essenciais, como BOS para indicar o início da instrução, e EOS para indicar ao servidor que ele terminou de gerar e pode encerrar a conexão. É essa quebra estatística que define o volume de dados trafegado que o Cline mede ao vivo!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a genialidade desse ecossistema local-first não para no texto com o llama.cpp. O mesmo criador, Georgi Gerganov, desenvolveu outro projeto monumental: o whisper.cpp. Ele é uma reimplementação em C/C++ puro do modelo Whisper da OpenAI para reconhecimento de voz de altíssima precisão. Ele segue exatamente a mesma filosofia de engenharia: compila em um único executável nativo leve, roda totalmente offline, e é extremamente otimizado usando Metal no Mac e CUDA no PC. Ele consegue transcrever áudio em até 10 vezes mais rápido que o tempo real. E a conexão com Go é idêntica: você pode integrá-lo via CGo para construir pipelines de voz completos offline, onde seu agente Go escuta via whisper.cpp, raciocina com o Kronk, e pode até falar localmente. Isso prova que a IA offline-first não se limita a chat, mas sim a qualquer modalidade de mídia!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Aqui está o choque de paradigmas entre a pilha tradicional e o que estamos propondo hoje. A pilha de pesquisa — PyTorch e Hugging Face — é incrível para criar e treinar modelos. Mas ela arrasta consigo o interpretador Python, gigabytes de dependências, startups lentos e um consumo de RAM absurdo de alocação de objetos. Quando migramos para llama.cpp compilado e o Kronk em Go, nós eliminamos o Python por completo da produção. O Go conversa diretamente com a biblioteca C++ do llama.cpp via CGo. Ganhamos a velocidade e o controle fino de hardware do C++ com a simplicidade, goroutines de alta concorrência e robustez de rede do Go!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quem são os cérebros que estão rodando de verdade nessa demo? São duas das melhores famílias de modelos de código aberto do mundo hoje: o Gemma do Google e o Qwen da Alibaba. Para a busca semântica, usamos o embeddinggemma-300m, que é um modelo ultra-leve do Google focado só em mapear textos em coordenadas matemáticas de 768 dimensões. E para resolver o bug em si, usamos o gpt-oss-20b, um modelo baseado no Qwen com 20 bilhões de parâmetros e Mixture of Experts que bate o GPT-4 da OpenAI em geração de código. É graças a esses gigantes liberando seus pesos de graça que podemos rodar IA de altíssimo nível local e de graça!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Aqui está a matriz de decisão de arquitetura para a escolha dos nossos modelos. É uma pergunta muito comum de equipes de tecnologia: 'Por que não usar o LLaMA 3 de 8B ou o Mistral que todo mundo conhece?'. A resposta é pura engenharia: modelos densos menores, como Llama 3 8B, são fáceis de carregar mas carecem da capacidade cerebral sênior necessária para identificar race conditions complexas e refatorar código concorrente em Go — eles alucinam com mais facilidade. O Phi-3 da Microsoft é super rápido, mas muito limitado para tarefas lógicas complexas. O Qwen-20B-MoE (nosso gpt-oss-20b) nos dá o melhor de dois mundos: a inteligência refinada de um modelo de 20 bilhões de parâmetros, mas com a latência e o custo computacional de um modelo de 4B de parâmetros porque ele é um Mixture of Experts (MoE) que ativa apenas 4 experts por token! E o Gemma de 300M é perfeito para embeddings semânticos, rodando na mesma memória compartilhada do Kronk em Go.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Kronk é um SDK em Go, da Ardan Labs, que envolve o llama.cpp. A grande sacada: ele expõe uma API compatível com a da OpenAI. Kronk não é 'mais um wrapper de chatbot'. É infraestrutura, pensada pra produção.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Kronk fica no meio. De um lado, qualquer cliente que fale o protocolo da OpenAI. Do outro, ele escolhe automaticamente o melhor backend de hardware disponível. O modelo é um arquivo .gguf, formato do ecossistema llama.cpp.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Slide 2 mostrou o Kronk como uma caixa preta no meio do diagrama. Vamos abrir essa caixa rapidinho, com log real de hoje, não slide teórico. Quando você dá `kronk server start`, sobem pelo menos quatro coisas: o router da API (porta 11435, é o `/v1/chat/completions` compatível com OpenAI que o Cline fala), um router de debug (11445, métricas e introspecção), um serviço de auth (JWT/API keys — hoje desligado porque é uso local, mas existe pra produção), e — detalhe curioso — um servidor MCP nativo do próprio Kronk, na porta 9000. Não é nenhum dos nossos dois MCPs de demo; é o Kronk se expondo via MCP por conta própria, pra outros agentes consultarem o estado dele direto. O ponto de fundo: isso não é um wrapper fininho em volta do llama.cpp. É um processo de servidor com superfície de operação real — roteamento, auth, observabilidade — parecido com qualquer outro serviço backend que vocês já rodam em Go.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Kronk não trata modelo como 'um arquivo que você abre uma vez'. Ele tem um pool de modelos — igual um pool de conexões de banco, só que pra modelos GGUF carregados na memória. Três coisas que esse pool faz por você: primeiro, orçamento de memória: por padrão, o Kronk só usa 80% da RAM/VRAM disponível pra modelos — aqui, hoje, isso virou um orçamento de 38.7GB. Se um modelo não cabe no orçamento, o Kronk recusa carregar antes de tentar em vez de só travar feio na hora de alocar — foi exatamente esse mecanismo de segurança que pegou a configuração original dessa talk, preparada num Linux com GPU dedicada de 12GB, antes da gente migrar pra esse Mac com memória unificada (mais sobre isso no Slide 7, quando chegarmos em MoE). Segundo, múltiplos modelos ao mesmo tempo: o pool aceita até 10 modelos residentes simultaneamente. Não é teórico — agora mesmo, nesta máquina, tem dois modelos carregados ao mesmo tempo: o gpt-oss-20b pra chat, e o embeddinggemma pra busca semântica do vault_smart. Cada um com seu próprio orçamento de memória, dividindo o mesmo processo Kronk. Terceiro, TTL de ociosidade: modelo sem uso por um tempo configurável é descarregado automaticamente, liberando memória pra outra coisa — sem você precisar gerenciar isso manualmente.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Uma conversa com o Cline reenvia todo o histórico anterior a cada turno. O cache incremental de mensagens guarda o estado da conversa e só processa os tokens novos no turno seguinte. Vem ligado por padrão pra clientes agênticos.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uma audiência sênior de engenharia como a nossa hoje, explicar o KV-Cache é abrir as entranhas dos Transformers. LLMs geram texto token por token de forma autorregressiva. Para gerar a próxima palavra, ele precisa olhar para tudo o que veio antes. Na auto-atenção, cada token tem vetores de Query (pergunta), Key (endereço) e Value (conteúdo). Se não tivéssemos o KV-Cache, o modelo teria que recalcular as Chaves e Valores de todo o histórico a cada novo token gerado — uma complexidade quadrática absurda! O KV-Cache salva esses vetores K e V diretamente na VRAM. O modelo só calcula o QKV para o único token novo gerado e consulta o passado direto no cache. É esse buffer físico que o Cache Incremental (IMC) do Kronk mantém quente na memória entre os turnos do Cline, fazendo o tempo até o primeiro token de prompts gigantes despencar de 12 segundos para menos de meio segundo local-first!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Quantização é comprimir os números de ponto flutuante do modelo pra ocupar menos memória. Q8_0 usa 8 bits — praticamente sem perda. Q4_K_M usa 4 bits — mais compacto, perdinha quase imperceptível em código.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MoE: para cada token, um roteador decide quais especialistas ativar — só uma fração do total. O gpt-oss-20b tem 20B parâmetros mas custo computacional de um modelo bem menor. Nota de bastidor: no Linux com GPU de 12GB, o gpt-oss-20b não cabia com contexto grande — usamos um modelo denso menor. No Mac, com memória unificada, o MoE de 20B cabe com folga.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entender Mixture of Experts, pensem em um hospital: em vez de consultar todos os médicos da instituição para cada dor de cabeça (que seria um modelo denso tradicional acendendo todos os seus bilhões de neurônios), um roteador na recepção direciona você diretamente para os dois ou três especialistas ideais. No gpt-oss-20b que usamos hoje, o modelo possui 20 bilhões de parâmetros na memória, mas para cada token processado, ele ativa apenas 4 especialistas. Isso garante a acurácia de um cérebro gigante com a velocidade e o consumo computacional de um modelo pequeno de 4B. E o Kronk nos dá políticas para colocar esses especialistas na CPU ou GPU de forma transparente, permitindo que MoEs massivos rodem localmente em hardware comum.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Pegadinha real que vivemos: a convenção do Kronk é invertida do que se imagina — 0 significa todas as camadas na GPU. Numa GPU dedicada isso é um dial real entre velocidade e memória; no Mac com memória unificada, o gargalo simplesmente não existe da mesma forma.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MacBook M4 Pro, 48GB de memória unificada. Metal full offload é uns 9-10x mais rápido que CPU pura. E nenhuma linha falha por falta de memória — vantagem real da memória unificada. Mas teve uma pegadinha, e ela ensina uma lição melhor que qualquer slide teórico.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 o TTFT de ~12s, nosso instinto foi 'aumentar o batch'. Resultado: 6% de ganho, quase nada. A lição real: pra esse modelo MoE no Metal, o prefill é limitado por compute (roteamento de especialistas), não por throughput de batch. Só descobriu porque mediu antes de assumir.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gpt-oss-20b tem um modo de raciocínio que melhora a qualidade da decisão, mas cada token de pensamento custa tempo. O Kronk deixa controlar isso por requisição, com reasoning_effort — não é configuração fixa do modelo.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Detalhe que confunde quem vem de outras stacks: você não escolhe o modelo no boot do servidor. O pool decide por requisição, igual a API da OpenAI. Pra trocar: confere com model list --local, baixa com model pull se precisar, e só aponta o cliente pro novo nome — sem reiniciar o kronk server start.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Tamanho de modelo também é um dial, não decisão travada em pedra. Mesma API, só muda o nome no campo model (e baixar antes, se for novo). Já tenho tuning pronto pra dois modelos bem maiores que o de hoje e um menor (4B) pra hardware mais limitado — a config já existe no model_config.yaml desta máquina, só falta o pull.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 exatamente essa flexibilidade — CPU, GPU, híbrido, MoE, raciocínio ligado ou desligado — que torna o Kronk uma peça de infraestrutura séria pra rodar IA local em produção, não só em demo de palco.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Essa é a grande pergunta que qualquer desenvolvedor de Go na plateia vai fazer: 'Por que vocês estão usando o Kronk se já temos o Ollama?'. A resposta é a diferença entre um executável de prateleira e uma biblioteca de engenharia. O Ollama é fantástico para uso desktop local, mas ele roda como um daemon fechado externo. Você não consegue embutir o Ollama dentro do seu binário compilado em Go. Já o Kronk é um SDK Go nativo FFI CGo. Na nossa Cena 2, o servidor `vault_smart` utiliza o Kronk SDK para carregar e instanciar programaticamente o modelo de embeddings `embeddinggemma` dentro do mesmo processo em execução em Go! Além disso, o Kronk traz otimizações agênticas nativas pensadas para o Cline (como o IMC) e controle total de baixo nível de memória, threads e pool de modelos que o Ollama oculta de forma opaca.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nossa demonstração, o Obsidian possui 25 tarefas antigas e apenas uma tarefa relevante com o bug real, a TASK-001. Por que fizemos isso? Porque em um cenário corporativo real, o repositório do time tem centenas de páginas de documentação. Se usarmos a abordagem ingênua da Cena 1 de carregar tudo e mandar pro modelo de uma vez, estamos enviando 47 mil tokens de puro ruído. O modelo sofre de diluição de atenção — um fenômeno conhecido na literatura onde LLMs esquecem detalhes no meio do prompt — e a velocidade despenca de forma inviável. Precisamos filtrar antes de enviar.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resolvemos o problema do ruído? Usamos busca semântica de verdade. Antes do agente fazer qualquer pergunta, um modelo de embedding local lê os 26 markdown do Obsidian e transforma cada um em um vetor matemático de 768 coordenadas. Quando o agente Cline faz a pergunta, nós convertemos essa pergunta no mesmo espaço de coordenadas. Através da matemática de vetores, calculamos quais documentos estão geometricamente mais próximos da pergunta. O resultado é cirúrgico: o Smart MCP envia apenas os 3 documentos mais relevantes. Saímos de 47 mil tokens para meros 4 mil tokens de contexto, eliminando o ruído e mantendo a velocidade máxima de resposta.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como implementamos essa busca em Go sem complexidade de infraestrutura de banco de dados corporativa externa? Usamos o DuckDB rodando em memória direto no processo Go do MCP! Com a extensão de Busca de Similaridade Vetorial (VSS), conseguimos criar um índice HNSW — que é uma estrutura de grafos extremamente rápida para vizinhos mais próximos. A busca vira uma query SQL relacional simples que calcula a similaridade de cosseno entre o vetor da pergunta e os vetores indexados das tarefas do Obsidian. Isso acontece em milissegundos e nos dá o top-3 de forma extremamente eficiente.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é a conceituação mais importante do RAG local: a diferença entre Chunk e Embedding. O Chunk é a fatia física do texto bruto — no nosso caso, o texto de cada uma das 26 tasks do Obsidian. O Embedding é a representação matemática do significado desse texto, gerado pelo modelo embeddinggemma como um vetor de 768 dimensões. O banco DuckDB usa o Embedding para fazer cálculos geométricos ultra-rápidos de cosseno e achar o endereço físico do texto. O resultado disso é que entregamos ao modelo de chat apenas o texto puro (Chunk) do ticket relevante, gerando economia máxima de tokens e alta performance local-first.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LoadAll anda pela pasta do vault, pega todo .md, lê o conteúdo bruto e devolve uma lista de documentos. Simples, sem mágica. A diferença entre as duas cenas não está em COMO os dados são lidos.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agente pediu 'me ajuda com a TASK-001' e essa ferramenta devolve as 26 tasks completas. É proposital: representa o jeito ingênuo de integrar LLM com dados. É exatamente essa simplicidade que custa caro.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aceitar qualquer pergunta, a Cena 2 carrega um modelo de embedding e transforma cada documento num vetor — 'coordenadas de significado' num espaço matemático. Isso vai pro DuckDB com índice HNSW.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search_vault transforma a pergunta no mesmo tipo de vetor e busca os 3 documentos mais similares por cosseno. É por isso que perguntar sobre 'dinheiro e pagamentos' acha a task de cupom mesmo sem a palavra 'dinheiro' aparecer.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Cena 1 é 4x mais simples de código, mas custa 10x mais tokens. Cena 2 exige infraestrutura extra, mas paga isso de volta multiplicado em economia de contexto — e tudo local, via Kronk, sem custar um centavo.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darmos o play nas demos ao vivo, deixa eu mostrar qual é o alvo físico que o nosso agente de IA precisa consertar na nossa base de código de teste. Temos um serviço simples de estoque em Go. Na função DeductStock, temos um bug de concorrência clássico e gravíssimo: primeiro, acessamos concorrentemente o mapa s.products sem nenhum lock (o que faz o Go explodir com fatal panic no runtime); segundo, decrementamos o estoque sem sincronização, permitindo que requisições simultâneas comprem mais do que temos em estoque (um clássico data race). Temos um teste concorrente preparado sob estresse com sync.WaitGroup que falha consistentemente ao rodar go test -race. O desafio do agente local Cline é consultar o Obsidian para descobrir o que a TASK-001 pede, encontrar esse arquivo, entender o bug de concorrência, aplicar uma trava de Mutex, e validar rodando go test com a flag -race habilitada. Vamos ver como a Cena 1 e a Cena 2 lidam com isso!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abrirmos a tela para as demos, precisamos entender uma coisa fundamental sobre o Cline: ele não é um chat simples onde você joga uma pergunta e ele cospe uma resposta. O Cline é um agente autônomo baseado no padrão de arquitetura ReAct — Reasoning and Acting. Esse padrão roda em um ciclo iterativo de três fases: primeiro, Thought — o agente escreve um monólogo interno pensando sobre o que precisa fazer; segundo, Action — ele decide chamar uma ferramenta externa, que no nosso caso é uma ferramenta MCP do nosso servidor; terceiro, Observation — ele lê o resultado retornado pelo MCP e avalia se conseguiu o que queria. Ele vai rodar esse loop de forma autônoma: vai ler o backlog Obsidian, achar o arquivo Go, ler o código, aplicar o Mutex, abrir o terminal, rodar go test -race e parar apenas quando os testes estiverem passando. É um processo de engenharia ativo executado por software!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protagonista físico da nossa demo é o Cline, que roda aqui como uma extensão integrada ao VS Code. Ele tem acesso de leitura e escrita de arquivos e execução de terminal local. Para a Cena 1, nós o configuramos apontando para a API de nuvem tradicional com o MCP Dumb ativo. Para a Cena 2, nós mudamos o provider para apontar para o nosso Kronk local na porta 11435, com o modelo gpt-oss-20b e o MCP Smart ativo. O Cline tem um recurso sensacional que é o contador de tokens e custos embutido na barra de título do chat. A cada ferramenta chamada ou turno, ele atualiza na hora o gasto acumulado. É nessa caixinha cinza do Cline que o clímax da nossa talk acontece: vocês vão assistir ao vivo o custo de contexto na nuvem da Cena 1 bater mais de 1 dólar em uma única rodada, e o custo local da Cena 2 cravar zero absoluto!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Lembram do gancho do começo — 'tem um jeito ingênuo e um jeito inteligente'? Vou rodar exatamente a mesma tarefa duas vezes, mudando só o MCP ativo e o modelo por trás.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Cena 1 representa o jeito mais comum hoje: modelo na nuvem, pago por token, conectado a um MCP que não filtra nada. Olhem os números antes de eu começar: zero.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Reparem: o Cline está decidindo chamar read_vault — só tem essa ferramenta disponível. Contingência: se a geração de nuvem travar num tool-call depois, o ponto já foi feito no instante em que read_vault devolve a resposta — pode pausar aí e seguir pra Cena 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Aqui está o resultado da Cena 1: [ler os números reais capturados]. Token e dinheiro de verdade, gastos só porque a ferramenta de busca não soube filtrar nada. Guardem esse número.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Troquei o provider do Cline pra apontar pro Kronk, rodando aqui, agora, sem internet envolvida. E troquei o MCP ativo pra vault_smart.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Reparem que a ferramenta disponível agora é outra: search_vault. Contingência: o modelo local com raciocínio pode demorar mais que a nuvem pra terminar o fix completo — o ponto da demo é o contraste de tokens/custo na chamada da ferramenta, que aparece rápido.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Essa é a imagem que eu queria que vocês levassem pra casa. Mesma tarefa, mesmo agente. A diferença está em como a informação chega até o modelo, e onde o modelo roda.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Tudo que vocês viram hoje — servidor MCP, motor de inferência, busca vetorial — é Go, de ponta a ponta. Não precisamos de Python, não precisamos de nuvem. Obrigado!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Rectangle 1"/>
          <p:cNvSpPr/>
          <p:nvPr/>
        </p:nvSpPr>
        <p:spPr>
          <a:xfrm>
            <a:off x="777240" y="1188720"/>
            <a:ext cx="10637215" cy="448056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188720"/>
            <a:ext cx="137160" cy="4480560"/>
          </a:xfrm>
          <a:prstGeom prst="rect">
            <a:avLst/>
          </a:prstGeom>
          <a:solidFill>
            <a:srgbClr val="006FE6"/>
          </a:solidFill>
          <a:ln>
            <a:solidFill>
              <a:srgbClr val="006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645920"/>
            <a:ext cx="6400800" cy="274320"/>
          </a:xfrm>
          <a:prstGeom prst="rect">
            <a:avLst/>
          </a:prstGeom>
          <a:noFill/>
        </p:spPr>
        <p:txBody>
          <a:bodyPr wrap="none" lIns="0" tIns="0" rIns="0" bIns="0">
            <a:spAutoFit/>
          </a:bodyPr>
          <a:lstStyle/>
          <a:p>
            <a:pPr>
              <a:defRPr sz="1050" b="1">
                <a:solidFill>
                  <a:srgbClr val="006FE6"/>
                </a:solidFill>
                <a:latin typeface="Segoe UI"/>
              </a:defRPr>
            </a:pPr>
            <a:r>
              <a:t>GOLANGSP SPECIAL PRESENTATION  ·  PALCO PRINCIPAL</a:t>
            </a:r>
          </a:p>
        </p:txBody>
      </p:sp>
      <p:sp>
        <p:nvSpPr>
          <p:cNvPr id="5" name="TextBox 4"/>
          <p:cNvSpPr txBox="1"/>
          <p:nvPr/>
        </p:nvSpPr>
        <p:spPr>
          <a:xfrm>
            <a:off x="1280160" y="2011680"/>
            <a:ext cx="6583680" cy="1097280"/>
          </a:xfrm>
          <a:prstGeom prst="rect">
            <a:avLst/>
          </a:prstGeom>
          <a:noFill/>
        </p:spPr>
        <p:txBody>
          <a:bodyPr wrap="square" lIns="0" tIns="0" rIns="0" bIns="0">
            <a:spAutoFit/>
          </a:bodyPr>
          <a:lstStyle/>
          <a:p>
            <a:pPr>
              <a:defRPr sz="4400" b="1">
                <a:solidFill>
                  <a:srgbClr val="0F172A"/>
                </a:solidFill>
                <a:latin typeface="Segoe UI"/>
              </a:defRPr>
            </a:pPr>
            <a:r>
              <a:t>AI sem Cloud com Golang!</a:t>
            </a:r>
          </a:p>
        </p:txBody>
      </p:sp>
      <p:sp>
        <p:nvSpPr>
          <p:cNvPr id="6" name="TextBox 5"/>
          <p:cNvSpPr txBox="1"/>
          <p:nvPr/>
        </p:nvSpPr>
        <p:spPr>
          <a:xfrm>
            <a:off x="1280160" y="3200400"/>
            <a:ext cx="6583680" cy="731520"/>
          </a:xfrm>
          <a:prstGeom prst="rect">
            <a:avLst/>
          </a:prstGeom>
          <a:noFill/>
        </p:spPr>
        <p:txBody>
          <a:bodyPr wrap="square" lIns="0" tIns="0" rIns="0" bIns="0">
            <a:spAutoFit/>
          </a:bodyPr>
          <a:lstStyle/>
          <a:p>
            <a:pPr>
              <a:defRPr sz="1700">
                <a:solidFill>
                  <a:srgbClr val="475569"/>
                </a:solidFill>
                <a:latin typeface="Segoe UI"/>
              </a:defRPr>
            </a:pPr>
            <a:r>
              <a:t>Golang + AI + MCP — Evento Oficial GolangSP</a:t>
            </a:r>
          </a:p>
        </p:txBody>
      </p:sp>
      <p:sp>
        <p:nvSpPr>
          <p:cNvPr id="7" name="TextBox 6"/>
          <p:cNvSpPr txBox="1"/>
          <p:nvPr/>
        </p:nvSpPr>
        <p:spPr>
          <a:xfrm>
            <a:off x="1280160" y="4343400"/>
            <a:ext cx="6400800" cy="548640"/>
          </a:xfrm>
          <a:prstGeom prst="rect">
            <a:avLst/>
          </a:prstGeom>
          <a:noFill/>
        </p:spPr>
        <p:txBody>
          <a:bodyPr wrap="none" lIns="0" tIns="0" rIns="0" bIns="0">
            <a:spAutoFit/>
          </a:bodyPr>
          <a:lstStyle/>
          <a:p>
            <a:pPr>
              <a:defRPr sz="1400" b="1">
                <a:solidFill>
                  <a:srgbClr val="0F172A"/>
                </a:solidFill>
                <a:latin typeface="Segoe UI"/>
              </a:defRPr>
            </a:pPr>
            <a:r>
              <a:t>Apresentado por Jefferson Ferreira</a:t>
            </a:r>
          </a:p>
          <a:p>
            <a:pPr>
              <a:defRPr sz="1100">
                <a:solidFill>
                  <a:srgbClr val="006FE6"/>
                </a:solidFill>
                <a:latin typeface="Segoe UI"/>
              </a:defRPr>
            </a:pPr>
            <a:r>
              <a:t>IA sem Nuvem, Local-First, Alta Performance em Go</a:t>
            </a:r>
          </a:p>
        </p:txBody>
      </p:sp>
      <p:pic>
        <p:nvPicPr>
          <p:cNvPr id="8" name="Picture 7" descr="gopher_new.png"/>
          <p:cNvPicPr>
            <a:picLocks noChangeAspect="1"/>
          </p:cNvPicPr>
          <p:nvPr/>
        </p:nvPicPr>
        <p:blipFill>
          <a:blip r:embed="rId2"/>
          <a:stretch>
            <a:fillRect/>
          </a:stretch>
        </p:blipFill>
        <p:spPr>
          <a:xfrm>
            <a:off x="8321040" y="1691640"/>
            <a:ext cx="2560320" cy="24909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01</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01</a:t>
            </a:r>
          </a:p>
          <a:p>
            <a:pPr>
              <a:spcAft>
                <a:spcPts val="1500"/>
              </a:spcAft>
              <a:defRPr sz="3600" b="1">
                <a:solidFill>
                  <a:srgbClr val="FFFFFF"/>
                </a:solidFill>
                <a:latin typeface="Segoe UI"/>
              </a:defRPr>
            </a:pPr>
            <a:r>
              <a:t>CONCEITO &amp; CONTEXTO</a:t>
            </a:r>
          </a:p>
          <a:p>
            <a:pPr>
              <a:spcBef>
                <a:spcPts val="1500"/>
              </a:spcBef>
              <a:defRPr sz="1500">
                <a:solidFill>
                  <a:srgbClr val="94A3B8"/>
                </a:solidFill>
                <a:latin typeface="Segoe UI"/>
              </a:defRPr>
            </a:pPr>
            <a:r>
              <a:t>O desafio dos custos na nuvem e a revolução da IA local-first</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PALESTRANTE</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Jefferson Ferreira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 / 50</a:t>
            </a:r>
          </a:p>
        </p:txBody>
      </p:sp>
      <p:sp>
        <p:nvSpPr>
          <p:cNvPr id="8" name="Rectangle 7"/>
          <p:cNvSpPr/>
          <p:nvPr/>
        </p:nvSpPr>
        <p:spPr>
          <a:xfrm>
            <a:off x="548640" y="1280160"/>
            <a:ext cx="4114800" cy="4846320"/>
          </a:xfrm>
          <a:prstGeom prst="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25880" y="1645920"/>
            <a:ext cx="2560320" cy="2560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jpeg"/>
          <p:cNvPicPr>
            <a:picLocks noChangeAspect="1"/>
          </p:cNvPicPr>
          <p:nvPr/>
        </p:nvPicPr>
        <p:blipFill>
          <a:blip r:embed="rId2"/>
          <a:stretch>
            <a:fillRect/>
          </a:stretch>
        </p:blipFill>
        <p:spPr>
          <a:xfrm>
            <a:off x="1435608" y="1755648"/>
            <a:ext cx="2340864" cy="2340864"/>
          </a:xfrm>
          <a:prstGeom prst="rect">
            <a:avLst/>
          </a:prstGeom>
        </p:spPr>
      </p:pic>
      <p:sp>
        <p:nvSpPr>
          <p:cNvPr id="11" name="TextBox 10"/>
          <p:cNvSpPr txBox="1"/>
          <p:nvPr/>
        </p:nvSpPr>
        <p:spPr>
          <a:xfrm>
            <a:off x="731520" y="4434840"/>
            <a:ext cx="3749040" cy="1371600"/>
          </a:xfrm>
          <a:prstGeom prst="rect">
            <a:avLst/>
          </a:prstGeom>
          <a:noFill/>
        </p:spPr>
        <p:txBody>
          <a:bodyPr wrap="square" lIns="0" tIns="0" rIns="0" bIns="0">
            <a:spAutoFit/>
          </a:bodyPr>
          <a:lstStyle/>
          <a:p>
            <a:pPr algn="ctr">
              <a:defRPr sz="1300" b="1">
                <a:solidFill>
                  <a:srgbClr val="FFFFFF"/>
                </a:solidFill>
                <a:latin typeface="Segoe UI"/>
              </a:defRPr>
            </a:pPr>
            <a:r>
              <a:t>Jefferson Ferreira</a:t>
            </a:r>
          </a:p>
          <a:p>
            <a:pPr algn="ctr">
              <a:spcBef>
                <a:spcPts val="500"/>
              </a:spcBef>
              <a:defRPr sz="850">
                <a:solidFill>
                  <a:srgbClr val="94A3B8"/>
                </a:solidFill>
                <a:latin typeface="Consolas"/>
              </a:defRPr>
            </a:pPr>
            <a:r>
              <a:t>GitHub: github.com/jeffersonferreira</a:t>
            </a:r>
          </a:p>
          <a:p>
            <a:pPr algn="ctr">
              <a:spcBef>
                <a:spcPts val="300"/>
              </a:spcBef>
              <a:defRPr sz="850">
                <a:solidFill>
                  <a:srgbClr val="94A3B8"/>
                </a:solidFill>
                <a:latin typeface="Consolas"/>
              </a:defRPr>
            </a:pPr>
            <a:r>
              <a:t>LinkedIn: linkedin.com/in/jefferson-f</a:t>
            </a:r>
          </a:p>
        </p:txBody>
      </p:sp>
      <p:sp>
        <p:nvSpPr>
          <p:cNvPr id="12" name="TextBox 11"/>
          <p:cNvSpPr txBox="1"/>
          <p:nvPr/>
        </p:nvSpPr>
        <p:spPr>
          <a:xfrm>
            <a:off x="4937760" y="1280160"/>
            <a:ext cx="6705295" cy="914400"/>
          </a:xfrm>
          <a:prstGeom prst="rect">
            <a:avLst/>
          </a:prstGeom>
          <a:noFill/>
        </p:spPr>
        <p:txBody>
          <a:bodyPr wrap="square" lIns="0" tIns="0" rIns="0" bIns="0">
            <a:spAutoFit/>
          </a:bodyPr>
          <a:lstStyle/>
          <a:p>
            <a:pPr>
              <a:defRPr sz="3000" b="1">
                <a:solidFill>
                  <a:srgbClr val="0F172A"/>
                </a:solidFill>
                <a:latin typeface="Segoe UI"/>
              </a:defRPr>
            </a:pPr>
            <a:r>
              <a:t>Jefferson Ferreira</a:t>
            </a:r>
          </a:p>
          <a:p>
            <a:pPr>
              <a:spcBef>
                <a:spcPts val="400"/>
              </a:spcBef>
              <a:defRPr sz="1400" b="1">
                <a:solidFill>
                  <a:srgbClr val="006FE6"/>
                </a:solidFill>
                <a:latin typeface="Segoe UI"/>
              </a:defRPr>
            </a:pPr>
            <a:r>
              <a:t>Tech Lead &amp; Staff Software Engineer</a:t>
            </a:r>
          </a:p>
        </p:txBody>
      </p:sp>
      <p:sp>
        <p:nvSpPr>
          <p:cNvPr id="13" name="TextBox 12"/>
          <p:cNvSpPr txBox="1"/>
          <p:nvPr/>
        </p:nvSpPr>
        <p:spPr>
          <a:xfrm>
            <a:off x="4937760" y="2286000"/>
            <a:ext cx="6705295" cy="274320"/>
          </a:xfrm>
          <a:prstGeom prst="rect">
            <a:avLst/>
          </a:prstGeom>
          <a:noFill/>
        </p:spPr>
        <p:txBody>
          <a:bodyPr wrap="none" lIns="0" tIns="0" rIns="0" bIns="0">
            <a:spAutoFit/>
          </a:bodyPr>
          <a:lstStyle/>
          <a:p>
            <a:pPr>
              <a:defRPr sz="950" b="1">
                <a:solidFill>
                  <a:srgbClr val="475569"/>
                </a:solidFill>
                <a:latin typeface="Segoe UI"/>
              </a:defRPr>
            </a:pPr>
            <a:r>
              <a:t>TRAJETÓRIA PROFISSIONAL RELEVANTE</a:t>
            </a:r>
          </a:p>
        </p:txBody>
      </p:sp>
      <p:sp>
        <p:nvSpPr>
          <p:cNvPr id="14" name="Rectangle 13"/>
          <p:cNvSpPr/>
          <p:nvPr/>
        </p:nvSpPr>
        <p:spPr>
          <a:xfrm>
            <a:off x="4937760" y="2606040"/>
            <a:ext cx="6705295"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37760" y="2606040"/>
            <a:ext cx="73152" cy="914400"/>
          </a:xfrm>
          <a:prstGeom prst="rect">
            <a:avLst/>
          </a:prstGeom>
          <a:solidFill>
            <a:srgbClr val="006FE6"/>
          </a:solidFill>
          <a:ln>
            <a:solidFill>
              <a:srgbClr val="006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2715768"/>
            <a:ext cx="6339535" cy="731520"/>
          </a:xfrm>
          <a:prstGeom prst="rect">
            <a:avLst/>
          </a:prstGeom>
          <a:noFill/>
        </p:spPr>
        <p:txBody>
          <a:bodyPr wrap="square" lIns="0" tIns="0" rIns="0" bIns="0">
            <a:spAutoFit/>
          </a:bodyPr>
          <a:lstStyle/>
          <a:p>
            <a:pPr>
              <a:defRPr sz="1200" b="1">
                <a:solidFill>
                  <a:srgbClr val="006FE6"/>
                </a:solidFill>
                <a:latin typeface="Segoe UI"/>
              </a:defRPr>
            </a:pPr>
            <a:r>
              <a:t>1Global (Atual)</a:t>
            </a:r>
          </a:p>
          <a:p>
            <a:pPr>
              <a:spcBef>
                <a:spcPts val="400"/>
              </a:spcBef>
              <a:defRPr sz="1050">
                <a:solidFill>
                  <a:srgbClr val="0F172A"/>
                </a:solidFill>
                <a:latin typeface="Segoe UI"/>
              </a:defRPr>
            </a:pPr>
            <a:r>
              <a:t>Senior Software Engineer — Liderando arquitetura, escalabilidade e infraestrutura de sistemas modernos.</a:t>
            </a:r>
          </a:p>
        </p:txBody>
      </p:sp>
      <p:sp>
        <p:nvSpPr>
          <p:cNvPr id="17" name="Rectangle 16"/>
          <p:cNvSpPr/>
          <p:nvPr/>
        </p:nvSpPr>
        <p:spPr>
          <a:xfrm>
            <a:off x="4937760" y="3685032"/>
            <a:ext cx="6705295"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37760" y="3685032"/>
            <a:ext cx="73152" cy="9144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60" y="3794760"/>
            <a:ext cx="6339535" cy="731520"/>
          </a:xfrm>
          <a:prstGeom prst="rect">
            <a:avLst/>
          </a:prstGeom>
          <a:noFill/>
        </p:spPr>
        <p:txBody>
          <a:bodyPr wrap="square" lIns="0" tIns="0" rIns="0" bIns="0">
            <a:spAutoFit/>
          </a:bodyPr>
          <a:lstStyle/>
          <a:p>
            <a:pPr>
              <a:defRPr sz="1200" b="1">
                <a:solidFill>
                  <a:srgbClr val="0F172A"/>
                </a:solidFill>
                <a:latin typeface="Segoe UI"/>
              </a:defRPr>
            </a:pPr>
            <a:r>
              <a:t>Trampoline / Tino / Tractian</a:t>
            </a:r>
          </a:p>
          <a:p>
            <a:pPr>
              <a:spcBef>
                <a:spcPts val="400"/>
              </a:spcBef>
              <a:defRPr sz="1050">
                <a:solidFill>
                  <a:srgbClr val="475569"/>
                </a:solidFill>
                <a:latin typeface="Segoe UI"/>
              </a:defRPr>
            </a:pPr>
            <a:r>
              <a:t>Staff &amp; Principal Engineer — Arquitetura de IA (RAG/MCP), alto throughput e pipelines distribuídos em Go/Rust.</a:t>
            </a:r>
          </a:p>
        </p:txBody>
      </p:sp>
      <p:sp>
        <p:nvSpPr>
          <p:cNvPr id="20" name="Rectangle 19"/>
          <p:cNvSpPr/>
          <p:nvPr/>
        </p:nvSpPr>
        <p:spPr>
          <a:xfrm>
            <a:off x="4937760" y="4764024"/>
            <a:ext cx="6705295"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0" y="4764024"/>
            <a:ext cx="73152" cy="9144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66360" y="4873752"/>
            <a:ext cx="6339535" cy="731520"/>
          </a:xfrm>
          <a:prstGeom prst="rect">
            <a:avLst/>
          </a:prstGeom>
          <a:noFill/>
        </p:spPr>
        <p:txBody>
          <a:bodyPr wrap="square" lIns="0" tIns="0" rIns="0" bIns="0">
            <a:spAutoFit/>
          </a:bodyPr>
          <a:lstStyle/>
          <a:p>
            <a:pPr>
              <a:defRPr sz="1200" b="1">
                <a:solidFill>
                  <a:srgbClr val="0F172A"/>
                </a:solidFill>
                <a:latin typeface="Segoe UI"/>
              </a:defRPr>
            </a:pPr>
            <a:r>
              <a:t>IBM / XP Inc. / Truphone</a:t>
            </a:r>
          </a:p>
          <a:p>
            <a:pPr>
              <a:spcBef>
                <a:spcPts val="400"/>
              </a:spcBef>
              <a:defRPr sz="1050">
                <a:solidFill>
                  <a:srgbClr val="475569"/>
                </a:solidFill>
                <a:latin typeface="Segoe UI"/>
              </a:defRPr>
            </a:pPr>
            <a:r>
              <a:t>Senior Systems Architect — Resiliência, Big Data, infraestrutura de nuvem e engenharia enterprise.</a:t>
            </a:r>
          </a:p>
        </p:txBody>
      </p:sp>
      <p:sp>
        <p:nvSpPr>
          <p:cNvPr id="23" name="Rectangle 22"/>
          <p:cNvSpPr/>
          <p:nvPr/>
        </p:nvSpPr>
        <p:spPr>
          <a:xfrm>
            <a:off x="4937760" y="5843016"/>
            <a:ext cx="6705295"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37760" y="5843016"/>
            <a:ext cx="73152" cy="9144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66360" y="5952744"/>
            <a:ext cx="6339535" cy="731520"/>
          </a:xfrm>
          <a:prstGeom prst="rect">
            <a:avLst/>
          </a:prstGeom>
          <a:noFill/>
        </p:spPr>
        <p:txBody>
          <a:bodyPr wrap="square" lIns="0" tIns="0" rIns="0" bIns="0">
            <a:spAutoFit/>
          </a:bodyPr>
          <a:lstStyle/>
          <a:p>
            <a:pPr>
              <a:defRPr sz="1200" b="1">
                <a:solidFill>
                  <a:srgbClr val="0F172A"/>
                </a:solidFill>
                <a:latin typeface="Segoe UI"/>
              </a:defRPr>
            </a:pPr>
            <a:r>
              <a:t>B3 / Itaú / Xerox</a:t>
            </a:r>
          </a:p>
          <a:p>
            <a:pPr>
              <a:spcBef>
                <a:spcPts val="400"/>
              </a:spcBef>
              <a:defRPr sz="1050">
                <a:solidFill>
                  <a:srgbClr val="475569"/>
                </a:solidFill>
                <a:latin typeface="Segoe UI"/>
              </a:defRPr>
            </a:pPr>
            <a:r>
              <a:t>Systems &amp; Security Architect — Sistemas financeiros pós-trade de missão crítica, mobile banking e criptografia.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AI sem Cloud com Golang!</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Foco em engenharia de sistemas de IA — </a:t>
            </a:r>
            <a:r>
              <a:rPr b="0">
                <a:solidFill>
                  <a:srgbClr val="475569"/>
                </a:solidFill>
              </a:rPr>
              <a:t>Projetando e otimizando orquestração de modelos no próprio hardware</a:t>
            </a:r>
          </a:p>
          <a:p>
            <a:pPr>
              <a:lnSpc>
                <a:spcPct val="125000"/>
              </a:lnSpc>
              <a:spcBef>
                <a:spcPts val="800"/>
              </a:spcBef>
              <a:spcAft>
                <a:spcPts val="1000"/>
              </a:spcAft>
              <a:defRPr sz="1300">
                <a:latin typeface="Segoe UI"/>
              </a:defRPr>
            </a:pPr>
            <a:r>
              <a:rPr b="1">
                <a:solidFill>
                  <a:srgbClr val="006FE6"/>
                </a:solidFill>
              </a:rPr>
              <a:t>Independência real — </a:t>
            </a:r>
            <a:r>
              <a:rPr b="0">
                <a:solidFill>
                  <a:srgbClr val="475569"/>
                </a:solidFill>
              </a:rPr>
              <a:t>Como construir soluções robustas, seguras e de baixo custo fugindo de APIs proprietárias</a:t>
            </a:r>
          </a:p>
          <a:p>
            <a:pPr>
              <a:lnSpc>
                <a:spcPct val="125000"/>
              </a:lnSpc>
              <a:spcBef>
                <a:spcPts val="800"/>
              </a:spcBef>
              <a:spcAft>
                <a:spcPts val="1000"/>
              </a:spcAft>
              <a:defRPr sz="1300">
                <a:latin typeface="Segoe UI"/>
              </a:defRPr>
            </a:pPr>
            <a:r>
              <a:rPr b="1">
                <a:solidFill>
                  <a:srgbClr val="006FE6"/>
                </a:solidFill>
              </a:rPr>
              <a:t>Infraestrutura local — </a:t>
            </a:r>
            <a:r>
              <a:rPr b="0">
                <a:solidFill>
                  <a:srgbClr val="475569"/>
                </a:solidFill>
              </a:rPr>
              <a:t>O papel do desenvolvedor Go na consolidação de IA e dados locais com alta vazão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problema que ninguém fala em voz alta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ecossistema atual de agentes — </a:t>
            </a:r>
            <a:r>
              <a:rPr b="0">
                <a:solidFill>
                  <a:srgbClr val="475569"/>
                </a:solidFill>
              </a:rPr>
              <a:t>cursor, cline, copilot: todos rodam em nuvem externa</a:t>
            </a:r>
          </a:p>
          <a:p>
            <a:pPr>
              <a:lnSpc>
                <a:spcPct val="125000"/>
              </a:lnSpc>
              <a:spcBef>
                <a:spcPts val="800"/>
              </a:spcBef>
              <a:spcAft>
                <a:spcPts val="1000"/>
              </a:spcAft>
              <a:defRPr sz="1300">
                <a:latin typeface="Segoe UI"/>
              </a:defRPr>
            </a:pPr>
            <a:r>
              <a:rPr b="1">
                <a:solidFill>
                  <a:srgbClr val="006FE6"/>
                </a:solidFill>
              </a:rPr>
              <a:t>Custo oculto por clique — </a:t>
            </a:r>
            <a:r>
              <a:rPr b="0">
                <a:solidFill>
                  <a:srgbClr val="475569"/>
                </a:solidFill>
              </a:rPr>
              <a:t>cada requisição consome tokens, enviando histórico acumulado</a:t>
            </a:r>
          </a:p>
          <a:p>
            <a:pPr>
              <a:lnSpc>
                <a:spcPct val="125000"/>
              </a:lnSpc>
              <a:spcBef>
                <a:spcPts val="800"/>
              </a:spcBef>
              <a:spcAft>
                <a:spcPts val="1000"/>
              </a:spcAft>
              <a:defRPr sz="1300">
                <a:latin typeface="Segoe UI"/>
              </a:defRPr>
            </a:pPr>
            <a:r>
              <a:rPr b="1">
                <a:solidFill>
                  <a:srgbClr val="006FE6"/>
                </a:solidFill>
              </a:rPr>
              <a:t>Dependência de conectividade — </a:t>
            </a:r>
            <a:r>
              <a:rPr b="0">
                <a:solidFill>
                  <a:srgbClr val="475569"/>
                </a:solidFill>
              </a:rPr>
              <a:t>se o Wi-Fi do evento ou do escritório falhar, o dev para</a:t>
            </a:r>
          </a:p>
          <a:p>
            <a:pPr>
              <a:lnSpc>
                <a:spcPct val="125000"/>
              </a:lnSpc>
              <a:spcBef>
                <a:spcPts val="800"/>
              </a:spcBef>
              <a:spcAft>
                <a:spcPts val="1000"/>
              </a:spcAft>
              <a:defRPr sz="1300">
                <a:latin typeface="Segoe UI"/>
              </a:defRPr>
            </a:pPr>
            <a:r>
              <a:rPr b="1">
                <a:solidFill>
                  <a:srgbClr val="006FE6"/>
                </a:solidFill>
              </a:rPr>
              <a:t>Segurança de dados — </a:t>
            </a:r>
            <a:r>
              <a:rPr b="0">
                <a:solidFill>
                  <a:srgbClr val="475569"/>
                </a:solidFill>
              </a:rPr>
              <a:t>código sensível trafegando para APIs de terceiros sem controle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CONTEXTO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custo do contexto — </a:t>
            </a:r>
            <a:r>
              <a:rPr b="0">
                <a:solidFill>
                  <a:srgbClr val="475569"/>
                </a:solidFill>
              </a:rPr>
              <a:t>o tamanho do texto que você envia dita a velocidade e o preço</a:t>
            </a:r>
          </a:p>
          <a:p>
            <a:pPr>
              <a:lnSpc>
                <a:spcPct val="125000"/>
              </a:lnSpc>
              <a:spcBef>
                <a:spcPts val="800"/>
              </a:spcBef>
              <a:spcAft>
                <a:spcPts val="1000"/>
              </a:spcAft>
              <a:defRPr sz="1300">
                <a:latin typeface="Segoe UI"/>
              </a:defRPr>
            </a:pPr>
            <a:r>
              <a:rPr b="1">
                <a:solidFill>
                  <a:srgbClr val="006FE6"/>
                </a:solidFill>
              </a:rPr>
              <a:t>O risco do ruído — </a:t>
            </a:r>
            <a:r>
              <a:rPr b="0">
                <a:solidFill>
                  <a:srgbClr val="475569"/>
                </a:solidFill>
              </a:rPr>
              <a:t>contexto excessivo ou irrelevante confunde o raciocínio do modelo</a:t>
            </a:r>
          </a:p>
          <a:p>
            <a:pPr>
              <a:lnSpc>
                <a:spcPct val="125000"/>
              </a:lnSpc>
              <a:spcBef>
                <a:spcPts val="800"/>
              </a:spcBef>
              <a:spcAft>
                <a:spcPts val="1000"/>
              </a:spcAft>
              <a:defRPr sz="1300">
                <a:latin typeface="Segoe UI"/>
              </a:defRPr>
            </a:pPr>
            <a:r>
              <a:rPr b="1">
                <a:solidFill>
                  <a:srgbClr val="006FE6"/>
                </a:solidFill>
              </a:rPr>
              <a:t>A grande pergunta de engenharia — </a:t>
            </a:r>
            <a:r>
              <a:rPr b="0">
                <a:solidFill>
                  <a:srgbClr val="475569"/>
                </a:solidFill>
              </a:rPr>
              <a:t>como prover ao modelo exatamente o que ele precisa?</a:t>
            </a:r>
          </a:p>
          <a:p>
            <a:pPr>
              <a:lnSpc>
                <a:spcPct val="125000"/>
              </a:lnSpc>
              <a:spcBef>
                <a:spcPts val="800"/>
              </a:spcBef>
              <a:spcAft>
                <a:spcPts val="1000"/>
              </a:spcAft>
              <a:defRPr sz="1300">
                <a:latin typeface="Segoe UI"/>
              </a:defRPr>
            </a:pPr>
            <a:r>
              <a:rPr b="1">
                <a:solidFill>
                  <a:srgbClr val="006FE6"/>
                </a:solidFill>
              </a:rPr>
              <a:t>A resposta moderna — </a:t>
            </a:r>
            <a:r>
              <a:rPr b="0">
                <a:solidFill>
                  <a:srgbClr val="475569"/>
                </a:solidFill>
              </a:rPr>
              <a:t>MCP (Model Context Protocol) resolve a conexão padronizada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que é o Protocolo MCP?</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5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Model Context Protocol — </a:t>
            </a:r>
            <a:r>
              <a:rPr b="0">
                <a:solidFill>
                  <a:srgbClr val="475569"/>
                </a:solidFill>
              </a:rPr>
              <a:t>protocolo de comunicação aberto e padronizado criado pela Anthropic</a:t>
            </a:r>
          </a:p>
          <a:p>
            <a:pPr>
              <a:lnSpc>
                <a:spcPct val="125000"/>
              </a:lnSpc>
              <a:spcBef>
                <a:spcPts val="800"/>
              </a:spcBef>
              <a:spcAft>
                <a:spcPts val="1000"/>
              </a:spcAft>
              <a:defRPr sz="1300">
                <a:latin typeface="Segoe UI"/>
              </a:defRPr>
            </a:pPr>
            <a:r>
              <a:rPr b="1">
                <a:solidFill>
                  <a:srgbClr val="006FE6"/>
                </a:solidFill>
              </a:rPr>
              <a:t>A analogia do USB da IA — </a:t>
            </a:r>
            <a:r>
              <a:rPr b="0">
                <a:solidFill>
                  <a:srgbClr val="475569"/>
                </a:solidFill>
              </a:rPr>
              <a:t>você desenvolve um servidor MCP uma vez, qualquer agente o consome</a:t>
            </a:r>
          </a:p>
          <a:p>
            <a:pPr>
              <a:lnSpc>
                <a:spcPct val="125000"/>
              </a:lnSpc>
              <a:spcBef>
                <a:spcPts val="800"/>
              </a:spcBef>
              <a:spcAft>
                <a:spcPts val="1000"/>
              </a:spcAft>
              <a:defRPr sz="1300">
                <a:latin typeface="Segoe UI"/>
              </a:defRPr>
            </a:pPr>
            <a:r>
              <a:rPr b="1">
                <a:solidFill>
                  <a:srgbClr val="006FE6"/>
                </a:solidFill>
              </a:rPr>
              <a:t>Padronização de ferramentas — </a:t>
            </a:r>
            <a:r>
              <a:rPr b="0">
                <a:solidFill>
                  <a:srgbClr val="475569"/>
                </a:solidFill>
              </a:rPr>
              <a:t>define de forma unificada chamadas de ferramentas, prompts e recursos</a:t>
            </a:r>
          </a:p>
          <a:p>
            <a:pPr>
              <a:lnSpc>
                <a:spcPct val="125000"/>
              </a:lnSpc>
              <a:spcBef>
                <a:spcPts val="800"/>
              </a:spcBef>
              <a:spcAft>
                <a:spcPts val="1000"/>
              </a:spcAft>
              <a:defRPr sz="1300">
                <a:latin typeface="Segoe UI"/>
              </a:defRPr>
            </a:pPr>
            <a:r>
              <a:rPr b="1">
                <a:solidFill>
                  <a:srgbClr val="006FE6"/>
                </a:solidFill>
              </a:rPr>
              <a:t>Go como porto seguro — </a:t>
            </a:r>
            <a:r>
              <a:rPr b="0">
                <a:solidFill>
                  <a:srgbClr val="475569"/>
                </a:solidFill>
              </a:rPr>
              <a:t>escrever um servidor MCP é escrever um servidor HTTP/JSON estável e rápido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Existe um jeito certo e um jeito ingênuo de fazer isso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6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Jeito ingênuo (Cena 1) — </a:t>
            </a:r>
            <a:r>
              <a:rPr b="0">
                <a:solidFill>
                  <a:srgbClr val="475569"/>
                </a:solidFill>
              </a:rPr>
              <a:t>carregar todo o repositório de dados de uma vez e enviar cru para a API</a:t>
            </a:r>
          </a:p>
          <a:p>
            <a:pPr>
              <a:lnSpc>
                <a:spcPct val="125000"/>
              </a:lnSpc>
              <a:spcBef>
                <a:spcPts val="800"/>
              </a:spcBef>
              <a:spcAft>
                <a:spcPts val="1000"/>
              </a:spcAft>
              <a:defRPr sz="1300">
                <a:latin typeface="Segoe UI"/>
              </a:defRPr>
            </a:pPr>
            <a:r>
              <a:rPr b="1">
                <a:solidFill>
                  <a:srgbClr val="006FE6"/>
                </a:solidFill>
              </a:rPr>
              <a:t>Jeito inteligente (Cena 2) — </a:t>
            </a:r>
            <a:r>
              <a:rPr b="0">
                <a:solidFill>
                  <a:srgbClr val="475569"/>
                </a:solidFill>
              </a:rPr>
              <a:t>realizar busca semântica local, enviando apenas o contexto ideal</a:t>
            </a:r>
          </a:p>
          <a:p>
            <a:pPr>
              <a:lnSpc>
                <a:spcPct val="125000"/>
              </a:lnSpc>
              <a:spcBef>
                <a:spcPts val="800"/>
              </a:spcBef>
              <a:spcAft>
                <a:spcPts val="1000"/>
              </a:spcAft>
              <a:defRPr sz="1300">
                <a:latin typeface="Segoe UI"/>
              </a:defRPr>
            </a:pPr>
            <a:r>
              <a:rPr b="1">
                <a:solidFill>
                  <a:srgbClr val="006FE6"/>
                </a:solidFill>
              </a:rPr>
              <a:t>A infraestrutura necessária — </a:t>
            </a:r>
            <a:r>
              <a:rPr b="0">
                <a:solidFill>
                  <a:srgbClr val="475569"/>
                </a:solidFill>
              </a:rPr>
              <a:t>rodar modelos de embeddings e inferência localmente via Kronk</a:t>
            </a:r>
          </a:p>
          <a:p>
            <a:pPr>
              <a:lnSpc>
                <a:spcPct val="125000"/>
              </a:lnSpc>
              <a:spcBef>
                <a:spcPts val="800"/>
              </a:spcBef>
              <a:spcAft>
                <a:spcPts val="1000"/>
              </a:spcAft>
              <a:defRPr sz="1300">
                <a:latin typeface="Segoe UI"/>
              </a:defRPr>
            </a:pPr>
            <a:r>
              <a:rPr b="1">
                <a:solidFill>
                  <a:srgbClr val="006FE6"/>
                </a:solidFill>
              </a:rPr>
              <a:t>Conclusão empírica — </a:t>
            </a:r>
            <a:r>
              <a:rPr b="0">
                <a:solidFill>
                  <a:srgbClr val="475569"/>
                </a:solidFill>
              </a:rPr>
              <a:t>comparativo real de custos e performance exibidos ao vivo no palco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Roteiro de hoje</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7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1. O motor local — </a:t>
            </a:r>
            <a:r>
              <a:rPr b="0">
                <a:solidFill>
                  <a:srgbClr val="475569"/>
                </a:solidFill>
              </a:rPr>
              <a:t>mergulho técnico no Kronk (quantização, MoE, offload de CPU/GPU)</a:t>
            </a:r>
          </a:p>
          <a:p>
            <a:pPr>
              <a:lnSpc>
                <a:spcPct val="125000"/>
              </a:lnSpc>
              <a:spcBef>
                <a:spcPts val="800"/>
              </a:spcBef>
              <a:spcAft>
                <a:spcPts val="1000"/>
              </a:spcAft>
              <a:defRPr sz="1300">
                <a:latin typeface="Segoe UI"/>
              </a:defRPr>
            </a:pPr>
            <a:r>
              <a:rPr b="1">
                <a:solidFill>
                  <a:srgbClr val="006FE6"/>
                </a:solidFill>
              </a:rPr>
              <a:t>2. Benchmarks reais — </a:t>
            </a:r>
            <a:r>
              <a:rPr b="0">
                <a:solidFill>
                  <a:srgbClr val="475569"/>
                </a:solidFill>
              </a:rPr>
              <a:t>números de vazão, TTFT e latência medidos localmente</a:t>
            </a:r>
          </a:p>
          <a:p>
            <a:pPr>
              <a:lnSpc>
                <a:spcPct val="125000"/>
              </a:lnSpc>
              <a:spcBef>
                <a:spcPts val="800"/>
              </a:spcBef>
              <a:spcAft>
                <a:spcPts val="1000"/>
              </a:spcAft>
              <a:defRPr sz="1300">
                <a:latin typeface="Segoe UI"/>
              </a:defRPr>
            </a:pPr>
            <a:r>
              <a:rPr b="1">
                <a:solidFill>
                  <a:srgbClr val="006FE6"/>
                </a:solidFill>
              </a:rPr>
              <a:t>3. Por dentro do código — </a:t>
            </a:r>
            <a:r>
              <a:rPr b="0">
                <a:solidFill>
                  <a:srgbClr val="475569"/>
                </a:solidFill>
              </a:rPr>
              <a:t>walkthrough nos códigos Go dos dois servidores MCP</a:t>
            </a:r>
          </a:p>
          <a:p>
            <a:pPr>
              <a:lnSpc>
                <a:spcPct val="125000"/>
              </a:lnSpc>
              <a:spcBef>
                <a:spcPts val="800"/>
              </a:spcBef>
              <a:spcAft>
                <a:spcPts val="1000"/>
              </a:spcAft>
              <a:defRPr sz="1300">
                <a:latin typeface="Segoe UI"/>
              </a:defRPr>
            </a:pPr>
            <a:r>
              <a:rPr b="1">
                <a:solidFill>
                  <a:srgbClr val="006FE6"/>
                </a:solidFill>
              </a:rPr>
              <a:t>4. Demonstração prática ao vivo — </a:t>
            </a:r>
            <a:r>
              <a:rPr b="0">
                <a:solidFill>
                  <a:srgbClr val="475569"/>
                </a:solidFill>
              </a:rPr>
              <a:t>Cena 1 e Cena 2 duelando na tela com contadores ativos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Motor de Toda IA Local: llama.cpp</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8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divisor de águas da IA — </a:t>
            </a:r>
            <a:r>
              <a:rPr b="0">
                <a:solidFill>
                  <a:srgbClr val="475569"/>
                </a:solidFill>
              </a:rPr>
              <a:t>Criado por Georgi Gerganov em 2023, reimplementando o LLaMA da Meta em C/C++ puro</a:t>
            </a:r>
          </a:p>
          <a:p>
            <a:pPr>
              <a:lnSpc>
                <a:spcPct val="125000"/>
              </a:lnSpc>
              <a:spcBef>
                <a:spcPts val="800"/>
              </a:spcBef>
              <a:spcAft>
                <a:spcPts val="1000"/>
              </a:spcAft>
              <a:defRPr sz="1300">
                <a:latin typeface="Segoe UI"/>
              </a:defRPr>
            </a:pPr>
            <a:r>
              <a:rPr b="1">
                <a:solidFill>
                  <a:srgbClr val="006FE6"/>
                </a:solidFill>
              </a:rPr>
              <a:t>Independência absoluta de Python — </a:t>
            </a:r>
            <a:r>
              <a:rPr b="0">
                <a:solidFill>
                  <a:srgbClr val="475569"/>
                </a:solidFill>
              </a:rPr>
              <a:t>Elimina a pesada pilha do PyTorch/Hugging Face por binários compilados nativos</a:t>
            </a:r>
          </a:p>
          <a:p>
            <a:pPr>
              <a:lnSpc>
                <a:spcPct val="125000"/>
              </a:lnSpc>
              <a:spcBef>
                <a:spcPts val="800"/>
              </a:spcBef>
              <a:spcAft>
                <a:spcPts val="1000"/>
              </a:spcAft>
              <a:defRPr sz="1300">
                <a:latin typeface="Segoe UI"/>
              </a:defRPr>
            </a:pPr>
            <a:r>
              <a:rPr b="1">
                <a:solidFill>
                  <a:srgbClr val="006FE6"/>
                </a:solidFill>
              </a:rPr>
              <a:t>Aceleração de hardware multiplataforma — </a:t>
            </a:r>
            <a:r>
              <a:rPr b="0">
                <a:solidFill>
                  <a:srgbClr val="475569"/>
                </a:solidFill>
              </a:rPr>
              <a:t>Suporte nativo a Metal (Apple Silicon), CUDA (Nvidia), ROCm (AMD) e CPU pura</a:t>
            </a:r>
          </a:p>
          <a:p>
            <a:pPr>
              <a:lnSpc>
                <a:spcPct val="125000"/>
              </a:lnSpc>
              <a:spcBef>
                <a:spcPts val="800"/>
              </a:spcBef>
              <a:spcAft>
                <a:spcPts val="1000"/>
              </a:spcAft>
              <a:defRPr sz="1300">
                <a:latin typeface="Segoe UI"/>
              </a:defRPr>
            </a:pPr>
            <a:r>
              <a:rPr b="1">
                <a:solidFill>
                  <a:srgbClr val="006FE6"/>
                </a:solidFill>
              </a:rPr>
              <a:t>Pioneirismo no formato GGUF — </a:t>
            </a:r>
            <a:r>
              <a:rPr b="0">
                <a:solidFill>
                  <a:srgbClr val="475569"/>
                </a:solidFill>
              </a:rPr>
              <a:t>Introduz arquivos quantizados ultra-eficientes mapeados diretamente em memória</a:t>
            </a:r>
          </a:p>
          <a:p>
            <a:pPr>
              <a:lnSpc>
                <a:spcPct val="125000"/>
              </a:lnSpc>
              <a:spcBef>
                <a:spcPts val="800"/>
              </a:spcBef>
              <a:spcAft>
                <a:spcPts val="1000"/>
              </a:spcAft>
              <a:defRPr sz="1300">
                <a:latin typeface="Segoe UI"/>
              </a:defRPr>
            </a:pPr>
            <a:r>
              <a:rPr b="1">
                <a:solidFill>
                  <a:srgbClr val="006FE6"/>
                </a:solidFill>
              </a:rPr>
              <a:t>Mapeamento por FFI — </a:t>
            </a:r>
            <a:r>
              <a:rPr b="0">
                <a:solidFill>
                  <a:srgbClr val="475569"/>
                </a:solidFill>
              </a:rPr>
              <a:t>Arquitetura ideal para ser importada nativamente por linguagens como o Go sem overhead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que é um Token de Verdade? Tokenização &amp; BPE</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9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Fatiamento de Texto — </a:t>
            </a:r>
            <a:r>
              <a:rPr b="0">
                <a:solidFill>
                  <a:srgbClr val="475569"/>
                </a:solidFill>
              </a:rPr>
              <a:t>Modelos de linguagem não leem palavras diretamente; eles quebram textos em fragmentos chamados tokens</a:t>
            </a:r>
          </a:p>
          <a:p>
            <a:pPr>
              <a:lnSpc>
                <a:spcPct val="125000"/>
              </a:lnSpc>
              <a:spcBef>
                <a:spcPts val="800"/>
              </a:spcBef>
              <a:spcAft>
                <a:spcPts val="1000"/>
              </a:spcAft>
              <a:defRPr sz="1300">
                <a:latin typeface="Segoe UI"/>
              </a:defRPr>
            </a:pPr>
            <a:r>
              <a:rPr b="1">
                <a:solidFill>
                  <a:srgbClr val="006FE6"/>
                </a:solidFill>
              </a:rPr>
              <a:t>Byte Pair Encoding (BPE) — </a:t>
            </a:r>
            <a:r>
              <a:rPr b="0">
                <a:solidFill>
                  <a:srgbClr val="475569"/>
                </a:solidFill>
              </a:rPr>
              <a:t>Algoritmo estatístico que agrupa pares de caracteres recorrentes para formar o vocabulário do modelo</a:t>
            </a:r>
          </a:p>
          <a:p>
            <a:pPr>
              <a:lnSpc>
                <a:spcPct val="125000"/>
              </a:lnSpc>
              <a:spcBef>
                <a:spcPts val="800"/>
              </a:spcBef>
              <a:spcAft>
                <a:spcPts val="1000"/>
              </a:spcAft>
              <a:defRPr sz="1300">
                <a:latin typeface="Segoe UI"/>
              </a:defRPr>
            </a:pPr>
            <a:r>
              <a:rPr b="1">
                <a:solidFill>
                  <a:srgbClr val="006FE6"/>
                </a:solidFill>
              </a:rPr>
              <a:t>Mapeamento Numérico — </a:t>
            </a:r>
            <a:r>
              <a:rPr b="0">
                <a:solidFill>
                  <a:srgbClr val="475569"/>
                </a:solidFill>
              </a:rPr>
              <a:t>Cada token é traduzido em uma ID numérica que aponta para um vetor de coordenadas na matriz do modelo</a:t>
            </a:r>
          </a:p>
          <a:p>
            <a:pPr>
              <a:lnSpc>
                <a:spcPct val="125000"/>
              </a:lnSpc>
              <a:spcBef>
                <a:spcPts val="800"/>
              </a:spcBef>
              <a:spcAft>
                <a:spcPts val="1000"/>
              </a:spcAft>
              <a:defRPr sz="1300">
                <a:latin typeface="Segoe UI"/>
              </a:defRPr>
            </a:pPr>
            <a:r>
              <a:rPr b="1">
                <a:solidFill>
                  <a:srgbClr val="006FE6"/>
                </a:solidFill>
              </a:rPr>
              <a:t>Relação Espacial — </a:t>
            </a:r>
            <a:r>
              <a:rPr b="0">
                <a:solidFill>
                  <a:srgbClr val="475569"/>
                </a:solidFill>
              </a:rPr>
              <a:t>1 token equivale a aproximadamente 4 caracteres ou 0.75 palavras em inglês, variando de acordo com o idioma</a:t>
            </a:r>
          </a:p>
          <a:p>
            <a:pPr>
              <a:lnSpc>
                <a:spcPct val="125000"/>
              </a:lnSpc>
              <a:spcBef>
                <a:spcPts val="800"/>
              </a:spcBef>
              <a:spcAft>
                <a:spcPts val="1000"/>
              </a:spcAft>
              <a:defRPr sz="1300">
                <a:latin typeface="Segoe UI"/>
              </a:defRPr>
            </a:pPr>
            <a:r>
              <a:rPr b="1">
                <a:solidFill>
                  <a:srgbClr val="006FE6"/>
                </a:solidFill>
              </a:rPr>
              <a:t>Tokens Especiais — </a:t>
            </a:r>
            <a:r>
              <a:rPr b="0">
                <a:solidFill>
                  <a:srgbClr val="475569"/>
                </a:solidFill>
              </a:rPr>
              <a:t>Marcadores de estrutura essenciais: BOS (começo do prompt), EOS (fim da resposta) e PAD (preenchimento)</a:t>
            </a:r>
          </a:p>
          <a:p>
            <a:pPr>
              <a:lnSpc>
                <a:spcPct val="125000"/>
              </a:lnSpc>
              <a:spcBef>
                <a:spcPts val="800"/>
              </a:spcBef>
              <a:spcAft>
                <a:spcPts val="1000"/>
              </a:spcAft>
              <a:defRPr sz="1300">
                <a:latin typeface="Segoe UI"/>
              </a:defRPr>
            </a:pPr>
            <a:r>
              <a:rPr b="1">
                <a:solidFill>
                  <a:srgbClr val="006FE6"/>
                </a:solidFill>
              </a:rPr>
              <a:t>Sensibilidade de Vocabulário — </a:t>
            </a:r>
            <a:r>
              <a:rPr b="0">
                <a:solidFill>
                  <a:srgbClr val="475569"/>
                </a:solidFill>
              </a:rPr>
              <a:t>Termos comuns (ex: 'ChatGPT') viram 1 único token, mas palavras raras são divididas em 3 ou mais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Além do Texto: O Ecossistema whisper.cpp</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10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Transcrição de Áudio Offline — </a:t>
            </a:r>
            <a:r>
              <a:rPr b="0">
                <a:solidFill>
                  <a:srgbClr val="475569"/>
                </a:solidFill>
              </a:rPr>
              <a:t>Port de altíssima performance em C/C++ do modelo de reconhecimento de voz Whisper da OpenAI</a:t>
            </a:r>
          </a:p>
          <a:p>
            <a:pPr>
              <a:lnSpc>
                <a:spcPct val="125000"/>
              </a:lnSpc>
              <a:spcBef>
                <a:spcPts val="800"/>
              </a:spcBef>
              <a:spcAft>
                <a:spcPts val="1000"/>
              </a:spcAft>
              <a:defRPr sz="1300">
                <a:latin typeface="Segoe UI"/>
              </a:defRPr>
            </a:pPr>
            <a:r>
              <a:rPr b="1">
                <a:solidFill>
                  <a:srgbClr val="006FE6"/>
                </a:solidFill>
              </a:rPr>
              <a:t>Mesma Filosofia de Engenharia — </a:t>
            </a:r>
            <a:r>
              <a:rPr b="0">
                <a:solidFill>
                  <a:srgbClr val="475569"/>
                </a:solidFill>
              </a:rPr>
              <a:t>Desenvolvido também por Georgi Gerganov, eliminando dependências de Python por completo</a:t>
            </a:r>
          </a:p>
          <a:p>
            <a:pPr>
              <a:lnSpc>
                <a:spcPct val="125000"/>
              </a:lnSpc>
              <a:spcBef>
                <a:spcPts val="800"/>
              </a:spcBef>
              <a:spcAft>
                <a:spcPts val="1000"/>
              </a:spcAft>
              <a:defRPr sz="1300">
                <a:latin typeface="Segoe UI"/>
              </a:defRPr>
            </a:pPr>
            <a:r>
              <a:rPr b="1">
                <a:solidFill>
                  <a:srgbClr val="006FE6"/>
                </a:solidFill>
              </a:rPr>
              <a:t>Velocidade de Processamento Extrema — </a:t>
            </a:r>
            <a:r>
              <a:rPr b="0">
                <a:solidFill>
                  <a:srgbClr val="475569"/>
                </a:solidFill>
              </a:rPr>
              <a:t>Capaz de processar e transcrever áudio em até 10x mais rápido que o tempo real</a:t>
            </a:r>
          </a:p>
          <a:p>
            <a:pPr>
              <a:lnSpc>
                <a:spcPct val="125000"/>
              </a:lnSpc>
              <a:spcBef>
                <a:spcPts val="800"/>
              </a:spcBef>
              <a:spcAft>
                <a:spcPts val="1000"/>
              </a:spcAft>
              <a:defRPr sz="1300">
                <a:latin typeface="Segoe UI"/>
              </a:defRPr>
            </a:pPr>
            <a:r>
              <a:rPr b="1">
                <a:solidFill>
                  <a:srgbClr val="006FE6"/>
                </a:solidFill>
              </a:rPr>
              <a:t>Suporte Amplo de Hardware — </a:t>
            </a:r>
            <a:r>
              <a:rPr b="0">
                <a:solidFill>
                  <a:srgbClr val="475569"/>
                </a:solidFill>
              </a:rPr>
              <a:t>Otimizado nativamente via Metal, CUDA, CoreML e instruções de vetores de CPU</a:t>
            </a:r>
          </a:p>
          <a:p>
            <a:pPr>
              <a:lnSpc>
                <a:spcPct val="125000"/>
              </a:lnSpc>
              <a:spcBef>
                <a:spcPts val="800"/>
              </a:spcBef>
              <a:spcAft>
                <a:spcPts val="1000"/>
              </a:spcAft>
              <a:defRPr sz="1300">
                <a:latin typeface="Segoe UI"/>
              </a:defRPr>
            </a:pPr>
            <a:r>
              <a:rPr b="1">
                <a:solidFill>
                  <a:srgbClr val="006FE6"/>
                </a:solidFill>
              </a:rPr>
              <a:t>Integração com Pipelines em Go — </a:t>
            </a:r>
            <a:r>
              <a:rPr b="0">
                <a:solidFill>
                  <a:srgbClr val="475569"/>
                </a:solidFill>
              </a:rPr>
              <a:t>Comunicação direta via CGo assim como o Kronk, viabilizando agentes locais por voz</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Choque de Paradigmas: Python vs Go &amp; C++</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11 / 50</a:t>
            </a:r>
          </a:p>
        </p:txBody>
      </p:sp>
      <p:graphicFrame>
        <p:nvGraphicFramePr>
          <p:cNvPr id="8" name="Table 7"/>
          <p:cNvGraphicFramePr>
            <a:graphicFrameLocks noGrp="1"/>
          </p:cNvGraphicFramePr>
          <p:nvPr/>
        </p:nvGraphicFramePr>
        <p:xfrm>
          <a:off x="548640" y="1737360"/>
          <a:ext cx="11094415" cy="27432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pPr algn="l"/>
                      <a:r>
                        <a:rPr b="1" sz="1200">
                          <a:solidFill>
                            <a:srgbClr val="00D2FF"/>
                          </a:solidFill>
                          <a:latin typeface="Segoe UI"/>
                        </a:rPr>
                        <a:t>Aspecto</a:t>
                      </a:r>
                    </a:p>
                  </a:txBody>
                  <a:tcPr>
                    <a:solidFill>
                      <a:srgbClr val="0A2540"/>
                    </a:solidFill>
                  </a:tcPr>
                </a:tc>
                <a:tc>
                  <a:txBody>
                    <a:bodyPr wrap="square"/>
                    <a:lstStyle/>
                    <a:p>
                      <a:pPr algn="ctr"/>
                      <a:r>
                        <a:rPr b="1" sz="1200">
                          <a:solidFill>
                            <a:srgbClr val="00D2FF"/>
                          </a:solidFill>
                          <a:latin typeface="Segoe UI"/>
                        </a:rPr>
                        <a:t>Pilha Python (PyTorch / HF)</a:t>
                      </a:r>
                    </a:p>
                  </a:txBody>
                  <a:tcPr>
                    <a:solidFill>
                      <a:srgbClr val="0A2540"/>
                    </a:solidFill>
                  </a:tcPr>
                </a:tc>
                <a:tc>
                  <a:txBody>
                    <a:bodyPr wrap="square"/>
                    <a:lstStyle/>
                    <a:p>
                      <a:pPr algn="ctr"/>
                      <a:r>
                        <a:rPr b="1" sz="1200">
                          <a:solidFill>
                            <a:srgbClr val="00D2FF"/>
                          </a:solidFill>
                          <a:latin typeface="Segoe UI"/>
                        </a:rPr>
                        <a:t>Pilha Nativa (C++ / Go)</a:t>
                      </a:r>
                    </a:p>
                  </a:txBody>
                  <a:tcPr>
                    <a:solidFill>
                      <a:srgbClr val="0A2540"/>
                    </a:solidFill>
                  </a:tcPr>
                </a:tc>
              </a:tr>
              <a:tr h="457200">
                <a:tc>
                  <a:txBody>
                    <a:bodyPr wrap="square"/>
                    <a:lstStyle/>
                    <a:p>
                      <a:pPr algn="l"/>
                      <a:r>
                        <a:rPr b="0" sz="1100">
                          <a:solidFill>
                            <a:srgbClr val="0F172A"/>
                          </a:solidFill>
                          <a:latin typeface="Segoe UI"/>
                        </a:rPr>
                        <a:t>Linguagem</a:t>
                      </a:r>
                    </a:p>
                  </a:txBody>
                  <a:tcPr>
                    <a:solidFill>
                      <a:srgbClr val="F8FAFC"/>
                    </a:solidFill>
                  </a:tcPr>
                </a:tc>
                <a:tc>
                  <a:txBody>
                    <a:bodyPr wrap="square"/>
                    <a:lstStyle/>
                    <a:p>
                      <a:pPr algn="ctr"/>
                      <a:r>
                        <a:rPr b="0" sz="1100">
                          <a:solidFill>
                            <a:srgbClr val="0F172A"/>
                          </a:solidFill>
                          <a:latin typeface="Segoe UI"/>
                        </a:rPr>
                        <a:t>Python (Pesado, Interpretado, GIL)</a:t>
                      </a:r>
                    </a:p>
                  </a:txBody>
                  <a:tcPr>
                    <a:solidFill>
                      <a:srgbClr val="F8FAFC"/>
                    </a:solidFill>
                  </a:tcPr>
                </a:tc>
                <a:tc>
                  <a:txBody>
                    <a:bodyPr wrap="square"/>
                    <a:lstStyle/>
                    <a:p>
                      <a:pPr algn="ctr"/>
                      <a:r>
                        <a:rPr b="0" sz="1100">
                          <a:solidFill>
                            <a:srgbClr val="0F172A"/>
                          </a:solidFill>
                          <a:latin typeface="Segoe UI"/>
                        </a:rPr>
                        <a:t>C/C++ e Go (Compilado, Concorrência Real)</a:t>
                      </a:r>
                    </a:p>
                  </a:txBody>
                  <a:tcPr>
                    <a:solidFill>
                      <a:srgbClr val="F8FAFC"/>
                    </a:solidFill>
                  </a:tcPr>
                </a:tc>
              </a:tr>
              <a:tr h="457200">
                <a:tc>
                  <a:txBody>
                    <a:bodyPr wrap="square"/>
                    <a:lstStyle/>
                    <a:p>
                      <a:pPr algn="l"/>
                      <a:r>
                        <a:rPr b="0" sz="1100">
                          <a:solidFill>
                            <a:srgbClr val="0F172A"/>
                          </a:solidFill>
                          <a:latin typeface="Segoe UI"/>
                        </a:rPr>
                        <a:t>Runtime</a:t>
                      </a:r>
                    </a:p>
                  </a:txBody>
                  <a:tcPr>
                    <a:solidFill>
                      <a:srgbClr val="FFFFFF"/>
                    </a:solidFill>
                  </a:tcPr>
                </a:tc>
                <a:tc>
                  <a:txBody>
                    <a:bodyPr wrap="square"/>
                    <a:lstStyle/>
                    <a:p>
                      <a:pPr algn="ctr"/>
                      <a:r>
                        <a:rPr b="0" sz="1100">
                          <a:solidFill>
                            <a:srgbClr val="0F172A"/>
                          </a:solidFill>
                          <a:latin typeface="Segoe UI"/>
                        </a:rPr>
                        <a:t>GigaBytes (PyTorch, bibliotecas, CUDA)</a:t>
                      </a:r>
                    </a:p>
                  </a:txBody>
                  <a:tcPr>
                    <a:solidFill>
                      <a:srgbClr val="FFFFFF"/>
                    </a:solidFill>
                  </a:tcPr>
                </a:tc>
                <a:tc>
                  <a:txBody>
                    <a:bodyPr wrap="square"/>
                    <a:lstStyle/>
                    <a:p>
                      <a:pPr algn="ctr"/>
                      <a:r>
                        <a:rPr b="0" sz="1100">
                          <a:solidFill>
                            <a:srgbClr val="0F172A"/>
                          </a:solidFill>
                          <a:latin typeface="Segoe UI"/>
                        </a:rPr>
                        <a:t>MegaBytes (Executável compilado leve)</a:t>
                      </a:r>
                    </a:p>
                  </a:txBody>
                  <a:tcPr>
                    <a:solidFill>
                      <a:srgbClr val="FFFFFF"/>
                    </a:solidFill>
                  </a:tcPr>
                </a:tc>
              </a:tr>
              <a:tr h="457200">
                <a:tc>
                  <a:txBody>
                    <a:bodyPr wrap="square"/>
                    <a:lstStyle/>
                    <a:p>
                      <a:pPr algn="l"/>
                      <a:r>
                        <a:rPr b="0" sz="1100">
                          <a:solidFill>
                            <a:srgbClr val="0F172A"/>
                          </a:solidFill>
                          <a:latin typeface="Segoe UI"/>
                        </a:rPr>
                        <a:t>Startup</a:t>
                      </a:r>
                    </a:p>
                  </a:txBody>
                  <a:tcPr>
                    <a:solidFill>
                      <a:srgbClr val="F8FAFC"/>
                    </a:solidFill>
                  </a:tcPr>
                </a:tc>
                <a:tc>
                  <a:txBody>
                    <a:bodyPr wrap="square"/>
                    <a:lstStyle/>
                    <a:p>
                      <a:pPr algn="ctr"/>
                      <a:r>
                        <a:rPr b="0" sz="1100">
                          <a:solidFill>
                            <a:srgbClr val="0F172A"/>
                          </a:solidFill>
                          <a:latin typeface="Segoe UI"/>
                        </a:rPr>
                        <a:t>Lento (segundos p/ carregar interpretador)</a:t>
                      </a:r>
                    </a:p>
                  </a:txBody>
                  <a:tcPr>
                    <a:solidFill>
                      <a:srgbClr val="F8FAFC"/>
                    </a:solidFill>
                  </a:tcPr>
                </a:tc>
                <a:tc>
                  <a:txBody>
                    <a:bodyPr wrap="square"/>
                    <a:lstStyle/>
                    <a:p>
                      <a:pPr algn="ctr"/>
                      <a:r>
                        <a:rPr b="0" sz="1100">
                          <a:solidFill>
                            <a:srgbClr val="0F172A"/>
                          </a:solidFill>
                          <a:latin typeface="Segoe UI"/>
                        </a:rPr>
                        <a:t>Instantâneo (milissegundos)</a:t>
                      </a:r>
                    </a:p>
                  </a:txBody>
                  <a:tcPr>
                    <a:solidFill>
                      <a:srgbClr val="F8FAFC"/>
                    </a:solidFill>
                  </a:tcPr>
                </a:tc>
              </a:tr>
              <a:tr h="457200">
                <a:tc>
                  <a:txBody>
                    <a:bodyPr wrap="square"/>
                    <a:lstStyle/>
                    <a:p>
                      <a:pPr algn="l"/>
                      <a:r>
                        <a:rPr b="0" sz="1100">
                          <a:solidFill>
                            <a:srgbClr val="0F172A"/>
                          </a:solidFill>
                          <a:latin typeface="Segoe UI"/>
                        </a:rPr>
                        <a:t>RAM/VRAM</a:t>
                      </a:r>
                    </a:p>
                  </a:txBody>
                  <a:tcPr>
                    <a:solidFill>
                      <a:srgbClr val="FFFFFF"/>
                    </a:solidFill>
                  </a:tcPr>
                </a:tc>
                <a:tc>
                  <a:txBody>
                    <a:bodyPr wrap="square"/>
                    <a:lstStyle/>
                    <a:p>
                      <a:pPr algn="ctr"/>
                      <a:r>
                        <a:rPr b="0" sz="1100">
                          <a:solidFill>
                            <a:srgbClr val="0F172A"/>
                          </a:solidFill>
                          <a:latin typeface="Segoe UI"/>
                        </a:rPr>
                        <a:t>Alto overhead de alocação de objetos</a:t>
                      </a:r>
                    </a:p>
                  </a:txBody>
                  <a:tcPr>
                    <a:solidFill>
                      <a:srgbClr val="FFFFFF"/>
                    </a:solidFill>
                  </a:tcPr>
                </a:tc>
                <a:tc>
                  <a:txBody>
                    <a:bodyPr wrap="square"/>
                    <a:lstStyle/>
                    <a:p>
                      <a:pPr algn="ctr"/>
                      <a:r>
                        <a:rPr b="0" sz="1100">
                          <a:solidFill>
                            <a:srgbClr val="0F172A"/>
                          </a:solidFill>
                          <a:latin typeface="Segoe UI"/>
                        </a:rPr>
                        <a:t>Mapeamento direto em disco via mmap</a:t>
                      </a:r>
                    </a:p>
                  </a:txBody>
                  <a:tcPr>
                    <a:solidFill>
                      <a:srgbClr val="FFFFFF"/>
                    </a:solidFill>
                  </a:tcPr>
                </a:tc>
              </a:tr>
              <a:tr h="457200">
                <a:tc>
                  <a:txBody>
                    <a:bodyPr wrap="square"/>
                    <a:lstStyle/>
                    <a:p>
                      <a:pPr algn="l"/>
                      <a:r>
                        <a:rPr b="0" sz="1100">
                          <a:solidFill>
                            <a:srgbClr val="0F172A"/>
                          </a:solidFill>
                          <a:latin typeface="Segoe UI"/>
                        </a:rPr>
                        <a:t>Foco Ideal</a:t>
                      </a:r>
                    </a:p>
                  </a:txBody>
                  <a:tcPr>
                    <a:solidFill>
                      <a:srgbClr val="F8FAFC"/>
                    </a:solidFill>
                  </a:tcPr>
                </a:tc>
                <a:tc>
                  <a:txBody>
                    <a:bodyPr wrap="square"/>
                    <a:lstStyle/>
                    <a:p>
                      <a:pPr algn="ctr"/>
                      <a:r>
                        <a:rPr b="0" sz="1100">
                          <a:solidFill>
                            <a:srgbClr val="0F172A"/>
                          </a:solidFill>
                          <a:latin typeface="Segoe UI"/>
                        </a:rPr>
                        <a:t>Pesquisa acadêmica e treinamento</a:t>
                      </a:r>
                    </a:p>
                  </a:txBody>
                  <a:tcPr>
                    <a:solidFill>
                      <a:srgbClr val="F8FAFC"/>
                    </a:solidFill>
                  </a:tcPr>
                </a:tc>
                <a:tc>
                  <a:txBody>
                    <a:bodyPr wrap="square"/>
                    <a:lstStyle/>
                    <a:p>
                      <a:pPr algn="ctr"/>
                      <a:r>
                        <a:rPr b="0" sz="1100">
                          <a:solidFill>
                            <a:srgbClr val="0F172A"/>
                          </a:solidFill>
                          <a:latin typeface="Segoe UI"/>
                        </a:rPr>
                        <a:t>Produção local, borda e servidores leves</a:t>
                      </a:r>
                    </a:p>
                  </a:txBody>
                  <a:tcPr>
                    <a:solidFill>
                      <a:srgbClr val="F8FA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Os Cérebros da Demo: Qwen &amp; Gemma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12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Modelos Open-Weights de elite — </a:t>
            </a:r>
            <a:r>
              <a:rPr b="0">
                <a:solidFill>
                  <a:srgbClr val="475569"/>
                </a:solidFill>
              </a:rPr>
              <a:t>A liberação de modelos de ponta pelo Google e Alibaba viabilizou IA local corporativa</a:t>
            </a:r>
          </a:p>
          <a:p>
            <a:pPr>
              <a:lnSpc>
                <a:spcPct val="125000"/>
              </a:lnSpc>
              <a:spcBef>
                <a:spcPts val="800"/>
              </a:spcBef>
              <a:spcAft>
                <a:spcPts val="1000"/>
              </a:spcAft>
              <a:defRPr sz="1300">
                <a:latin typeface="Segoe UI"/>
              </a:defRPr>
            </a:pPr>
            <a:r>
              <a:rPr b="1">
                <a:solidFill>
                  <a:srgbClr val="006FE6"/>
                </a:solidFill>
              </a:rPr>
              <a:t>Gemma (Google DeepMind) — </a:t>
            </a:r>
            <a:r>
              <a:rPr b="0">
                <a:solidFill>
                  <a:srgbClr val="475569"/>
                </a:solidFill>
              </a:rPr>
              <a:t>Arquitetura de altíssima eficiência herdada diretamente da família comercial Gemini</a:t>
            </a:r>
          </a:p>
          <a:p>
            <a:pPr>
              <a:lnSpc>
                <a:spcPct val="125000"/>
              </a:lnSpc>
              <a:spcBef>
                <a:spcPts val="800"/>
              </a:spcBef>
              <a:spcAft>
                <a:spcPts val="1000"/>
              </a:spcAft>
              <a:defRPr sz="1300">
                <a:latin typeface="Segoe UI"/>
              </a:defRPr>
            </a:pPr>
            <a:r>
              <a:rPr b="1">
                <a:solidFill>
                  <a:srgbClr val="006FE6"/>
                </a:solidFill>
              </a:rPr>
              <a:t>Mapeamento com embeddinggemma — </a:t>
            </a:r>
            <a:r>
              <a:rPr b="0">
                <a:solidFill>
                  <a:srgbClr val="475569"/>
                </a:solidFill>
              </a:rPr>
              <a:t>Usamos o modelo Gemma de 300M parâmetros focado unicamente em embeddings semânticos</a:t>
            </a:r>
          </a:p>
          <a:p>
            <a:pPr>
              <a:lnSpc>
                <a:spcPct val="125000"/>
              </a:lnSpc>
              <a:spcBef>
                <a:spcPts val="800"/>
              </a:spcBef>
              <a:spcAft>
                <a:spcPts val="1000"/>
              </a:spcAft>
              <a:defRPr sz="1300">
                <a:latin typeface="Segoe UI"/>
              </a:defRPr>
            </a:pPr>
            <a:r>
              <a:rPr b="1">
                <a:solidFill>
                  <a:srgbClr val="006FE6"/>
                </a:solidFill>
              </a:rPr>
              <a:t>Qwen (Alibaba Cloud) — </a:t>
            </a:r>
            <a:r>
              <a:rPr b="0">
                <a:solidFill>
                  <a:srgbClr val="475569"/>
                </a:solidFill>
              </a:rPr>
              <a:t>Campeão absoluto de programação open-source, batendo GPT-4 em raciocínio de código</a:t>
            </a:r>
          </a:p>
          <a:p>
            <a:pPr>
              <a:lnSpc>
                <a:spcPct val="125000"/>
              </a:lnSpc>
              <a:spcBef>
                <a:spcPts val="800"/>
              </a:spcBef>
              <a:spcAft>
                <a:spcPts val="1000"/>
              </a:spcAft>
              <a:defRPr sz="1300">
                <a:latin typeface="Segoe UI"/>
              </a:defRPr>
            </a:pPr>
            <a:r>
              <a:rPr b="1">
                <a:solidFill>
                  <a:srgbClr val="006FE6"/>
                </a:solidFill>
              </a:rPr>
              <a:t>Inferência com gpt-oss-20b — </a:t>
            </a:r>
            <a:r>
              <a:rPr b="0">
                <a:solidFill>
                  <a:srgbClr val="475569"/>
                </a:solidFill>
              </a:rPr>
              <a:t>Nosso modelo principal de chat de 20B parâmetros, com MoE para acelerar em hardware local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Dilema de Seleção: Qwen/Gemma vs Alternativas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13 / 50</a:t>
            </a:r>
          </a:p>
        </p:txBody>
      </p:sp>
      <p:graphicFrame>
        <p:nvGraphicFramePr>
          <p:cNvPr id="8" name="Table 7"/>
          <p:cNvGraphicFramePr>
            <a:graphicFrameLocks noGrp="1"/>
          </p:cNvGraphicFramePr>
          <p:nvPr/>
        </p:nvGraphicFramePr>
        <p:xfrm>
          <a:off x="548640" y="1737360"/>
          <a:ext cx="11094415" cy="22860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pPr algn="l"/>
                      <a:r>
                        <a:rPr b="1" sz="1200">
                          <a:solidFill>
                            <a:srgbClr val="00D2FF"/>
                          </a:solidFill>
                          <a:latin typeface="Segoe UI"/>
                        </a:rPr>
                        <a:t>Modelo</a:t>
                      </a:r>
                    </a:p>
                  </a:txBody>
                  <a:tcPr>
                    <a:solidFill>
                      <a:srgbClr val="0A2540"/>
                    </a:solidFill>
                  </a:tcPr>
                </a:tc>
                <a:tc>
                  <a:txBody>
                    <a:bodyPr wrap="square"/>
                    <a:lstStyle/>
                    <a:p>
                      <a:pPr algn="ctr"/>
                      <a:r>
                        <a:rPr b="1" sz="1200">
                          <a:solidFill>
                            <a:srgbClr val="00D2FF"/>
                          </a:solidFill>
                          <a:latin typeface="Segoe UI"/>
                        </a:rPr>
                        <a:t>Arquitetura</a:t>
                      </a:r>
                    </a:p>
                  </a:txBody>
                  <a:tcPr>
                    <a:solidFill>
                      <a:srgbClr val="0A2540"/>
                    </a:solidFill>
                  </a:tcPr>
                </a:tc>
                <a:tc>
                  <a:txBody>
                    <a:bodyPr wrap="square"/>
                    <a:lstStyle/>
                    <a:p>
                      <a:pPr algn="ctr"/>
                      <a:r>
                        <a:rPr b="1" sz="1200">
                          <a:solidFill>
                            <a:srgbClr val="00D2FF"/>
                          </a:solidFill>
                          <a:latin typeface="Segoe UI"/>
                        </a:rPr>
                        <a:t>Vantagem Local-First</a:t>
                      </a:r>
                    </a:p>
                  </a:txBody>
                  <a:tcPr>
                    <a:solidFill>
                      <a:srgbClr val="0A2540"/>
                    </a:solidFill>
                  </a:tcPr>
                </a:tc>
                <a:tc>
                  <a:txBody>
                    <a:bodyPr wrap="square"/>
                    <a:lstStyle/>
                    <a:p>
                      <a:pPr algn="ctr"/>
                      <a:r>
                        <a:rPr b="1" sz="1200">
                          <a:solidFill>
                            <a:srgbClr val="00D2FF"/>
                          </a:solidFill>
                          <a:latin typeface="Segoe UI"/>
                        </a:rPr>
                        <a:t>Por que NÃO usamos para o Chat?</a:t>
                      </a:r>
                    </a:p>
                  </a:txBody>
                  <a:tcPr>
                    <a:solidFill>
                      <a:srgbClr val="0A2540"/>
                    </a:solidFill>
                  </a:tcPr>
                </a:tc>
              </a:tr>
              <a:tr h="457200">
                <a:tc>
                  <a:txBody>
                    <a:bodyPr wrap="square"/>
                    <a:lstStyle/>
                    <a:p>
                      <a:pPr algn="l"/>
                      <a:r>
                        <a:rPr b="0" sz="1100">
                          <a:solidFill>
                            <a:srgbClr val="0F172A"/>
                          </a:solidFill>
                          <a:latin typeface="Segoe UI"/>
                        </a:rPr>
                        <a:t>Llama 3 (8B) / Mistral (7B)</a:t>
                      </a:r>
                    </a:p>
                  </a:txBody>
                  <a:tcPr>
                    <a:solidFill>
                      <a:srgbClr val="F8FAFC"/>
                    </a:solidFill>
                  </a:tcPr>
                </a:tc>
                <a:tc>
                  <a:txBody>
                    <a:bodyPr wrap="square"/>
                    <a:lstStyle/>
                    <a:p>
                      <a:pPr algn="ctr"/>
                      <a:r>
                        <a:rPr b="0" sz="1100">
                          <a:solidFill>
                            <a:srgbClr val="0F172A"/>
                          </a:solidFill>
                          <a:latin typeface="Segoe UI"/>
                        </a:rPr>
                        <a:t>Denso (Dense)</a:t>
                      </a:r>
                    </a:p>
                  </a:txBody>
                  <a:tcPr>
                    <a:solidFill>
                      <a:srgbClr val="F8FAFC"/>
                    </a:solidFill>
                  </a:tcPr>
                </a:tc>
                <a:tc>
                  <a:txBody>
                    <a:bodyPr wrap="square"/>
                    <a:lstStyle/>
                    <a:p>
                      <a:pPr algn="ctr"/>
                      <a:r>
                        <a:rPr b="0" sz="1100">
                          <a:solidFill>
                            <a:srgbClr val="0F172A"/>
                          </a:solidFill>
                          <a:latin typeface="Segoe UI"/>
                        </a:rPr>
                        <a:t>Populares no Mac e fáceis de carregar</a:t>
                      </a:r>
                    </a:p>
                  </a:txBody>
                  <a:tcPr>
                    <a:solidFill>
                      <a:srgbClr val="F8FAFC"/>
                    </a:solidFill>
                  </a:tcPr>
                </a:tc>
                <a:tc>
                  <a:txBody>
                    <a:bodyPr wrap="square"/>
                    <a:lstStyle/>
                    <a:p>
                      <a:pPr algn="ctr"/>
                      <a:r>
                        <a:rPr b="0" sz="1100">
                          <a:solidFill>
                            <a:srgbClr val="0F172A"/>
                          </a:solidFill>
                          <a:latin typeface="Segoe UI"/>
                        </a:rPr>
                        <a:t>Menor precisão lógica para refatoração de concorrência sênior</a:t>
                      </a:r>
                    </a:p>
                  </a:txBody>
                  <a:tcPr>
                    <a:solidFill>
                      <a:srgbClr val="F8FAFC"/>
                    </a:solidFill>
                  </a:tcPr>
                </a:tc>
              </a:tr>
              <a:tr h="457200">
                <a:tc>
                  <a:txBody>
                    <a:bodyPr wrap="square"/>
                    <a:lstStyle/>
                    <a:p>
                      <a:pPr algn="l"/>
                      <a:r>
                        <a:rPr b="0" sz="1100">
                          <a:solidFill>
                            <a:srgbClr val="0F172A"/>
                          </a:solidFill>
                          <a:latin typeface="Segoe UI"/>
                        </a:rPr>
                        <a:t>Microsoft Phi-3 (3.8B)</a:t>
                      </a:r>
                    </a:p>
                  </a:txBody>
                  <a:tcPr>
                    <a:solidFill>
                      <a:srgbClr val="FFFFFF"/>
                    </a:solidFill>
                  </a:tcPr>
                </a:tc>
                <a:tc>
                  <a:txBody>
                    <a:bodyPr wrap="square"/>
                    <a:lstStyle/>
                    <a:p>
                      <a:pPr algn="ctr"/>
                      <a:r>
                        <a:rPr b="0" sz="1100">
                          <a:solidFill>
                            <a:srgbClr val="0F172A"/>
                          </a:solidFill>
                          <a:latin typeface="Segoe UI"/>
                        </a:rPr>
                        <a:t>Denso (Dense)</a:t>
                      </a:r>
                    </a:p>
                  </a:txBody>
                  <a:tcPr>
                    <a:solidFill>
                      <a:srgbClr val="FFFFFF"/>
                    </a:solidFill>
                  </a:tcPr>
                </a:tc>
                <a:tc>
                  <a:txBody>
                    <a:bodyPr wrap="square"/>
                    <a:lstStyle/>
                    <a:p>
                      <a:pPr algn="ctr"/>
                      <a:r>
                        <a:rPr b="0" sz="1100">
                          <a:solidFill>
                            <a:srgbClr val="0F172A"/>
                          </a:solidFill>
                          <a:latin typeface="Segoe UI"/>
                        </a:rPr>
                        <a:t>Extremamente leve e velocidade altíssima</a:t>
                      </a:r>
                    </a:p>
                  </a:txBody>
                  <a:tcPr>
                    <a:solidFill>
                      <a:srgbClr val="FFFFFF"/>
                    </a:solidFill>
                  </a:tcPr>
                </a:tc>
                <a:tc>
                  <a:txBody>
                    <a:bodyPr wrap="square"/>
                    <a:lstStyle/>
                    <a:p>
                      <a:pPr algn="ctr"/>
                      <a:r>
                        <a:rPr b="0" sz="1100">
                          <a:solidFill>
                            <a:srgbClr val="0F172A"/>
                          </a:solidFill>
                          <a:latin typeface="Segoe UI"/>
                        </a:rPr>
                        <a:t>Contexto curto e baixa inteligência estrutural para refatoração</a:t>
                      </a:r>
                    </a:p>
                  </a:txBody>
                  <a:tcPr>
                    <a:solidFill>
                      <a:srgbClr val="FFFFFF"/>
                    </a:solidFill>
                  </a:tcPr>
                </a:tc>
              </a:tr>
              <a:tr h="457200">
                <a:tc>
                  <a:txBody>
                    <a:bodyPr wrap="square"/>
                    <a:lstStyle/>
                    <a:p>
                      <a:pPr algn="l"/>
                      <a:r>
                        <a:rPr b="0" sz="1100">
                          <a:solidFill>
                            <a:srgbClr val="0F172A"/>
                          </a:solidFill>
                          <a:latin typeface="Segoe UI"/>
                        </a:rPr>
                        <a:t>Google Gemma (Embed)</a:t>
                      </a:r>
                    </a:p>
                  </a:txBody>
                  <a:tcPr>
                    <a:solidFill>
                      <a:srgbClr val="F8FAFC"/>
                    </a:solidFill>
                  </a:tcPr>
                </a:tc>
                <a:tc>
                  <a:txBody>
                    <a:bodyPr wrap="square"/>
                    <a:lstStyle/>
                    <a:p>
                      <a:pPr algn="ctr"/>
                      <a:r>
                        <a:rPr b="0" sz="1100">
                          <a:solidFill>
                            <a:srgbClr val="0F172A"/>
                          </a:solidFill>
                          <a:latin typeface="Segoe UI"/>
                        </a:rPr>
                        <a:t>Especializado</a:t>
                      </a:r>
                    </a:p>
                  </a:txBody>
                  <a:tcPr>
                    <a:solidFill>
                      <a:srgbClr val="F8FAFC"/>
                    </a:solidFill>
                  </a:tcPr>
                </a:tc>
                <a:tc>
                  <a:txBody>
                    <a:bodyPr wrap="square"/>
                    <a:lstStyle/>
                    <a:p>
                      <a:pPr algn="ctr"/>
                      <a:r>
                        <a:rPr b="0" sz="1100">
                          <a:solidFill>
                            <a:srgbClr val="0F172A"/>
                          </a:solidFill>
                          <a:latin typeface="Segoe UI"/>
                        </a:rPr>
                        <a:t>Vetorização local ultra-veloz integrada no Kronk</a:t>
                      </a:r>
                    </a:p>
                  </a:txBody>
                  <a:tcPr>
                    <a:solidFill>
                      <a:srgbClr val="F8FAFC"/>
                    </a:solidFill>
                  </a:tcPr>
                </a:tc>
                <a:tc>
                  <a:txBody>
                    <a:bodyPr wrap="square"/>
                    <a:lstStyle/>
                    <a:p>
                      <a:pPr algn="ctr"/>
                      <a:r>
                        <a:rPr b="0" sz="1100">
                          <a:solidFill>
                            <a:srgbClr val="0F172A"/>
                          </a:solidFill>
                          <a:latin typeface="Segoe UI"/>
                        </a:rPr>
                        <a:t>Modelo puramente de Embeddings (usado na Cena 2 para o Vault)</a:t>
                      </a:r>
                    </a:p>
                  </a:txBody>
                  <a:tcPr>
                    <a:solidFill>
                      <a:srgbClr val="F8FAFC"/>
                    </a:solidFill>
                  </a:tcPr>
                </a:tc>
              </a:tr>
              <a:tr h="457200">
                <a:tc>
                  <a:txBody>
                    <a:bodyPr wrap="square"/>
                    <a:lstStyle/>
                    <a:p>
                      <a:pPr algn="l"/>
                      <a:r>
                        <a:rPr b="0" sz="1100">
                          <a:solidFill>
                            <a:srgbClr val="0F172A"/>
                          </a:solidFill>
                          <a:latin typeface="Segoe UI"/>
                        </a:rPr>
                        <a:t>Alibaba Qwen (MoE)</a:t>
                      </a:r>
                    </a:p>
                  </a:txBody>
                  <a:tcPr>
                    <a:solidFill>
                      <a:srgbClr val="FFFFFF"/>
                    </a:solidFill>
                  </a:tcPr>
                </a:tc>
                <a:tc>
                  <a:txBody>
                    <a:bodyPr wrap="square"/>
                    <a:lstStyle/>
                    <a:p>
                      <a:pPr algn="ctr"/>
                      <a:r>
                        <a:rPr b="0" sz="1100">
                          <a:solidFill>
                            <a:srgbClr val="0F172A"/>
                          </a:solidFill>
                          <a:latin typeface="Segoe UI"/>
                        </a:rPr>
                        <a:t>Experts (MoE)</a:t>
                      </a:r>
                    </a:p>
                  </a:txBody>
                  <a:tcPr>
                    <a:solidFill>
                      <a:srgbClr val="FFFFFF"/>
                    </a:solidFill>
                  </a:tcPr>
                </a:tc>
                <a:tc>
                  <a:txBody>
                    <a:bodyPr wrap="square"/>
                    <a:lstStyle/>
                    <a:p>
                      <a:pPr algn="ctr"/>
                      <a:r>
                        <a:rPr b="0" sz="1100">
                          <a:solidFill>
                            <a:srgbClr val="0F172A"/>
                          </a:solidFill>
                          <a:latin typeface="Segoe UI"/>
                        </a:rPr>
                        <a:t>Inteligência de 20B com custo de 4B por token</a:t>
                      </a:r>
                    </a:p>
                  </a:txBody>
                  <a:tcPr>
                    <a:solidFill>
                      <a:srgbClr val="FFFFFF"/>
                    </a:solidFill>
                  </a:tcPr>
                </a:tc>
                <a:tc>
                  <a:txBody>
                    <a:bodyPr wrap="square"/>
                    <a:lstStyle/>
                    <a:p>
                      <a:pPr algn="ctr"/>
                      <a:r>
                        <a:rPr b="0" sz="1100">
                          <a:solidFill>
                            <a:srgbClr val="0F172A"/>
                          </a:solidFill>
                          <a:latin typeface="Segoe UI"/>
                        </a:rPr>
                        <a:t>Eleito para a Demo! Une precisão lógica e rapidez local-first</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02</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02</a:t>
            </a:r>
          </a:p>
          <a:p>
            <a:pPr>
              <a:spcAft>
                <a:spcPts val="1500"/>
              </a:spcAft>
              <a:defRPr sz="3600" b="1">
                <a:solidFill>
                  <a:srgbClr val="FFFFFF"/>
                </a:solidFill>
                <a:latin typeface="Segoe UI"/>
              </a:defRPr>
            </a:pPr>
            <a:r>
              <a:t>DEEP DIVE: KRONK SDK</a:t>
            </a:r>
          </a:p>
          <a:p>
            <a:pPr>
              <a:spcBef>
                <a:spcPts val="1500"/>
              </a:spcBef>
              <a:defRPr sz="1500">
                <a:solidFill>
                  <a:srgbClr val="94A3B8"/>
                </a:solidFill>
                <a:latin typeface="Segoe UI"/>
              </a:defRPr>
            </a:pPr>
            <a:r>
              <a:t>Orquestrando quantização, cache de contexto, MoE e hardware híbrido em Go</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que é o Kronk?</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14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Ardan Labs SDK — </a:t>
            </a:r>
            <a:r>
              <a:rPr b="0">
                <a:solidFill>
                  <a:srgbClr val="475569"/>
                </a:solidFill>
              </a:rPr>
              <a:t>biblioteca e servidor nativo em Go projetado para envolver o motor llama.cpp</a:t>
            </a:r>
          </a:p>
          <a:p>
            <a:pPr>
              <a:lnSpc>
                <a:spcPct val="125000"/>
              </a:lnSpc>
              <a:spcBef>
                <a:spcPts val="800"/>
              </a:spcBef>
              <a:spcAft>
                <a:spcPts val="1000"/>
              </a:spcAft>
              <a:defRPr sz="1300">
                <a:latin typeface="Segoe UI"/>
              </a:defRPr>
            </a:pPr>
            <a:r>
              <a:rPr b="1">
                <a:solidFill>
                  <a:srgbClr val="006FE6"/>
                </a:solidFill>
              </a:rPr>
              <a:t>Independência do Python — </a:t>
            </a:r>
            <a:r>
              <a:rPr b="0">
                <a:solidFill>
                  <a:srgbClr val="475569"/>
                </a:solidFill>
              </a:rPr>
              <a:t>execute inferência e embeddings locais sem runtime pesado ou docker extra</a:t>
            </a:r>
          </a:p>
          <a:p>
            <a:pPr>
              <a:lnSpc>
                <a:spcPct val="125000"/>
              </a:lnSpc>
              <a:spcBef>
                <a:spcPts val="800"/>
              </a:spcBef>
              <a:spcAft>
                <a:spcPts val="1000"/>
              </a:spcAft>
              <a:defRPr sz="1300">
                <a:latin typeface="Segoe UI"/>
              </a:defRPr>
            </a:pPr>
            <a:r>
              <a:rPr b="1">
                <a:solidFill>
                  <a:srgbClr val="006FE6"/>
                </a:solidFill>
              </a:rPr>
              <a:t>Compatibilidade OpenAI v1 — </a:t>
            </a:r>
            <a:r>
              <a:rPr b="0">
                <a:solidFill>
                  <a:srgbClr val="475569"/>
                </a:solidFill>
              </a:rPr>
              <a:t>expõe endpoints padronizados permitindo troca de URL instantânea</a:t>
            </a:r>
          </a:p>
          <a:p>
            <a:pPr>
              <a:lnSpc>
                <a:spcPct val="125000"/>
              </a:lnSpc>
              <a:spcBef>
                <a:spcPts val="800"/>
              </a:spcBef>
              <a:spcAft>
                <a:spcPts val="1000"/>
              </a:spcAft>
              <a:defRPr sz="1300">
                <a:latin typeface="Segoe UI"/>
              </a:defRPr>
            </a:pPr>
            <a:r>
              <a:rPr b="1">
                <a:solidFill>
                  <a:srgbClr val="006FE6"/>
                </a:solidFill>
              </a:rPr>
              <a:t>Robustez de infraestrutura — </a:t>
            </a:r>
            <a:r>
              <a:rPr b="0">
                <a:solidFill>
                  <a:srgbClr val="475569"/>
                </a:solidFill>
              </a:rPr>
              <a:t>fornece pool de modelos ativos, cache incremental e monitoramento de logs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Arquitetura: onde o Kronk entra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15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Camada do Agente (Cliente) — </a:t>
            </a:r>
            <a:r>
              <a:rPr b="0">
                <a:solidFill>
                  <a:srgbClr val="475569"/>
                </a:solidFill>
              </a:rPr>
              <a:t>Cline, Cursor, Zed ou scripts Go conversando via HTTP OpenAI API</a:t>
            </a:r>
          </a:p>
          <a:p>
            <a:pPr>
              <a:lnSpc>
                <a:spcPct val="125000"/>
              </a:lnSpc>
              <a:spcBef>
                <a:spcPts val="800"/>
              </a:spcBef>
              <a:spcAft>
                <a:spcPts val="1000"/>
              </a:spcAft>
              <a:defRPr sz="1300">
                <a:latin typeface="Segoe UI"/>
              </a:defRPr>
            </a:pPr>
            <a:r>
              <a:rPr b="1">
                <a:solidFill>
                  <a:srgbClr val="006FE6"/>
                </a:solidFill>
              </a:rPr>
              <a:t>Roteador Kronk Server — </a:t>
            </a:r>
            <a:r>
              <a:rPr b="0">
                <a:solidFill>
                  <a:srgbClr val="475569"/>
                </a:solidFill>
              </a:rPr>
              <a:t>intercepta requisições, gerencia autenticação e gerencia o pool de modelos</a:t>
            </a:r>
          </a:p>
          <a:p>
            <a:pPr>
              <a:lnSpc>
                <a:spcPct val="125000"/>
              </a:lnSpc>
              <a:spcBef>
                <a:spcPts val="800"/>
              </a:spcBef>
              <a:spcAft>
                <a:spcPts val="1000"/>
              </a:spcAft>
              <a:defRPr sz="1300">
                <a:latin typeface="Segoe UI"/>
              </a:defRPr>
            </a:pPr>
            <a:r>
              <a:rPr b="1">
                <a:solidFill>
                  <a:srgbClr val="006FE6"/>
                </a:solidFill>
              </a:rPr>
              <a:t>Motor Core llama.cpp — </a:t>
            </a:r>
            <a:r>
              <a:rPr b="0">
                <a:solidFill>
                  <a:srgbClr val="475569"/>
                </a:solidFill>
              </a:rPr>
              <a:t>ponte CGo de alto desempenho para backends de hardware otimizados</a:t>
            </a:r>
          </a:p>
          <a:p>
            <a:pPr>
              <a:lnSpc>
                <a:spcPct val="125000"/>
              </a:lnSpc>
              <a:spcBef>
                <a:spcPts val="800"/>
              </a:spcBef>
              <a:spcAft>
                <a:spcPts val="1000"/>
              </a:spcAft>
              <a:defRPr sz="1300">
                <a:latin typeface="Segoe UI"/>
              </a:defRPr>
            </a:pPr>
            <a:r>
              <a:rPr b="1">
                <a:solidFill>
                  <a:srgbClr val="006FE6"/>
                </a:solidFill>
              </a:rPr>
              <a:t>Aceleração de hardware nativa — </a:t>
            </a:r>
            <a:r>
              <a:rPr b="0">
                <a:solidFill>
                  <a:srgbClr val="475569"/>
                </a:solidFill>
              </a:rPr>
              <a:t>seleciona automaticamente Metal (Mac), CUDA (Nvidia), ROCm ou CPU</a:t>
            </a:r>
          </a:p>
          <a:p>
            <a:pPr>
              <a:lnSpc>
                <a:spcPct val="125000"/>
              </a:lnSpc>
              <a:spcBef>
                <a:spcPts val="800"/>
              </a:spcBef>
              <a:spcAft>
                <a:spcPts val="1000"/>
              </a:spcAft>
              <a:defRPr sz="1300">
                <a:latin typeface="Segoe UI"/>
              </a:defRPr>
            </a:pPr>
            <a:r>
              <a:rPr b="1">
                <a:solidFill>
                  <a:srgbClr val="006FE6"/>
                </a:solidFill>
              </a:rPr>
              <a:t>Formato unificado GGUF — </a:t>
            </a:r>
            <a:r>
              <a:rPr b="0">
                <a:solidFill>
                  <a:srgbClr val="475569"/>
                </a:solidFill>
              </a:rPr>
              <a:t>modelos quantizados carregados de forma ultra-eficiente em disco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Por dentro do Kronk Server</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16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Roteador API principal — </a:t>
            </a:r>
            <a:r>
              <a:rPr b="0">
                <a:solidFill>
                  <a:srgbClr val="475569"/>
                </a:solidFill>
              </a:rPr>
              <a:t>endpoint na porta :11435 para Chat Completions e Embeddings compatíveis</a:t>
            </a:r>
          </a:p>
          <a:p>
            <a:pPr>
              <a:lnSpc>
                <a:spcPct val="125000"/>
              </a:lnSpc>
              <a:spcBef>
                <a:spcPts val="800"/>
              </a:spcBef>
              <a:spcAft>
                <a:spcPts val="1000"/>
              </a:spcAft>
              <a:defRPr sz="1300">
                <a:latin typeface="Segoe UI"/>
              </a:defRPr>
            </a:pPr>
            <a:r>
              <a:rPr b="1">
                <a:solidFill>
                  <a:srgbClr val="006FE6"/>
                </a:solidFill>
              </a:rPr>
              <a:t>Painel de inspeção de debug — </a:t>
            </a:r>
            <a:r>
              <a:rPr b="0">
                <a:solidFill>
                  <a:srgbClr val="475569"/>
                </a:solidFill>
              </a:rPr>
              <a:t>monitoramento de métricas em tempo real e logs na porta :11445</a:t>
            </a:r>
          </a:p>
          <a:p>
            <a:pPr>
              <a:lnSpc>
                <a:spcPct val="125000"/>
              </a:lnSpc>
              <a:spcBef>
                <a:spcPts val="800"/>
              </a:spcBef>
              <a:spcAft>
                <a:spcPts val="1000"/>
              </a:spcAft>
              <a:defRPr sz="1300">
                <a:latin typeface="Segoe UI"/>
              </a:defRPr>
            </a:pPr>
            <a:r>
              <a:rPr b="1">
                <a:solidFill>
                  <a:srgbClr val="006FE6"/>
                </a:solidFill>
              </a:rPr>
              <a:t>Mecanismo de Auth em produção — </a:t>
            </a:r>
            <a:r>
              <a:rPr b="0">
                <a:solidFill>
                  <a:srgbClr val="475569"/>
                </a:solidFill>
              </a:rPr>
              <a:t>suporte integrado a JWT e chaves de API desativados para ambiente local</a:t>
            </a:r>
          </a:p>
          <a:p>
            <a:pPr>
              <a:lnSpc>
                <a:spcPct val="125000"/>
              </a:lnSpc>
              <a:spcBef>
                <a:spcPts val="800"/>
              </a:spcBef>
              <a:spcAft>
                <a:spcPts val="1000"/>
              </a:spcAft>
              <a:defRPr sz="1300">
                <a:latin typeface="Segoe UI"/>
              </a:defRPr>
            </a:pPr>
            <a:r>
              <a:rPr b="1">
                <a:solidFill>
                  <a:srgbClr val="006FE6"/>
                </a:solidFill>
              </a:rPr>
              <a:t>Servidor MCP embutido — </a:t>
            </a:r>
            <a:r>
              <a:rPr b="0">
                <a:solidFill>
                  <a:srgbClr val="475569"/>
                </a:solidFill>
              </a:rPr>
              <a:t>porta :9000 permitindo que agentes interajam diretamente com o orquestrador</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response.json</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"status":"api router started","host":"0.0.0.0:11435"</a:t>
            </a:r>
          </a:p>
          <a:p>
            <a:pPr>
              <a:spcAft>
                <a:spcPts val="200"/>
              </a:spcAft>
              <a:defRPr sz="950">
                <a:solidFill>
                  <a:srgbClr val="0F172A"/>
                </a:solidFill>
                <a:latin typeface="Consolas"/>
              </a:defRPr>
            </a:pPr>
            <a:r>
              <a:t>"status":"debug v1 router started","host":"0.0.0.0:11445"</a:t>
            </a:r>
          </a:p>
          <a:p>
            <a:pPr>
              <a:spcAft>
                <a:spcPts val="200"/>
              </a:spcAft>
              <a:defRPr sz="950">
                <a:solidFill>
                  <a:srgbClr val="0F172A"/>
                </a:solidFill>
                <a:latin typeface="Consolas"/>
              </a:defRPr>
            </a:pPr>
            <a:r>
              <a:t>"status":"local mcp server started","host":"127.0.0.1:9000"</a:t>
            </a:r>
          </a:p>
          <a:p>
            <a:pPr>
              <a:spcAft>
                <a:spcPts val="200"/>
              </a:spcAft>
              <a:defRPr sz="950">
                <a:solidFill>
                  <a:srgbClr val="0F172A"/>
                </a:solidFill>
                <a:latin typeface="Consolas"/>
              </a:defRPr>
            </a:pPr>
            <a:r>
              <a:t>"status":"start auth server"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Pool de modelos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17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Controle de orçamento de RAM/VRAM — </a:t>
            </a:r>
            <a:r>
              <a:rPr b="0">
                <a:solidFill>
                  <a:srgbClr val="475569"/>
                </a:solidFill>
              </a:rPr>
              <a:t>limita por segurança o consumo para modelos (padrão: 80%)</a:t>
            </a:r>
          </a:p>
          <a:p>
            <a:pPr>
              <a:lnSpc>
                <a:spcPct val="125000"/>
              </a:lnSpc>
              <a:spcBef>
                <a:spcPts val="800"/>
              </a:spcBef>
              <a:spcAft>
                <a:spcPts val="1000"/>
              </a:spcAft>
              <a:defRPr sz="1300">
                <a:latin typeface="Segoe UI"/>
              </a:defRPr>
            </a:pPr>
            <a:r>
              <a:rPr b="1">
                <a:solidFill>
                  <a:srgbClr val="006FE6"/>
                </a:solidFill>
              </a:rPr>
              <a:t>Proteção de OOM — </a:t>
            </a:r>
            <a:r>
              <a:rPr b="0">
                <a:solidFill>
                  <a:srgbClr val="475569"/>
                </a:solidFill>
              </a:rPr>
              <a:t>recusa o carregamento se a estimativa estourar o orçamento, prevenindo quebras</a:t>
            </a:r>
          </a:p>
          <a:p>
            <a:pPr>
              <a:lnSpc>
                <a:spcPct val="125000"/>
              </a:lnSpc>
              <a:spcBef>
                <a:spcPts val="800"/>
              </a:spcBef>
              <a:spcAft>
                <a:spcPts val="1000"/>
              </a:spcAft>
              <a:defRPr sz="1300">
                <a:latin typeface="Segoe UI"/>
              </a:defRPr>
            </a:pPr>
            <a:r>
              <a:rPr b="1">
                <a:solidFill>
                  <a:srgbClr val="006FE6"/>
                </a:solidFill>
              </a:rPr>
              <a:t>Multi-tenancy de modelos — </a:t>
            </a:r>
            <a:r>
              <a:rPr b="0">
                <a:solidFill>
                  <a:srgbClr val="475569"/>
                </a:solidFill>
              </a:rPr>
              <a:t>suporta até 10 modelos residentes na memória simultaneamente</a:t>
            </a:r>
          </a:p>
          <a:p>
            <a:pPr>
              <a:lnSpc>
                <a:spcPct val="125000"/>
              </a:lnSpc>
              <a:spcBef>
                <a:spcPts val="800"/>
              </a:spcBef>
              <a:spcAft>
                <a:spcPts val="1000"/>
              </a:spcAft>
              <a:defRPr sz="1300">
                <a:latin typeface="Segoe UI"/>
              </a:defRPr>
            </a:pPr>
            <a:r>
              <a:rPr b="1">
                <a:solidFill>
                  <a:srgbClr val="006FE6"/>
                </a:solidFill>
              </a:rPr>
              <a:t>Uso híbrido simultâneo — </a:t>
            </a:r>
            <a:r>
              <a:rPr b="0">
                <a:solidFill>
                  <a:srgbClr val="475569"/>
                </a:solidFill>
              </a:rPr>
              <a:t>chat (ex: gpt-oss-20b) e embeddings (ex: embeddinggemma) ativos ao mesmo tempo</a:t>
            </a:r>
          </a:p>
          <a:p>
            <a:pPr>
              <a:lnSpc>
                <a:spcPct val="125000"/>
              </a:lnSpc>
              <a:spcBef>
                <a:spcPts val="800"/>
              </a:spcBef>
              <a:spcAft>
                <a:spcPts val="1000"/>
              </a:spcAft>
              <a:defRPr sz="1300">
                <a:latin typeface="Segoe UI"/>
              </a:defRPr>
            </a:pPr>
            <a:r>
              <a:rPr b="1">
                <a:solidFill>
                  <a:srgbClr val="006FE6"/>
                </a:solidFill>
              </a:rPr>
              <a:t>TTL de desalocação — </a:t>
            </a:r>
            <a:r>
              <a:rPr b="0">
                <a:solidFill>
                  <a:srgbClr val="475569"/>
                </a:solidFill>
              </a:rPr>
              <a:t>modelos ociosos são descarregados automaticamente para liberar memória do sistema</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response.json</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"status":"resman-init","budget-percent":80,</a:t>
            </a:r>
          </a:p>
          <a:p>
            <a:pPr>
              <a:spcAft>
                <a:spcPts val="200"/>
              </a:spcAft>
              <a:defRPr sz="950">
                <a:solidFill>
                  <a:srgbClr val="0F172A"/>
                </a:solidFill>
                <a:latin typeface="Consolas"/>
              </a:defRPr>
            </a:pPr>
            <a:r>
              <a:t>"ram-budget":"38.7GB","max-models-in-pool":10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Cache incremental (IMC)</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18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padrão de agentes de IA — </a:t>
            </a:r>
            <a:r>
              <a:rPr b="0">
                <a:solidFill>
                  <a:srgbClr val="475569"/>
                </a:solidFill>
              </a:rPr>
              <a:t>conversas longas reenviando todo o histórico acumulado a cada turno</a:t>
            </a:r>
          </a:p>
          <a:p>
            <a:pPr>
              <a:lnSpc>
                <a:spcPct val="125000"/>
              </a:lnSpc>
              <a:spcBef>
                <a:spcPts val="800"/>
              </a:spcBef>
              <a:spcAft>
                <a:spcPts val="1000"/>
              </a:spcAft>
              <a:defRPr sz="1300">
                <a:latin typeface="Segoe UI"/>
              </a:defRPr>
            </a:pPr>
            <a:r>
              <a:rPr b="1">
                <a:solidFill>
                  <a:srgbClr val="006FE6"/>
                </a:solidFill>
              </a:rPr>
              <a:t>Gargalo sem cache — </a:t>
            </a:r>
            <a:r>
              <a:rPr b="0">
                <a:solidFill>
                  <a:srgbClr val="475569"/>
                </a:solidFill>
              </a:rPr>
              <a:t>reprocessar o prompt inteiro consome ciclos e atrasa o tempo de resposta</a:t>
            </a:r>
          </a:p>
          <a:p>
            <a:pPr>
              <a:lnSpc>
                <a:spcPct val="125000"/>
              </a:lnSpc>
              <a:spcBef>
                <a:spcPts val="800"/>
              </a:spcBef>
              <a:spcAft>
                <a:spcPts val="1000"/>
              </a:spcAft>
              <a:defRPr sz="1300">
                <a:latin typeface="Segoe UI"/>
              </a:defRPr>
            </a:pPr>
            <a:r>
              <a:rPr b="1">
                <a:solidFill>
                  <a:srgbClr val="006FE6"/>
                </a:solidFill>
              </a:rPr>
              <a:t>Cache Incremental de Mensagens (IMC) — </a:t>
            </a:r>
            <a:r>
              <a:rPr b="0">
                <a:solidFill>
                  <a:srgbClr val="475569"/>
                </a:solidFill>
              </a:rPr>
              <a:t>retém o KV-cache internamente na memória entre chamadas</a:t>
            </a:r>
          </a:p>
          <a:p>
            <a:pPr>
              <a:lnSpc>
                <a:spcPct val="125000"/>
              </a:lnSpc>
              <a:spcBef>
                <a:spcPts val="800"/>
              </a:spcBef>
              <a:spcAft>
                <a:spcPts val="1000"/>
              </a:spcAft>
              <a:defRPr sz="1300">
                <a:latin typeface="Segoe UI"/>
              </a:defRPr>
            </a:pPr>
            <a:r>
              <a:rPr b="1">
                <a:solidFill>
                  <a:srgbClr val="006FE6"/>
                </a:solidFill>
              </a:rPr>
              <a:t>Aceleração instantânea — </a:t>
            </a:r>
            <a:r>
              <a:rPr b="0">
                <a:solidFill>
                  <a:srgbClr val="475569"/>
                </a:solidFill>
              </a:rPr>
              <a:t>processa apenas os tokens de fato novos, reduzindo drasticamente o TTFT</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model_config.yaml</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incremental-cache: false   # Incremental message caching</a:t>
            </a:r>
          </a:p>
          <a:p>
            <a:pPr>
              <a:spcAft>
                <a:spcPts val="200"/>
              </a:spcAft>
              <a:defRPr sz="950">
                <a:solidFill>
                  <a:srgbClr val="0F172A"/>
                </a:solidFill>
                <a:latin typeface="Consolas"/>
              </a:defRPr>
            </a:pPr>
            <a:r>
              <a:t>                           # for agentic workflows</a:t>
            </a:r>
          </a:p>
          <a:p>
            <a:pPr>
              <a:spcAft>
                <a:spcPts val="200"/>
              </a:spcAft>
              <a:defRPr sz="950">
                <a:solidFill>
                  <a:srgbClr val="0F172A"/>
                </a:solidFill>
                <a:latin typeface="Consolas"/>
              </a:defRPr>
            </a:pPr>
            <a:r>
              <a:t>                           # (Cline, OpenCode)</a:t>
            </a:r>
          </a:p>
          <a:p>
            <a:pPr>
              <a:spcAft>
                <a:spcPts val="200"/>
              </a:spcAft>
              <a:defRPr sz="950">
                <a:solidFill>
                  <a:srgbClr val="0F172A"/>
                </a:solidFill>
                <a:latin typeface="Consolas"/>
              </a:defRPr>
            </a:pPr>
            <a:r>
              <a:t># valor real hoje, confirmado no log: IncrementalCache[true]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Por trás da Inferência: O que é o KV-Cache?</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19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Custo de Auto-Atenção — </a:t>
            </a:r>
            <a:r>
              <a:rPr b="0">
                <a:solidFill>
                  <a:srgbClr val="475569"/>
                </a:solidFill>
              </a:rPr>
              <a:t>Em redes baseadas em Transformers (LLMs), a geração de cada novo token exige analisar todo o histórico anterior</a:t>
            </a:r>
          </a:p>
          <a:p>
            <a:pPr>
              <a:lnSpc>
                <a:spcPct val="125000"/>
              </a:lnSpc>
              <a:spcBef>
                <a:spcPts val="800"/>
              </a:spcBef>
              <a:spcAft>
                <a:spcPts val="1000"/>
              </a:spcAft>
              <a:defRPr sz="1300">
                <a:latin typeface="Segoe UI"/>
              </a:defRPr>
            </a:pPr>
            <a:r>
              <a:rPr b="1">
                <a:solidFill>
                  <a:srgbClr val="006FE6"/>
                </a:solidFill>
              </a:rPr>
              <a:t>Complexidade Quadrática — </a:t>
            </a:r>
            <a:r>
              <a:rPr b="0">
                <a:solidFill>
                  <a:srgbClr val="475569"/>
                </a:solidFill>
              </a:rPr>
              <a:t>Sem otimização, computar matrizes de atenção para prompts longos consome processamento absurdo de hardware</a:t>
            </a:r>
          </a:p>
          <a:p>
            <a:pPr>
              <a:lnSpc>
                <a:spcPct val="125000"/>
              </a:lnSpc>
              <a:spcBef>
                <a:spcPts val="800"/>
              </a:spcBef>
              <a:spcAft>
                <a:spcPts val="1000"/>
              </a:spcAft>
              <a:defRPr sz="1300">
                <a:latin typeface="Segoe UI"/>
              </a:defRPr>
            </a:pPr>
            <a:r>
              <a:rPr b="1">
                <a:solidFill>
                  <a:srgbClr val="006FE6"/>
                </a:solidFill>
              </a:rPr>
              <a:t>Keys &amp; Values (KV) — </a:t>
            </a:r>
            <a:r>
              <a:rPr b="0">
                <a:solidFill>
                  <a:srgbClr val="475569"/>
                </a:solidFill>
              </a:rPr>
              <a:t>O modelo salva as matrizes de Chaves (K) e Valores (V) dos tokens processados direto na VRAM</a:t>
            </a:r>
          </a:p>
          <a:p>
            <a:pPr>
              <a:lnSpc>
                <a:spcPct val="125000"/>
              </a:lnSpc>
              <a:spcBef>
                <a:spcPts val="800"/>
              </a:spcBef>
              <a:spcAft>
                <a:spcPts val="1000"/>
              </a:spcAft>
              <a:defRPr sz="1300">
                <a:latin typeface="Segoe UI"/>
              </a:defRPr>
            </a:pPr>
            <a:r>
              <a:rPr b="1">
                <a:solidFill>
                  <a:srgbClr val="006FE6"/>
                </a:solidFill>
              </a:rPr>
              <a:t>Geração Linear — </a:t>
            </a:r>
            <a:r>
              <a:rPr b="0">
                <a:solidFill>
                  <a:srgbClr val="475569"/>
                </a:solidFill>
              </a:rPr>
              <a:t>Evita recalcular o passado; novos tokens são computados aproveitando o KV-Cache de forma instantânea</a:t>
            </a:r>
          </a:p>
          <a:p>
            <a:pPr>
              <a:lnSpc>
                <a:spcPct val="125000"/>
              </a:lnSpc>
              <a:spcBef>
                <a:spcPts val="800"/>
              </a:spcBef>
              <a:spcAft>
                <a:spcPts val="1000"/>
              </a:spcAft>
              <a:defRPr sz="1300">
                <a:latin typeface="Segoe UI"/>
              </a:defRPr>
            </a:pPr>
            <a:r>
              <a:rPr b="1">
                <a:solidFill>
                  <a:srgbClr val="006FE6"/>
                </a:solidFill>
              </a:rPr>
              <a:t>Impacto com Agentes — </a:t>
            </a:r>
            <a:r>
              <a:rPr b="0">
                <a:solidFill>
                  <a:srgbClr val="475569"/>
                </a:solidFill>
              </a:rPr>
              <a:t>Conversas de ~6k tokens caem de 12 segundos de espera para menos de 0.5 segundos com o IMC do Kronk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Quantização (a base de tudo)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20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Nosso setup hoje — </a:t>
            </a:r>
            <a:r>
              <a:rPr b="0">
                <a:solidFill>
                  <a:srgbClr val="475569"/>
                </a:solidFill>
              </a:rPr>
              <a:t>modelo gpt-oss-20b quantizado em Q8_0, ocupando ~12GB estáveis em disco</a:t>
            </a:r>
          </a:p>
          <a:p>
            <a:pPr>
              <a:lnSpc>
                <a:spcPct val="125000"/>
              </a:lnSpc>
              <a:spcBef>
                <a:spcPts val="800"/>
              </a:spcBef>
              <a:spcAft>
                <a:spcPts val="1000"/>
              </a:spcAft>
              <a:defRPr sz="1300">
                <a:latin typeface="Segoe UI"/>
              </a:defRPr>
            </a:pPr>
            <a:r>
              <a:rPr b="1">
                <a:solidFill>
                  <a:srgbClr val="006FE6"/>
                </a:solidFill>
              </a:rPr>
              <a:t>O ganho prático — </a:t>
            </a:r>
            <a:r>
              <a:rPr b="0">
                <a:solidFill>
                  <a:srgbClr val="475569"/>
                </a:solidFill>
              </a:rPr>
              <a:t>redução de mais de 50% de RAM sem impactos na acurácia lógica dos testes</a:t>
            </a:r>
          </a:p>
        </p:txBody>
      </p:sp>
      <p:graphicFrame>
        <p:nvGraphicFramePr>
          <p:cNvPr id="10" name="Table 9"/>
          <p:cNvGraphicFramePr>
            <a:graphicFrameLocks noGrp="1"/>
          </p:cNvGraphicFramePr>
          <p:nvPr/>
        </p:nvGraphicFramePr>
        <p:xfrm>
          <a:off x="6248095" y="1463040"/>
          <a:ext cx="5394960" cy="1463040"/>
        </p:xfrm>
        <a:graphic>
          <a:graphicData uri="http://schemas.openxmlformats.org/drawingml/2006/table">
            <a:tbl>
              <a:tblPr firstRow="1" bandRow="1">
                <a:tableStyleId>{5C22544A-7EE6-4342-B048-85BDC9FD1C3A}</a:tableStyleId>
              </a:tblPr>
              <a:tblGrid>
                <a:gridCol w="1348740"/>
                <a:gridCol w="1348740"/>
                <a:gridCol w="1348740"/>
                <a:gridCol w="1348740"/>
              </a:tblGrid>
              <a:tr h="365760">
                <a:tc>
                  <a:txBody>
                    <a:bodyPr wrap="square"/>
                    <a:lstStyle/>
                    <a:p>
                      <a:pPr algn="l"/>
                      <a:r>
                        <a:rPr b="1" sz="1100">
                          <a:solidFill>
                            <a:srgbClr val="00D2FF"/>
                          </a:solidFill>
                          <a:latin typeface="Segoe UI"/>
                        </a:rPr>
                        <a:t>Formato</a:t>
                      </a:r>
                    </a:p>
                  </a:txBody>
                  <a:tcPr>
                    <a:solidFill>
                      <a:srgbClr val="0A2540"/>
                    </a:solidFill>
                  </a:tcPr>
                </a:tc>
                <a:tc>
                  <a:txBody>
                    <a:bodyPr wrap="square"/>
                    <a:lstStyle/>
                    <a:p>
                      <a:pPr algn="ctr"/>
                      <a:r>
                        <a:rPr b="1" sz="1100">
                          <a:solidFill>
                            <a:srgbClr val="00D2FF"/>
                          </a:solidFill>
                          <a:latin typeface="Segoe UI"/>
                        </a:rPr>
                        <a:t>Bits</a:t>
                      </a:r>
                    </a:p>
                  </a:txBody>
                  <a:tcPr>
                    <a:solidFill>
                      <a:srgbClr val="0A2540"/>
                    </a:solidFill>
                  </a:tcPr>
                </a:tc>
                <a:tc>
                  <a:txBody>
                    <a:bodyPr wrap="square"/>
                    <a:lstStyle/>
                    <a:p>
                      <a:pPr algn="ctr"/>
                      <a:r>
                        <a:rPr b="1" sz="1100">
                          <a:solidFill>
                            <a:srgbClr val="00D2FF"/>
                          </a:solidFill>
                          <a:latin typeface="Segoe UI"/>
                        </a:rPr>
                        <a:t>Consumo RAM</a:t>
                      </a:r>
                    </a:p>
                  </a:txBody>
                  <a:tcPr>
                    <a:solidFill>
                      <a:srgbClr val="0A2540"/>
                    </a:solidFill>
                  </a:tcPr>
                </a:tc>
                <a:tc>
                  <a:txBody>
                    <a:bodyPr wrap="square"/>
                    <a:lstStyle/>
                    <a:p>
                      <a:pPr algn="ctr"/>
                      <a:r>
                        <a:rPr b="1" sz="1100">
                          <a:solidFill>
                            <a:srgbClr val="00D2FF"/>
                          </a:solidFill>
                          <a:latin typeface="Segoe UI"/>
                        </a:rPr>
                        <a:t>Perda de Precisão</a:t>
                      </a:r>
                    </a:p>
                  </a:txBody>
                  <a:tcPr>
                    <a:solidFill>
                      <a:srgbClr val="0A2540"/>
                    </a:solidFill>
                  </a:tcPr>
                </a:tc>
              </a:tr>
              <a:tr h="365760">
                <a:tc>
                  <a:txBody>
                    <a:bodyPr wrap="square"/>
                    <a:lstStyle/>
                    <a:p>
                      <a:pPr algn="l"/>
                      <a:r>
                        <a:rPr b="0" sz="1000">
                          <a:solidFill>
                            <a:srgbClr val="0F172A"/>
                          </a:solidFill>
                          <a:latin typeface="Segoe UI"/>
                        </a:rPr>
                        <a:t>F16</a:t>
                      </a:r>
                    </a:p>
                  </a:txBody>
                  <a:tcPr>
                    <a:solidFill>
                      <a:srgbClr val="F8FAFC"/>
                    </a:solidFill>
                  </a:tcPr>
                </a:tc>
                <a:tc>
                  <a:txBody>
                    <a:bodyPr wrap="square"/>
                    <a:lstStyle/>
                    <a:p>
                      <a:pPr algn="ctr"/>
                      <a:r>
                        <a:rPr b="0" sz="1000">
                          <a:solidFill>
                            <a:srgbClr val="0F172A"/>
                          </a:solidFill>
                          <a:latin typeface="Segoe UI"/>
                        </a:rPr>
                        <a:t>16</a:t>
                      </a:r>
                    </a:p>
                  </a:txBody>
                  <a:tcPr>
                    <a:solidFill>
                      <a:srgbClr val="F8FAFC"/>
                    </a:solidFill>
                  </a:tcPr>
                </a:tc>
                <a:tc>
                  <a:txBody>
                    <a:bodyPr wrap="square"/>
                    <a:lstStyle/>
                    <a:p>
                      <a:pPr algn="ctr"/>
                      <a:r>
                        <a:rPr b="0" sz="1000">
                          <a:solidFill>
                            <a:srgbClr val="0F172A"/>
                          </a:solidFill>
                          <a:latin typeface="Segoe UI"/>
                        </a:rPr>
                        <a:t>Muito Alto (~24GB)</a:t>
                      </a:r>
                    </a:p>
                  </a:txBody>
                  <a:tcPr>
                    <a:solidFill>
                      <a:srgbClr val="F8FAFC"/>
                    </a:solidFill>
                  </a:tcPr>
                </a:tc>
                <a:tc>
                  <a:txBody>
                    <a:bodyPr wrap="square"/>
                    <a:lstStyle/>
                    <a:p>
                      <a:pPr algn="ctr"/>
                      <a:r>
                        <a:rPr b="0" sz="1000">
                          <a:solidFill>
                            <a:srgbClr val="0F172A"/>
                          </a:solidFill>
                          <a:latin typeface="Segoe UI"/>
                        </a:rPr>
                        <a:t>Nenhuma (Precisão nativa)</a:t>
                      </a:r>
                    </a:p>
                  </a:txBody>
                  <a:tcPr>
                    <a:solidFill>
                      <a:srgbClr val="F8FAFC"/>
                    </a:solidFill>
                  </a:tcPr>
                </a:tc>
              </a:tr>
              <a:tr h="365760">
                <a:tc>
                  <a:txBody>
                    <a:bodyPr wrap="square"/>
                    <a:lstStyle/>
                    <a:p>
                      <a:pPr algn="l"/>
                      <a:r>
                        <a:rPr b="0" sz="1000">
                          <a:solidFill>
                            <a:srgbClr val="0F172A"/>
                          </a:solidFill>
                          <a:latin typeface="Segoe UI"/>
                        </a:rPr>
                        <a:t>Q8_0</a:t>
                      </a:r>
                    </a:p>
                  </a:txBody>
                  <a:tcPr>
                    <a:solidFill>
                      <a:srgbClr val="FFFFFF"/>
                    </a:solidFill>
                  </a:tcPr>
                </a:tc>
                <a:tc>
                  <a:txBody>
                    <a:bodyPr wrap="square"/>
                    <a:lstStyle/>
                    <a:p>
                      <a:pPr algn="ctr"/>
                      <a:r>
                        <a:rPr b="0" sz="1000">
                          <a:solidFill>
                            <a:srgbClr val="0F172A"/>
                          </a:solidFill>
                          <a:latin typeface="Segoe UI"/>
                        </a:rPr>
                        <a:t>8</a:t>
                      </a:r>
                    </a:p>
                  </a:txBody>
                  <a:tcPr>
                    <a:solidFill>
                      <a:srgbClr val="FFFFFF"/>
                    </a:solidFill>
                  </a:tcPr>
                </a:tc>
                <a:tc>
                  <a:txBody>
                    <a:bodyPr wrap="square"/>
                    <a:lstStyle/>
                    <a:p>
                      <a:pPr algn="ctr"/>
                      <a:r>
                        <a:rPr b="0" sz="1000">
                          <a:solidFill>
                            <a:srgbClr val="0F172A"/>
                          </a:solidFill>
                          <a:latin typeface="Segoe UI"/>
                        </a:rPr>
                        <a:t>Médio (~12GB)</a:t>
                      </a:r>
                    </a:p>
                  </a:txBody>
                  <a:tcPr>
                    <a:solidFill>
                      <a:srgbClr val="FFFFFF"/>
                    </a:solidFill>
                  </a:tcPr>
                </a:tc>
                <a:tc>
                  <a:txBody>
                    <a:bodyPr wrap="square"/>
                    <a:lstStyle/>
                    <a:p>
                      <a:pPr algn="ctr"/>
                      <a:r>
                        <a:rPr b="0" sz="1000">
                          <a:solidFill>
                            <a:srgbClr val="0F172A"/>
                          </a:solidFill>
                          <a:latin typeface="Segoe UI"/>
                        </a:rPr>
                        <a:t>Quase Nula (Excelente p/ código)</a:t>
                      </a:r>
                    </a:p>
                  </a:txBody>
                  <a:tcPr>
                    <a:solidFill>
                      <a:srgbClr val="FFFFFF"/>
                    </a:solidFill>
                  </a:tcPr>
                </a:tc>
              </a:tr>
              <a:tr h="365760">
                <a:tc>
                  <a:txBody>
                    <a:bodyPr wrap="square"/>
                    <a:lstStyle/>
                    <a:p>
                      <a:pPr algn="l"/>
                      <a:r>
                        <a:rPr b="0" sz="1000">
                          <a:solidFill>
                            <a:srgbClr val="0F172A"/>
                          </a:solidFill>
                          <a:latin typeface="Segoe UI"/>
                        </a:rPr>
                        <a:t>Q4_K_M</a:t>
                      </a:r>
                    </a:p>
                  </a:txBody>
                  <a:tcPr>
                    <a:solidFill>
                      <a:srgbClr val="F8FAFC"/>
                    </a:solidFill>
                  </a:tcPr>
                </a:tc>
                <a:tc>
                  <a:txBody>
                    <a:bodyPr wrap="square"/>
                    <a:lstStyle/>
                    <a:p>
                      <a:pPr algn="ctr"/>
                      <a:r>
                        <a:rPr b="0" sz="1000">
                          <a:solidFill>
                            <a:srgbClr val="0F172A"/>
                          </a:solidFill>
                          <a:latin typeface="Segoe UI"/>
                        </a:rPr>
                        <a:t>4</a:t>
                      </a:r>
                    </a:p>
                  </a:txBody>
                  <a:tcPr>
                    <a:solidFill>
                      <a:srgbClr val="F8FAFC"/>
                    </a:solidFill>
                  </a:tcPr>
                </a:tc>
                <a:tc>
                  <a:txBody>
                    <a:bodyPr wrap="square"/>
                    <a:lstStyle/>
                    <a:p>
                      <a:pPr algn="ctr"/>
                      <a:r>
                        <a:rPr b="0" sz="1000">
                          <a:solidFill>
                            <a:srgbClr val="0F172A"/>
                          </a:solidFill>
                          <a:latin typeface="Segoe UI"/>
                        </a:rPr>
                        <a:t>Baixo (~6.5GB)</a:t>
                      </a:r>
                    </a:p>
                  </a:txBody>
                  <a:tcPr>
                    <a:solidFill>
                      <a:srgbClr val="F8FAFC"/>
                    </a:solidFill>
                  </a:tcPr>
                </a:tc>
                <a:tc>
                  <a:txBody>
                    <a:bodyPr wrap="square"/>
                    <a:lstStyle/>
                    <a:p>
                      <a:pPr algn="ctr"/>
                      <a:r>
                        <a:rPr b="0" sz="1000">
                          <a:solidFill>
                            <a:srgbClr val="0F172A"/>
                          </a:solidFill>
                          <a:latin typeface="Segoe UI"/>
                        </a:rPr>
                        <a:t>Pequena (Leve perda semântica)</a:t>
                      </a:r>
                    </a:p>
                  </a:txBody>
                  <a:tcPr>
                    <a:solidFill>
                      <a:srgbClr val="F8FAFC"/>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MoE (Mixture of Experts)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21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Arquitetura modular MoE — </a:t>
            </a:r>
            <a:r>
              <a:rPr b="0">
                <a:solidFill>
                  <a:srgbClr val="475569"/>
                </a:solidFill>
              </a:rPr>
              <a:t>modelo fatiado em sub-redes especialistas em vez de um bloco monolítico</a:t>
            </a:r>
          </a:p>
          <a:p>
            <a:pPr>
              <a:lnSpc>
                <a:spcPct val="125000"/>
              </a:lnSpc>
              <a:spcBef>
                <a:spcPts val="800"/>
              </a:spcBef>
              <a:spcAft>
                <a:spcPts val="1000"/>
              </a:spcAft>
              <a:defRPr sz="1300">
                <a:latin typeface="Segoe UI"/>
              </a:defRPr>
            </a:pPr>
            <a:r>
              <a:rPr b="1">
                <a:solidFill>
                  <a:srgbClr val="006FE6"/>
                </a:solidFill>
              </a:rPr>
              <a:t>Ativação dinâmica — </a:t>
            </a:r>
            <a:r>
              <a:rPr b="0">
                <a:solidFill>
                  <a:srgbClr val="475569"/>
                </a:solidFill>
              </a:rPr>
              <a:t>gpt-oss-20b possui 20B parâmetros e 32 especialistas, mas ativa apenas 4 por token</a:t>
            </a:r>
          </a:p>
          <a:p>
            <a:pPr>
              <a:lnSpc>
                <a:spcPct val="125000"/>
              </a:lnSpc>
              <a:spcBef>
                <a:spcPts val="800"/>
              </a:spcBef>
              <a:spcAft>
                <a:spcPts val="1000"/>
              </a:spcAft>
              <a:defRPr sz="1300">
                <a:latin typeface="Segoe UI"/>
              </a:defRPr>
            </a:pPr>
            <a:r>
              <a:rPr b="1">
                <a:solidFill>
                  <a:srgbClr val="006FE6"/>
                </a:solidFill>
              </a:rPr>
              <a:t>Suporte nativo do Kronk — </a:t>
            </a:r>
            <a:r>
              <a:rPr b="0">
                <a:solidFill>
                  <a:srgbClr val="475569"/>
                </a:solidFill>
              </a:rPr>
              <a:t>moe.mode permite alocar roteador e especialistas de forma inteligente</a:t>
            </a:r>
          </a:p>
          <a:p>
            <a:pPr>
              <a:lnSpc>
                <a:spcPct val="125000"/>
              </a:lnSpc>
              <a:spcBef>
                <a:spcPts val="800"/>
              </a:spcBef>
              <a:spcAft>
                <a:spcPts val="1000"/>
              </a:spcAft>
              <a:defRPr sz="1300">
                <a:latin typeface="Segoe UI"/>
              </a:defRPr>
            </a:pPr>
            <a:r>
              <a:rPr b="1">
                <a:solidFill>
                  <a:srgbClr val="006FE6"/>
                </a:solidFill>
              </a:rPr>
              <a:t>Políticas de distribuição — </a:t>
            </a:r>
            <a:r>
              <a:rPr b="0">
                <a:solidFill>
                  <a:srgbClr val="475569"/>
                </a:solidFill>
              </a:rPr>
              <a:t>auto, experts_cpu (expert na CPU, roteador na GPU), experts_gpu e keep_top_n</a:t>
            </a:r>
          </a:p>
          <a:p>
            <a:pPr>
              <a:lnSpc>
                <a:spcPct val="125000"/>
              </a:lnSpc>
              <a:spcBef>
                <a:spcPts val="800"/>
              </a:spcBef>
              <a:spcAft>
                <a:spcPts val="1000"/>
              </a:spcAft>
              <a:defRPr sz="1300">
                <a:latin typeface="Segoe UI"/>
              </a:defRPr>
            </a:pPr>
            <a:r>
              <a:rPr b="1">
                <a:solidFill>
                  <a:srgbClr val="006FE6"/>
                </a:solidFill>
              </a:rPr>
              <a:t>Relação de hardware — </a:t>
            </a:r>
            <a:r>
              <a:rPr b="0">
                <a:solidFill>
                  <a:srgbClr val="475569"/>
                </a:solidFill>
              </a:rPr>
              <a:t>no Linux com GPU de 12GB estourávamos a VRAM; no Mac M4 Pro roda suave unificado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Por dentro da Arquitetura MoE (Mixture of Experts)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22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Fatiamento de Rede (FFNs) — </a:t>
            </a:r>
            <a:r>
              <a:rPr b="0">
                <a:solidFill>
                  <a:srgbClr val="475569"/>
                </a:solidFill>
              </a:rPr>
              <a:t>Camadas neurais tradicionais divididas em sub-redes especialistas independentes</a:t>
            </a:r>
          </a:p>
          <a:p>
            <a:pPr>
              <a:lnSpc>
                <a:spcPct val="125000"/>
              </a:lnSpc>
              <a:spcBef>
                <a:spcPts val="800"/>
              </a:spcBef>
              <a:spcAft>
                <a:spcPts val="1000"/>
              </a:spcAft>
              <a:defRPr sz="1300">
                <a:latin typeface="Segoe UI"/>
              </a:defRPr>
            </a:pPr>
            <a:r>
              <a:rPr b="1">
                <a:solidFill>
                  <a:srgbClr val="006FE6"/>
                </a:solidFill>
              </a:rPr>
              <a:t>Portão de Roteamento (Gating Network) — </a:t>
            </a:r>
            <a:r>
              <a:rPr b="0">
                <a:solidFill>
                  <a:srgbClr val="475569"/>
                </a:solidFill>
              </a:rPr>
              <a:t>Classificador ultra leve calcula e ordena afinidades de cada token</a:t>
            </a:r>
          </a:p>
          <a:p>
            <a:pPr>
              <a:lnSpc>
                <a:spcPct val="125000"/>
              </a:lnSpc>
              <a:spcBef>
                <a:spcPts val="800"/>
              </a:spcBef>
              <a:spcAft>
                <a:spcPts val="1000"/>
              </a:spcAft>
              <a:defRPr sz="1300">
                <a:latin typeface="Segoe UI"/>
              </a:defRPr>
            </a:pPr>
            <a:r>
              <a:rPr b="1">
                <a:solidFill>
                  <a:srgbClr val="006FE6"/>
                </a:solidFill>
              </a:rPr>
              <a:t>Inferência Top-K — </a:t>
            </a:r>
            <a:r>
              <a:rPr b="0">
                <a:solidFill>
                  <a:srgbClr val="475569"/>
                </a:solidFill>
              </a:rPr>
              <a:t>Apenas os N melhores especialistas (ex: 4 de 32) são acionados na computação por token</a:t>
            </a:r>
          </a:p>
          <a:p>
            <a:pPr>
              <a:lnSpc>
                <a:spcPct val="125000"/>
              </a:lnSpc>
              <a:spcBef>
                <a:spcPts val="800"/>
              </a:spcBef>
              <a:spcAft>
                <a:spcPts val="1000"/>
              </a:spcAft>
              <a:defRPr sz="1300">
                <a:latin typeface="Segoe UI"/>
              </a:defRPr>
            </a:pPr>
            <a:r>
              <a:rPr b="1">
                <a:solidFill>
                  <a:srgbClr val="006FE6"/>
                </a:solidFill>
              </a:rPr>
              <a:t>Computação vs Memória — </a:t>
            </a:r>
            <a:r>
              <a:rPr b="0">
                <a:solidFill>
                  <a:srgbClr val="475569"/>
                </a:solidFill>
              </a:rPr>
              <a:t>20B parâmetros residentes na RAM, mas com custo computacional (FLOPs) de apenas 4B</a:t>
            </a:r>
          </a:p>
          <a:p>
            <a:pPr>
              <a:lnSpc>
                <a:spcPct val="125000"/>
              </a:lnSpc>
              <a:spcBef>
                <a:spcPts val="800"/>
              </a:spcBef>
              <a:spcAft>
                <a:spcPts val="1000"/>
              </a:spcAft>
              <a:defRPr sz="1300">
                <a:latin typeface="Segoe UI"/>
              </a:defRPr>
            </a:pPr>
            <a:r>
              <a:rPr b="1">
                <a:solidFill>
                  <a:srgbClr val="006FE6"/>
                </a:solidFill>
              </a:rPr>
              <a:t>Vantagem Local-First — </a:t>
            </a:r>
            <a:r>
              <a:rPr b="0">
                <a:solidFill>
                  <a:srgbClr val="475569"/>
                </a:solidFill>
              </a:rPr>
              <a:t>Kronk moe.mode distribui especialistas entre CPU/GPU se VRAM for gargalo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Hybrid CPU/GPU (offload de camadas)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23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Configuração ngpu-layers — </a:t>
            </a:r>
            <a:r>
              <a:rPr b="0">
                <a:solidFill>
                  <a:srgbClr val="475569"/>
                </a:solidFill>
              </a:rPr>
              <a:t>controla rigorosamente a quantidade de camadas de transformer na GPU</a:t>
            </a:r>
          </a:p>
          <a:p>
            <a:pPr>
              <a:lnSpc>
                <a:spcPct val="125000"/>
              </a:lnSpc>
              <a:spcBef>
                <a:spcPts val="800"/>
              </a:spcBef>
              <a:spcAft>
                <a:spcPts val="1000"/>
              </a:spcAft>
              <a:defRPr sz="1300">
                <a:latin typeface="Segoe UI"/>
              </a:defRPr>
            </a:pPr>
            <a:r>
              <a:rPr b="1">
                <a:solidFill>
                  <a:srgbClr val="006FE6"/>
                </a:solidFill>
              </a:rPr>
              <a:t>Pegadinha de convenção do Kronk — </a:t>
            </a:r>
            <a:r>
              <a:rPr b="0">
                <a:solidFill>
                  <a:srgbClr val="475569"/>
                </a:solidFill>
              </a:rPr>
              <a:t>valor 0 significa TODAS na GPU, -1 força CPU pura, N move N camadas</a:t>
            </a:r>
          </a:p>
          <a:p>
            <a:pPr>
              <a:lnSpc>
                <a:spcPct val="125000"/>
              </a:lnSpc>
              <a:spcBef>
                <a:spcPts val="800"/>
              </a:spcBef>
              <a:spcAft>
                <a:spcPts val="1000"/>
              </a:spcAft>
              <a:defRPr sz="1300">
                <a:latin typeface="Segoe UI"/>
              </a:defRPr>
            </a:pPr>
            <a:r>
              <a:rPr b="1">
                <a:solidFill>
                  <a:srgbClr val="006FE6"/>
                </a:solidFill>
              </a:rPr>
              <a:t>Gerenciamento fino de VRAM — </a:t>
            </a:r>
            <a:r>
              <a:rPr b="0">
                <a:solidFill>
                  <a:srgbClr val="475569"/>
                </a:solidFill>
              </a:rPr>
              <a:t>dial essencial em GPUs dedicadas para balancear o cache de contexto</a:t>
            </a:r>
          </a:p>
          <a:p>
            <a:pPr>
              <a:lnSpc>
                <a:spcPct val="125000"/>
              </a:lnSpc>
              <a:spcBef>
                <a:spcPts val="800"/>
              </a:spcBef>
              <a:spcAft>
                <a:spcPts val="1000"/>
              </a:spcAft>
              <a:defRPr sz="1300">
                <a:latin typeface="Segoe UI"/>
              </a:defRPr>
            </a:pPr>
            <a:r>
              <a:rPr b="1">
                <a:solidFill>
                  <a:srgbClr val="006FE6"/>
                </a:solidFill>
              </a:rPr>
              <a:t>O cenário da unificada — </a:t>
            </a:r>
            <a:r>
              <a:rPr b="0">
                <a:solidFill>
                  <a:srgbClr val="475569"/>
                </a:solidFill>
              </a:rPr>
              <a:t>no Apple Silicon a RAM é compartilhada, operamos ngpu-layers:0 sem gargalos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Nossos números reais (hoje, nesta máquina)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24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Vantagem do hardware local — </a:t>
            </a:r>
            <a:r>
              <a:rPr b="0">
                <a:solidFill>
                  <a:srgbClr val="475569"/>
                </a:solidFill>
              </a:rPr>
              <a:t>aceleração do Metal chega a ser de 9x a 10x mais rápida que CPU pura</a:t>
            </a:r>
          </a:p>
          <a:p>
            <a:pPr>
              <a:lnSpc>
                <a:spcPct val="125000"/>
              </a:lnSpc>
              <a:spcBef>
                <a:spcPts val="800"/>
              </a:spcBef>
              <a:spcAft>
                <a:spcPts val="1000"/>
              </a:spcAft>
              <a:defRPr sz="1300">
                <a:latin typeface="Segoe UI"/>
              </a:defRPr>
            </a:pPr>
            <a:r>
              <a:rPr b="1">
                <a:solidFill>
                  <a:srgbClr val="006FE6"/>
                </a:solidFill>
              </a:rPr>
              <a:t>Estabilidade sob estresse — </a:t>
            </a:r>
            <a:r>
              <a:rPr b="0">
                <a:solidFill>
                  <a:srgbClr val="475569"/>
                </a:solidFill>
              </a:rPr>
              <a:t>contextos massivos de ~9k tokens não provocam estouros ou falhas</a:t>
            </a:r>
          </a:p>
        </p:txBody>
      </p:sp>
      <p:graphicFrame>
        <p:nvGraphicFramePr>
          <p:cNvPr id="10" name="Table 9"/>
          <p:cNvGraphicFramePr>
            <a:graphicFrameLocks noGrp="1"/>
          </p:cNvGraphicFramePr>
          <p:nvPr/>
        </p:nvGraphicFramePr>
        <p:xfrm>
          <a:off x="6248095" y="1463040"/>
          <a:ext cx="5394960" cy="1828800"/>
        </p:xfrm>
        <a:graphic>
          <a:graphicData uri="http://schemas.openxmlformats.org/drawingml/2006/table">
            <a:tbl>
              <a:tblPr firstRow="1" bandRow="1">
                <a:tableStyleId>{5C22544A-7EE6-4342-B048-85BDC9FD1C3A}</a:tableStyleId>
              </a:tblPr>
              <a:tblGrid>
                <a:gridCol w="1348740"/>
                <a:gridCol w="1348740"/>
                <a:gridCol w="1348740"/>
                <a:gridCol w="1348740"/>
              </a:tblGrid>
              <a:tr h="365760">
                <a:tc>
                  <a:txBody>
                    <a:bodyPr wrap="square"/>
                    <a:lstStyle/>
                    <a:p>
                      <a:pPr algn="l"/>
                      <a:r>
                        <a:rPr b="1" sz="1100">
                          <a:solidFill>
                            <a:srgbClr val="00D2FF"/>
                          </a:solidFill>
                          <a:latin typeface="Segoe UI"/>
                        </a:rPr>
                        <a:t>Configuração</a:t>
                      </a:r>
                    </a:p>
                  </a:txBody>
                  <a:tcPr>
                    <a:solidFill>
                      <a:srgbClr val="0A2540"/>
                    </a:solidFill>
                  </a:tcPr>
                </a:tc>
                <a:tc>
                  <a:txBody>
                    <a:bodyPr wrap="square"/>
                    <a:lstStyle/>
                    <a:p>
                      <a:pPr algn="ctr"/>
                      <a:r>
                        <a:rPr b="1" sz="1100">
                          <a:solidFill>
                            <a:srgbClr val="00D2FF"/>
                          </a:solidFill>
                          <a:latin typeface="Segoe UI"/>
                        </a:rPr>
                        <a:t>Prompt tokens</a:t>
                      </a:r>
                    </a:p>
                  </a:txBody>
                  <a:tcPr>
                    <a:solidFill>
                      <a:srgbClr val="0A2540"/>
                    </a:solidFill>
                  </a:tcPr>
                </a:tc>
                <a:tc>
                  <a:txBody>
                    <a:bodyPr wrap="square"/>
                    <a:lstStyle/>
                    <a:p>
                      <a:pPr algn="ctr"/>
                      <a:r>
                        <a:rPr b="1" sz="1100">
                          <a:solidFill>
                            <a:srgbClr val="00D2FF"/>
                          </a:solidFill>
                          <a:latin typeface="Segoe UI"/>
                        </a:rPr>
                        <a:t>TTFT (Time-to-first-token)</a:t>
                      </a:r>
                    </a:p>
                  </a:txBody>
                  <a:tcPr>
                    <a:solidFill>
                      <a:srgbClr val="0A2540"/>
                    </a:solidFill>
                  </a:tcPr>
                </a:tc>
                <a:tc>
                  <a:txBody>
                    <a:bodyPr wrap="square"/>
                    <a:lstStyle/>
                    <a:p>
                      <a:pPr algn="ctr"/>
                      <a:r>
                        <a:rPr b="1" sz="1100">
                          <a:solidFill>
                            <a:srgbClr val="00D2FF"/>
                          </a:solidFill>
                          <a:latin typeface="Segoe UI"/>
                        </a:rPr>
                        <a:t>Tokens/s</a:t>
                      </a:r>
                    </a:p>
                  </a:txBody>
                  <a:tcPr>
                    <a:solidFill>
                      <a:srgbClr val="0A2540"/>
                    </a:solidFill>
                  </a:tcPr>
                </a:tc>
              </a:tr>
              <a:tr h="365760">
                <a:tc>
                  <a:txBody>
                    <a:bodyPr wrap="square"/>
                    <a:lstStyle/>
                    <a:p>
                      <a:pPr algn="l"/>
                      <a:r>
                        <a:rPr b="0" sz="1000">
                          <a:solidFill>
                            <a:srgbClr val="0F172A"/>
                          </a:solidFill>
                          <a:latin typeface="Segoe UI"/>
                        </a:rPr>
                        <a:t>CPU only</a:t>
                      </a:r>
                    </a:p>
                  </a:txBody>
                  <a:tcPr>
                    <a:solidFill>
                      <a:srgbClr val="F8FAFC"/>
                    </a:solidFill>
                  </a:tcPr>
                </a:tc>
                <a:tc>
                  <a:txBody>
                    <a:bodyPr wrap="square"/>
                    <a:lstStyle/>
                    <a:p>
                      <a:pPr algn="ctr"/>
                      <a:r>
                        <a:rPr b="0" sz="1000">
                          <a:solidFill>
                            <a:srgbClr val="0F172A"/>
                          </a:solidFill>
                          <a:latin typeface="Segoe UI"/>
                        </a:rPr>
                        <a:t>pequeno (~100)</a:t>
                      </a:r>
                    </a:p>
                  </a:txBody>
                  <a:tcPr>
                    <a:solidFill>
                      <a:srgbClr val="F8FAFC"/>
                    </a:solidFill>
                  </a:tcPr>
                </a:tc>
                <a:tc>
                  <a:txBody>
                    <a:bodyPr wrap="square"/>
                    <a:lstStyle/>
                    <a:p>
                      <a:pPr algn="ctr"/>
                      <a:r>
                        <a:rPr b="0" sz="1000">
                          <a:solidFill>
                            <a:srgbClr val="0F172A"/>
                          </a:solidFill>
                          <a:latin typeface="Segoe UI"/>
                        </a:rPr>
                        <a:t>—</a:t>
                      </a:r>
                    </a:p>
                  </a:txBody>
                  <a:tcPr>
                    <a:solidFill>
                      <a:srgbClr val="F8FAFC"/>
                    </a:solidFill>
                  </a:tcPr>
                </a:tc>
                <a:tc>
                  <a:txBody>
                    <a:bodyPr wrap="square"/>
                    <a:lstStyle/>
                    <a:p>
                      <a:pPr algn="ctr"/>
                      <a:r>
                        <a:rPr b="0" sz="1000">
                          <a:solidFill>
                            <a:srgbClr val="0F172A"/>
                          </a:solidFill>
                          <a:latin typeface="Segoe UI"/>
                        </a:rPr>
                        <a:t>~6-8 tok/s</a:t>
                      </a:r>
                    </a:p>
                  </a:txBody>
                  <a:tcPr>
                    <a:solidFill>
                      <a:srgbClr val="F8FAFC"/>
                    </a:solidFill>
                  </a:tcPr>
                </a:tc>
              </a:tr>
              <a:tr h="365760">
                <a:tc>
                  <a:txBody>
                    <a:bodyPr wrap="square"/>
                    <a:lstStyle/>
                    <a:p>
                      <a:pPr algn="l"/>
                      <a:r>
                        <a:rPr b="0" sz="1000">
                          <a:solidFill>
                            <a:srgbClr val="0F172A"/>
                          </a:solidFill>
                          <a:latin typeface="Segoe UI"/>
                        </a:rPr>
                        <a:t>Metal full offload — curto</a:t>
                      </a:r>
                    </a:p>
                  </a:txBody>
                  <a:tcPr>
                    <a:solidFill>
                      <a:srgbClr val="FFFFFF"/>
                    </a:solidFill>
                  </a:tcPr>
                </a:tc>
                <a:tc>
                  <a:txBody>
                    <a:bodyPr wrap="square"/>
                    <a:lstStyle/>
                    <a:p>
                      <a:pPr algn="ctr"/>
                      <a:r>
                        <a:rPr b="0" sz="1000">
                          <a:solidFill>
                            <a:srgbClr val="0F172A"/>
                          </a:solidFill>
                          <a:latin typeface="Segoe UI"/>
                        </a:rPr>
                        <a:t>81</a:t>
                      </a:r>
                    </a:p>
                  </a:txBody>
                  <a:tcPr>
                    <a:solidFill>
                      <a:srgbClr val="FFFFFF"/>
                    </a:solidFill>
                  </a:tcPr>
                </a:tc>
                <a:tc>
                  <a:txBody>
                    <a:bodyPr wrap="square"/>
                    <a:lstStyle/>
                    <a:p>
                      <a:pPr algn="ctr"/>
                      <a:r>
                        <a:rPr b="0" sz="1000">
                          <a:solidFill>
                            <a:srgbClr val="0F172A"/>
                          </a:solidFill>
                          <a:latin typeface="Segoe UI"/>
                        </a:rPr>
                        <a:t>~0.2 - 0.4s</a:t>
                      </a:r>
                    </a:p>
                  </a:txBody>
                  <a:tcPr>
                    <a:solidFill>
                      <a:srgbClr val="FFFFFF"/>
                    </a:solidFill>
                  </a:tcPr>
                </a:tc>
                <a:tc>
                  <a:txBody>
                    <a:bodyPr wrap="square"/>
                    <a:lstStyle/>
                    <a:p>
                      <a:pPr algn="ctr"/>
                      <a:r>
                        <a:rPr b="0" sz="1000">
                          <a:solidFill>
                            <a:srgbClr val="0F172A"/>
                          </a:solidFill>
                          <a:latin typeface="Segoe UI"/>
                        </a:rPr>
                        <a:t>~70 tok/s</a:t>
                      </a:r>
                    </a:p>
                  </a:txBody>
                  <a:tcPr>
                    <a:solidFill>
                      <a:srgbClr val="FFFFFF"/>
                    </a:solidFill>
                  </a:tcPr>
                </a:tc>
              </a:tr>
              <a:tr h="365760">
                <a:tc>
                  <a:txBody>
                    <a:bodyPr wrap="square"/>
                    <a:lstStyle/>
                    <a:p>
                      <a:pPr algn="l"/>
                      <a:r>
                        <a:rPr b="0" sz="1000">
                          <a:solidFill>
                            <a:srgbClr val="0F172A"/>
                          </a:solidFill>
                          <a:latin typeface="Segoe UI"/>
                        </a:rPr>
                        <a:t>Metal full offload — médio (Cline real)</a:t>
                      </a:r>
                    </a:p>
                  </a:txBody>
                  <a:tcPr>
                    <a:solidFill>
                      <a:srgbClr val="F8FAFC"/>
                    </a:solidFill>
                  </a:tcPr>
                </a:tc>
                <a:tc>
                  <a:txBody>
                    <a:bodyPr wrap="square"/>
                    <a:lstStyle/>
                    <a:p>
                      <a:pPr algn="ctr"/>
                      <a:r>
                        <a:rPr b="0" sz="1000">
                          <a:solidFill>
                            <a:srgbClr val="0F172A"/>
                          </a:solidFill>
                          <a:latin typeface="Segoe UI"/>
                        </a:rPr>
                        <a:t>2.034</a:t>
                      </a:r>
                    </a:p>
                  </a:txBody>
                  <a:tcPr>
                    <a:solidFill>
                      <a:srgbClr val="F8FAFC"/>
                    </a:solidFill>
                  </a:tcPr>
                </a:tc>
                <a:tc>
                  <a:txBody>
                    <a:bodyPr wrap="square"/>
                    <a:lstStyle/>
                    <a:p>
                      <a:pPr algn="ctr"/>
                      <a:r>
                        <a:rPr b="0" sz="1000">
                          <a:solidFill>
                            <a:srgbClr val="0F172A"/>
                          </a:solidFill>
                          <a:latin typeface="Segoe UI"/>
                        </a:rPr>
                        <a:t>~2.2s</a:t>
                      </a:r>
                    </a:p>
                  </a:txBody>
                  <a:tcPr>
                    <a:solidFill>
                      <a:srgbClr val="F8FAFC"/>
                    </a:solidFill>
                  </a:tcPr>
                </a:tc>
                <a:tc>
                  <a:txBody>
                    <a:bodyPr wrap="square"/>
                    <a:lstStyle/>
                    <a:p>
                      <a:pPr algn="ctr"/>
                      <a:r>
                        <a:rPr b="0" sz="1000">
                          <a:solidFill>
                            <a:srgbClr val="0F172A"/>
                          </a:solidFill>
                          <a:latin typeface="Segoe UI"/>
                        </a:rPr>
                        <a:t>~65-68 tok/s</a:t>
                      </a:r>
                    </a:p>
                  </a:txBody>
                  <a:tcPr>
                    <a:solidFill>
                      <a:srgbClr val="F8FAFC"/>
                    </a:solidFill>
                  </a:tcPr>
                </a:tc>
              </a:tr>
              <a:tr h="365760">
                <a:tc>
                  <a:txBody>
                    <a:bodyPr wrap="square"/>
                    <a:lstStyle/>
                    <a:p>
                      <a:pPr algn="l"/>
                      <a:r>
                        <a:rPr b="0" sz="1000">
                          <a:solidFill>
                            <a:srgbClr val="0F172A"/>
                          </a:solidFill>
                          <a:latin typeface="Segoe UI"/>
                        </a:rPr>
                        <a:t>Metal full offload — stress (MCPs grandes)</a:t>
                      </a:r>
                    </a:p>
                  </a:txBody>
                  <a:tcPr>
                    <a:solidFill>
                      <a:srgbClr val="FFFFFF"/>
                    </a:solidFill>
                  </a:tcPr>
                </a:tc>
                <a:tc>
                  <a:txBody>
                    <a:bodyPr wrap="square"/>
                    <a:lstStyle/>
                    <a:p>
                      <a:pPr algn="ctr"/>
                      <a:r>
                        <a:rPr b="0" sz="1000">
                          <a:solidFill>
                            <a:srgbClr val="0F172A"/>
                          </a:solidFill>
                          <a:latin typeface="Segoe UI"/>
                        </a:rPr>
                        <a:t>9.084</a:t>
                      </a:r>
                    </a:p>
                  </a:txBody>
                  <a:tcPr>
                    <a:solidFill>
                      <a:srgbClr val="FFFFFF"/>
                    </a:solidFill>
                  </a:tcPr>
                </a:tc>
                <a:tc>
                  <a:txBody>
                    <a:bodyPr wrap="square"/>
                    <a:lstStyle/>
                    <a:p>
                      <a:pPr algn="ctr"/>
                      <a:r>
                        <a:rPr b="0" sz="1000">
                          <a:solidFill>
                            <a:srgbClr val="0F172A"/>
                          </a:solidFill>
                          <a:latin typeface="Segoe UI"/>
                        </a:rPr>
                        <a:t>~11.2 - 12.4s</a:t>
                      </a:r>
                    </a:p>
                  </a:txBody>
                  <a:tcPr>
                    <a:solidFill>
                      <a:srgbClr val="FFFFFF"/>
                    </a:solidFill>
                  </a:tcPr>
                </a:tc>
                <a:tc>
                  <a:txBody>
                    <a:bodyPr wrap="square"/>
                    <a:lstStyle/>
                    <a:p>
                      <a:pPr algn="ctr"/>
                      <a:r>
                        <a:rPr b="0" sz="1000">
                          <a:solidFill>
                            <a:srgbClr val="0F172A"/>
                          </a:solidFill>
                          <a:latin typeface="Segoe UI"/>
                        </a:rPr>
                        <a:t>~63 tok/s</a:t>
                      </a:r>
                    </a:p>
                  </a:txBody>
                  <a:tcP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Estudo de Caso: Análise de Gargalos de Prefill</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25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Identificação da latência — </a:t>
            </a:r>
            <a:r>
              <a:rPr b="0">
                <a:solidFill>
                  <a:srgbClr val="475569"/>
                </a:solidFill>
              </a:rPr>
              <a:t>observamos TTFT de ~12s no prompt longo de estresse e assumimos gargalo de IO</a:t>
            </a:r>
          </a:p>
          <a:p>
            <a:pPr>
              <a:lnSpc>
                <a:spcPct val="125000"/>
              </a:lnSpc>
              <a:spcBef>
                <a:spcPts val="800"/>
              </a:spcBef>
              <a:spcAft>
                <a:spcPts val="1000"/>
              </a:spcAft>
              <a:defRPr sz="1300">
                <a:latin typeface="Segoe UI"/>
              </a:defRPr>
            </a:pPr>
            <a:r>
              <a:rPr b="1">
                <a:solidFill>
                  <a:srgbClr val="006FE6"/>
                </a:solidFill>
              </a:rPr>
              <a:t>Hipótese inicial — </a:t>
            </a:r>
            <a:r>
              <a:rPr b="0">
                <a:solidFill>
                  <a:srgbClr val="475569"/>
                </a:solidFill>
              </a:rPr>
              <a:t>presumimos que o tamanho de batch padrão (nbatch/nubatch) estava estrangulando o Metal</a:t>
            </a:r>
          </a:p>
          <a:p>
            <a:pPr>
              <a:lnSpc>
                <a:spcPct val="125000"/>
              </a:lnSpc>
              <a:spcBef>
                <a:spcPts val="800"/>
              </a:spcBef>
              <a:spcAft>
                <a:spcPts val="1000"/>
              </a:spcAft>
              <a:defRPr sz="1300">
                <a:latin typeface="Segoe UI"/>
              </a:defRPr>
            </a:pPr>
            <a:r>
              <a:rPr b="1">
                <a:solidFill>
                  <a:srgbClr val="006FE6"/>
                </a:solidFill>
              </a:rPr>
              <a:t>Tentativa de otimização — </a:t>
            </a:r>
            <a:r>
              <a:rPr b="0">
                <a:solidFill>
                  <a:srgbClr val="475569"/>
                </a:solidFill>
              </a:rPr>
              <a:t>aumentamos e quadruplicamos os buffers na configuração do YAML do Kronk</a:t>
            </a:r>
          </a:p>
          <a:p>
            <a:pPr>
              <a:lnSpc>
                <a:spcPct val="125000"/>
              </a:lnSpc>
              <a:spcBef>
                <a:spcPts val="800"/>
              </a:spcBef>
              <a:spcAft>
                <a:spcPts val="1000"/>
              </a:spcAft>
              <a:defRPr sz="1300">
                <a:latin typeface="Segoe UI"/>
              </a:defRPr>
            </a:pPr>
            <a:r>
              <a:rPr b="1">
                <a:solidFill>
                  <a:srgbClr val="006FE6"/>
                </a:solidFill>
              </a:rPr>
              <a:t>Resultado surpreendente — </a:t>
            </a:r>
            <a:r>
              <a:rPr b="0">
                <a:solidFill>
                  <a:srgbClr val="475569"/>
                </a:solidFill>
              </a:rPr>
              <a:t>ganho irrisório de 6% (latência caindo minimamente de 12.36s para 11.58s)</a:t>
            </a:r>
          </a:p>
          <a:p>
            <a:pPr>
              <a:lnSpc>
                <a:spcPct val="125000"/>
              </a:lnSpc>
              <a:spcBef>
                <a:spcPts val="800"/>
              </a:spcBef>
              <a:spcAft>
                <a:spcPts val="1000"/>
              </a:spcAft>
              <a:defRPr sz="1300">
                <a:latin typeface="Segoe UI"/>
              </a:defRPr>
            </a:pPr>
            <a:r>
              <a:rPr b="1">
                <a:solidFill>
                  <a:srgbClr val="006FE6"/>
                </a:solidFill>
              </a:rPr>
              <a:t>Lição de engenharia — </a:t>
            </a:r>
            <a:r>
              <a:rPr b="0">
                <a:solidFill>
                  <a:srgbClr val="475569"/>
                </a:solidFill>
              </a:rPr>
              <a:t>o gargalo era computacional (roteamento de especialistas MoE), não transferência de dados. Meça!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"Thinking mode" e o custo do raciocínio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26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Modo de raciocínio lógico — </a:t>
            </a:r>
            <a:r>
              <a:rPr b="0">
                <a:solidFill>
                  <a:srgbClr val="475569"/>
                </a:solidFill>
              </a:rPr>
              <a:t>gpt-oss-20b emite blocos extensos de cadeia de pensamento antes da resposta</a:t>
            </a:r>
          </a:p>
          <a:p>
            <a:pPr>
              <a:lnSpc>
                <a:spcPct val="125000"/>
              </a:lnSpc>
              <a:spcBef>
                <a:spcPts val="800"/>
              </a:spcBef>
              <a:spcAft>
                <a:spcPts val="1000"/>
              </a:spcAft>
              <a:defRPr sz="1300">
                <a:latin typeface="Segoe UI"/>
              </a:defRPr>
            </a:pPr>
            <a:r>
              <a:rPr b="1">
                <a:solidFill>
                  <a:srgbClr val="006FE6"/>
                </a:solidFill>
              </a:rPr>
              <a:t>Exemplo do oi — </a:t>
            </a:r>
            <a:r>
              <a:rPr b="0">
                <a:solidFill>
                  <a:srgbClr val="475569"/>
                </a:solidFill>
              </a:rPr>
              <a:t>uma simples saudação de teste consumiu 40 tokens de pensamento oculto antes de responder</a:t>
            </a:r>
          </a:p>
          <a:p>
            <a:pPr>
              <a:lnSpc>
                <a:spcPct val="125000"/>
              </a:lnSpc>
              <a:spcBef>
                <a:spcPts val="800"/>
              </a:spcBef>
              <a:spcAft>
                <a:spcPts val="1000"/>
              </a:spcAft>
              <a:defRPr sz="1300">
                <a:latin typeface="Segoe UI"/>
              </a:defRPr>
            </a:pPr>
            <a:r>
              <a:rPr b="1">
                <a:solidFill>
                  <a:srgbClr val="006FE6"/>
                </a:solidFill>
              </a:rPr>
              <a:t>Parâmetro de requisição — </a:t>
            </a:r>
            <a:r>
              <a:rPr b="0">
                <a:solidFill>
                  <a:srgbClr val="475569"/>
                </a:solidFill>
              </a:rPr>
              <a:t>controlado em tempo de execução via reasoning_effort (low / medium / high)</a:t>
            </a:r>
          </a:p>
          <a:p>
            <a:pPr>
              <a:lnSpc>
                <a:spcPct val="125000"/>
              </a:lnSpc>
              <a:spcBef>
                <a:spcPts val="800"/>
              </a:spcBef>
              <a:spcAft>
                <a:spcPts val="1000"/>
              </a:spcAft>
              <a:defRPr sz="1300">
                <a:latin typeface="Segoe UI"/>
              </a:defRPr>
            </a:pPr>
            <a:r>
              <a:rPr b="1">
                <a:solidFill>
                  <a:srgbClr val="006FE6"/>
                </a:solidFill>
              </a:rPr>
              <a:t>Tradeoff clássico de IA — </a:t>
            </a:r>
            <a:r>
              <a:rPr b="0">
                <a:solidFill>
                  <a:srgbClr val="475569"/>
                </a:solidFill>
              </a:rPr>
              <a:t>esforço alto garante correção precisa de algoritmos, mas penaliza a latência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Trocar de modelo é runtime, não startup</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27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funcionamento do pool — </a:t>
            </a:r>
            <a:r>
              <a:rPr b="0">
                <a:solidFill>
                  <a:srgbClr val="475569"/>
                </a:solidFill>
              </a:rPr>
              <a:t>o boot do servidor apenas prepara o orquestrador, mantendo o pool vazio</a:t>
            </a:r>
          </a:p>
          <a:p>
            <a:pPr>
              <a:lnSpc>
                <a:spcPct val="125000"/>
              </a:lnSpc>
              <a:spcBef>
                <a:spcPts val="800"/>
              </a:spcBef>
              <a:spcAft>
                <a:spcPts val="1000"/>
              </a:spcAft>
              <a:defRPr sz="1300">
                <a:latin typeface="Segoe UI"/>
              </a:defRPr>
            </a:pPr>
            <a:r>
              <a:rPr b="1">
                <a:solidFill>
                  <a:srgbClr val="006FE6"/>
                </a:solidFill>
              </a:rPr>
              <a:t>Escolha dinâmica por chamada — </a:t>
            </a:r>
            <a:r>
              <a:rPr b="0">
                <a:solidFill>
                  <a:srgbClr val="475569"/>
                </a:solidFill>
              </a:rPr>
              <a:t>o modelo é lido sob demanda com base no campo 'model' no JSON</a:t>
            </a:r>
          </a:p>
          <a:p>
            <a:pPr>
              <a:lnSpc>
                <a:spcPct val="125000"/>
              </a:lnSpc>
              <a:spcBef>
                <a:spcPts val="800"/>
              </a:spcBef>
              <a:spcAft>
                <a:spcPts val="1000"/>
              </a:spcAft>
              <a:defRPr sz="1300">
                <a:latin typeface="Segoe UI"/>
              </a:defRPr>
            </a:pPr>
            <a:r>
              <a:rPr b="1">
                <a:solidFill>
                  <a:srgbClr val="006FE6"/>
                </a:solidFill>
              </a:rPr>
              <a:t>Carregamento lazy-load — </a:t>
            </a:r>
            <a:r>
              <a:rPr b="0">
                <a:solidFill>
                  <a:srgbClr val="475569"/>
                </a:solidFill>
              </a:rPr>
              <a:t>se o modelo não estiver quente, o Kronk o monta e descarrega quando ocioso</a:t>
            </a:r>
          </a:p>
          <a:p>
            <a:pPr>
              <a:lnSpc>
                <a:spcPct val="125000"/>
              </a:lnSpc>
              <a:spcBef>
                <a:spcPts val="800"/>
              </a:spcBef>
              <a:spcAft>
                <a:spcPts val="1000"/>
              </a:spcAft>
              <a:defRPr sz="1300">
                <a:latin typeface="Segoe UI"/>
              </a:defRPr>
            </a:pPr>
            <a:r>
              <a:rPr b="1">
                <a:solidFill>
                  <a:srgbClr val="006FE6"/>
                </a:solidFill>
              </a:rPr>
              <a:t>Sem restarts de infra — </a:t>
            </a:r>
            <a:r>
              <a:rPr b="0">
                <a:solidFill>
                  <a:srgbClr val="475569"/>
                </a:solidFill>
              </a:rPr>
              <a:t>altere de Qwen para Gemma em tempo real de execução mudando apenas as chamadas</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terminal</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kronk model list --local</a:t>
            </a:r>
          </a:p>
          <a:p>
            <a:pPr>
              <a:spcAft>
                <a:spcPts val="200"/>
              </a:spcAft>
              <a:defRPr sz="950">
                <a:solidFill>
                  <a:srgbClr val="0F172A"/>
                </a:solidFill>
                <a:latin typeface="Consolas"/>
              </a:defRPr>
            </a:pPr>
            <a:r>
              <a:t>kronk model pull &lt;nome&gt;</a:t>
            </a:r>
          </a:p>
          <a:p>
            <a:pPr>
              <a:spcAft>
                <a:spcPts val="200"/>
              </a:spcAft>
              <a:defRPr sz="950">
                <a:solidFill>
                  <a:srgbClr val="0F172A"/>
                </a:solidFill>
                <a:latin typeface="Consolas"/>
              </a:defRPr>
            </a:pPr>
          </a:p>
          <a:p>
            <a:pPr>
              <a:spcAft>
                <a:spcPts val="200"/>
              </a:spcAft>
              <a:defRPr sz="950">
                <a:solidFill>
                  <a:srgbClr val="0F172A"/>
                </a:solidFill>
                <a:latin typeface="Consolas"/>
              </a:defRPr>
            </a:pPr>
            <a:r>
              <a:t># depois, só aponta o cliente pro novo nome:</a:t>
            </a:r>
          </a:p>
          <a:p>
            <a:pPr>
              <a:spcAft>
                <a:spcPts val="200"/>
              </a:spcAft>
              <a:defRPr sz="950">
                <a:solidFill>
                  <a:srgbClr val="0F172A"/>
                </a:solidFill>
                <a:latin typeface="Consolas"/>
              </a:defRPr>
            </a:pPr>
            <a:r>
              <a:t># Cline -&gt; Settings -&gt; Model ID</a:t>
            </a:r>
          </a:p>
          <a:p>
            <a:pPr>
              <a:spcAft>
                <a:spcPts val="200"/>
              </a:spcAft>
              <a:defRPr sz="950">
                <a:solidFill>
                  <a:srgbClr val="0F172A"/>
                </a:solidFill>
                <a:latin typeface="Consolas"/>
              </a:defRPr>
            </a:pPr>
            <a:r>
              <a:t># curl  -&gt; campo "model" no JSON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Maior ou menor? O dial de tamanho no model_config.yaml</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28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Flexibilidade por hardware — </a:t>
            </a:r>
            <a:r>
              <a:rPr b="0">
                <a:solidFill>
                  <a:srgbClr val="475569"/>
                </a:solidFill>
              </a:rPr>
              <a:t>dial de modelos prontos pré-configurados no arquivo local do usuário</a:t>
            </a:r>
          </a:p>
          <a:p>
            <a:pPr>
              <a:lnSpc>
                <a:spcPct val="125000"/>
              </a:lnSpc>
              <a:spcBef>
                <a:spcPts val="800"/>
              </a:spcBef>
              <a:spcAft>
                <a:spcPts val="1000"/>
              </a:spcAft>
              <a:defRPr sz="1300">
                <a:latin typeface="Segoe UI"/>
              </a:defRPr>
            </a:pPr>
            <a:r>
              <a:rPr b="1">
                <a:solidFill>
                  <a:srgbClr val="006FE6"/>
                </a:solidFill>
              </a:rPr>
              <a:t>Ajuste fino de escopo — </a:t>
            </a:r>
            <a:r>
              <a:rPr b="0">
                <a:solidFill>
                  <a:srgbClr val="475569"/>
                </a:solidFill>
              </a:rPr>
              <a:t>modelos de 4B operam rápido em notebooks modestos, MoEs maiores escalam robustez</a:t>
            </a:r>
          </a:p>
        </p:txBody>
      </p:sp>
      <p:graphicFrame>
        <p:nvGraphicFramePr>
          <p:cNvPr id="10" name="Table 9"/>
          <p:cNvGraphicFramePr>
            <a:graphicFrameLocks noGrp="1"/>
          </p:cNvGraphicFramePr>
          <p:nvPr/>
        </p:nvGraphicFramePr>
        <p:xfrm>
          <a:off x="6248095" y="1463040"/>
          <a:ext cx="5394960" cy="1828800"/>
        </p:xfrm>
        <a:graphic>
          <a:graphicData uri="http://schemas.openxmlformats.org/drawingml/2006/table">
            <a:tbl>
              <a:tblPr firstRow="1" bandRow="1">
                <a:tableStyleId>{5C22544A-7EE6-4342-B048-85BDC9FD1C3A}</a:tableStyleId>
              </a:tblPr>
              <a:tblGrid>
                <a:gridCol w="1348740"/>
                <a:gridCol w="1348740"/>
                <a:gridCol w="1348740"/>
                <a:gridCol w="1348740"/>
              </a:tblGrid>
              <a:tr h="365760">
                <a:tc>
                  <a:txBody>
                    <a:bodyPr wrap="square"/>
                    <a:lstStyle/>
                    <a:p>
                      <a:pPr algn="l"/>
                      <a:r>
                        <a:rPr b="1" sz="1100">
                          <a:solidFill>
                            <a:srgbClr val="00D2FF"/>
                          </a:solidFill>
                          <a:latin typeface="Segoe UI"/>
                        </a:rPr>
                        <a:t>Modelo</a:t>
                      </a:r>
                    </a:p>
                  </a:txBody>
                  <a:tcPr>
                    <a:solidFill>
                      <a:srgbClr val="0A2540"/>
                    </a:solidFill>
                  </a:tcPr>
                </a:tc>
                <a:tc>
                  <a:txBody>
                    <a:bodyPr wrap="square"/>
                    <a:lstStyle/>
                    <a:p>
                      <a:pPr algn="ctr"/>
                      <a:r>
                        <a:rPr b="1" sz="1100">
                          <a:solidFill>
                            <a:srgbClr val="00D2FF"/>
                          </a:solidFill>
                          <a:latin typeface="Segoe UI"/>
                        </a:rPr>
                        <a:t>Tamanho / Tipo</a:t>
                      </a:r>
                    </a:p>
                  </a:txBody>
                  <a:tcPr>
                    <a:solidFill>
                      <a:srgbClr val="0A2540"/>
                    </a:solidFill>
                  </a:tcPr>
                </a:tc>
                <a:tc>
                  <a:txBody>
                    <a:bodyPr wrap="square"/>
                    <a:lstStyle/>
                    <a:p>
                      <a:pPr algn="ctr"/>
                      <a:r>
                        <a:rPr b="1" sz="1100">
                          <a:solidFill>
                            <a:srgbClr val="00D2FF"/>
                          </a:solidFill>
                          <a:latin typeface="Segoe UI"/>
                        </a:rPr>
                        <a:t>Contexto Suportado</a:t>
                      </a:r>
                    </a:p>
                  </a:txBody>
                  <a:tcPr>
                    <a:solidFill>
                      <a:srgbClr val="0A2540"/>
                    </a:solidFill>
                  </a:tcPr>
                </a:tc>
                <a:tc>
                  <a:txBody>
                    <a:bodyPr wrap="square"/>
                    <a:lstStyle/>
                    <a:p>
                      <a:pPr algn="ctr"/>
                      <a:r>
                        <a:rPr b="1" sz="1100">
                          <a:solidFill>
                            <a:srgbClr val="00D2FF"/>
                          </a:solidFill>
                          <a:latin typeface="Segoe UI"/>
                        </a:rPr>
                        <a:t>Status Atual</a:t>
                      </a:r>
                    </a:p>
                  </a:txBody>
                  <a:tcPr>
                    <a:solidFill>
                      <a:srgbClr val="0A2540"/>
                    </a:solidFill>
                  </a:tcPr>
                </a:tc>
              </a:tr>
              <a:tr h="365760">
                <a:tc>
                  <a:txBody>
                    <a:bodyPr wrap="square"/>
                    <a:lstStyle/>
                    <a:p>
                      <a:pPr algn="l"/>
                      <a:r>
                        <a:rPr b="0" sz="1000">
                          <a:solidFill>
                            <a:srgbClr val="0F172A"/>
                          </a:solidFill>
                          <a:latin typeface="Segoe UI"/>
                        </a:rPr>
                        <a:t>Qwopus3.5-4B-Coder</a:t>
                      </a:r>
                    </a:p>
                  </a:txBody>
                  <a:tcPr>
                    <a:solidFill>
                      <a:srgbClr val="F8FAFC"/>
                    </a:solidFill>
                  </a:tcPr>
                </a:tc>
                <a:tc>
                  <a:txBody>
                    <a:bodyPr wrap="square"/>
                    <a:lstStyle/>
                    <a:p>
                      <a:pPr algn="ctr"/>
                      <a:r>
                        <a:rPr b="0" sz="1000">
                          <a:solidFill>
                            <a:srgbClr val="0F172A"/>
                          </a:solidFill>
                          <a:latin typeface="Segoe UI"/>
                        </a:rPr>
                        <a:t>4B (Ultra leve)</a:t>
                      </a:r>
                    </a:p>
                  </a:txBody>
                  <a:tcPr>
                    <a:solidFill>
                      <a:srgbClr val="F8FAFC"/>
                    </a:solidFill>
                  </a:tcPr>
                </a:tc>
                <a:tc>
                  <a:txBody>
                    <a:bodyPr wrap="square"/>
                    <a:lstStyle/>
                    <a:p>
                      <a:pPr algn="ctr"/>
                      <a:r>
                        <a:rPr b="0" sz="1000">
                          <a:solidFill>
                            <a:srgbClr val="0F172A"/>
                          </a:solidFill>
                          <a:latin typeface="Segoe UI"/>
                        </a:rPr>
                        <a:t>73.728 tokens</a:t>
                      </a:r>
                    </a:p>
                  </a:txBody>
                  <a:tcPr>
                    <a:solidFill>
                      <a:srgbClr val="F8FAFC"/>
                    </a:solidFill>
                  </a:tcPr>
                </a:tc>
                <a:tc>
                  <a:txBody>
                    <a:bodyPr wrap="square"/>
                    <a:lstStyle/>
                    <a:p>
                      <a:pPr algn="ctr"/>
                      <a:r>
                        <a:rPr b="0" sz="1000">
                          <a:solidFill>
                            <a:srgbClr val="0F172A"/>
                          </a:solidFill>
                          <a:latin typeface="Segoe UI"/>
                        </a:rPr>
                        <a:t>Não Baixado (configurado)</a:t>
                      </a:r>
                    </a:p>
                  </a:txBody>
                  <a:tcPr>
                    <a:solidFill>
                      <a:srgbClr val="F8FAFC"/>
                    </a:solidFill>
                  </a:tcPr>
                </a:tc>
              </a:tr>
              <a:tr h="365760">
                <a:tc>
                  <a:txBody>
                    <a:bodyPr wrap="square"/>
                    <a:lstStyle/>
                    <a:p>
                      <a:pPr algn="l"/>
                      <a:r>
                        <a:rPr b="0" sz="1000">
                          <a:solidFill>
                            <a:srgbClr val="0F172A"/>
                          </a:solidFill>
                          <a:latin typeface="Segoe UI"/>
                        </a:rPr>
                        <a:t>gpt-oss-20b-Q8_0</a:t>
                      </a:r>
                    </a:p>
                  </a:txBody>
                  <a:tcPr>
                    <a:solidFill>
                      <a:srgbClr val="FFFFFF"/>
                    </a:solidFill>
                  </a:tcPr>
                </a:tc>
                <a:tc>
                  <a:txBody>
                    <a:bodyPr wrap="square"/>
                    <a:lstStyle/>
                    <a:p>
                      <a:pPr algn="ctr"/>
                      <a:r>
                        <a:rPr b="0" sz="1000">
                          <a:solidFill>
                            <a:srgbClr val="0F172A"/>
                          </a:solidFill>
                          <a:latin typeface="Segoe UI"/>
                        </a:rPr>
                        <a:t>20B (MoE, Equilibrado)</a:t>
                      </a:r>
                    </a:p>
                  </a:txBody>
                  <a:tcPr>
                    <a:solidFill>
                      <a:srgbClr val="FFFFFF"/>
                    </a:solidFill>
                  </a:tcPr>
                </a:tc>
                <a:tc>
                  <a:txBody>
                    <a:bodyPr wrap="square"/>
                    <a:lstStyle/>
                    <a:p>
                      <a:pPr algn="ctr"/>
                      <a:r>
                        <a:rPr b="0" sz="1000">
                          <a:solidFill>
                            <a:srgbClr val="0F172A"/>
                          </a:solidFill>
                          <a:latin typeface="Segoe UI"/>
                        </a:rPr>
                        <a:t>32.768 tokens</a:t>
                      </a:r>
                    </a:p>
                  </a:txBody>
                  <a:tcPr>
                    <a:solidFill>
                      <a:srgbClr val="FFFFFF"/>
                    </a:solidFill>
                  </a:tcPr>
                </a:tc>
                <a:tc>
                  <a:txBody>
                    <a:bodyPr wrap="square"/>
                    <a:lstStyle/>
                    <a:p>
                      <a:pPr algn="ctr"/>
                      <a:r>
                        <a:rPr b="0" sz="1000">
                          <a:solidFill>
                            <a:srgbClr val="0F172A"/>
                          </a:solidFill>
                          <a:latin typeface="Segoe UI"/>
                        </a:rPr>
                        <a:t>Baixado e Quente (Uso atual)</a:t>
                      </a:r>
                    </a:p>
                  </a:txBody>
                  <a:tcPr>
                    <a:solidFill>
                      <a:srgbClr val="FFFFFF"/>
                    </a:solidFill>
                  </a:tcPr>
                </a:tc>
              </a:tr>
              <a:tr h="365760">
                <a:tc>
                  <a:txBody>
                    <a:bodyPr wrap="square"/>
                    <a:lstStyle/>
                    <a:p>
                      <a:pPr algn="l"/>
                      <a:r>
                        <a:rPr b="0" sz="1000">
                          <a:solidFill>
                            <a:srgbClr val="0F172A"/>
                          </a:solidFill>
                          <a:latin typeface="Segoe UI"/>
                        </a:rPr>
                        <a:t>gemma-4-26B-A4B-it</a:t>
                      </a:r>
                    </a:p>
                  </a:txBody>
                  <a:tcPr>
                    <a:solidFill>
                      <a:srgbClr val="F8FAFC"/>
                    </a:solidFill>
                  </a:tcPr>
                </a:tc>
                <a:tc>
                  <a:txBody>
                    <a:bodyPr wrap="square"/>
                    <a:lstStyle/>
                    <a:p>
                      <a:pPr algn="ctr"/>
                      <a:r>
                        <a:rPr b="0" sz="1000">
                          <a:solidFill>
                            <a:srgbClr val="0F172A"/>
                          </a:solidFill>
                          <a:latin typeface="Segoe UI"/>
                        </a:rPr>
                        <a:t>26B (MoE, Completo)</a:t>
                      </a:r>
                    </a:p>
                  </a:txBody>
                  <a:tcPr>
                    <a:solidFill>
                      <a:srgbClr val="F8FAFC"/>
                    </a:solidFill>
                  </a:tcPr>
                </a:tc>
                <a:tc>
                  <a:txBody>
                    <a:bodyPr wrap="square"/>
                    <a:lstStyle/>
                    <a:p>
                      <a:pPr algn="ctr"/>
                      <a:r>
                        <a:rPr b="0" sz="1000">
                          <a:solidFill>
                            <a:srgbClr val="0F172A"/>
                          </a:solidFill>
                          <a:latin typeface="Segoe UI"/>
                        </a:rPr>
                        <a:t>131.072 tokens</a:t>
                      </a:r>
                    </a:p>
                  </a:txBody>
                  <a:tcPr>
                    <a:solidFill>
                      <a:srgbClr val="F8FAFC"/>
                    </a:solidFill>
                  </a:tcPr>
                </a:tc>
                <a:tc>
                  <a:txBody>
                    <a:bodyPr wrap="square"/>
                    <a:lstStyle/>
                    <a:p>
                      <a:pPr algn="ctr"/>
                      <a:r>
                        <a:rPr b="0" sz="1000">
                          <a:solidFill>
                            <a:srgbClr val="0F172A"/>
                          </a:solidFill>
                          <a:latin typeface="Segoe UI"/>
                        </a:rPr>
                        <a:t>Não Baixado (configurado)</a:t>
                      </a:r>
                    </a:p>
                  </a:txBody>
                  <a:tcPr>
                    <a:solidFill>
                      <a:srgbClr val="F8FAFC"/>
                    </a:solidFill>
                  </a:tcPr>
                </a:tc>
              </a:tr>
              <a:tr h="365760">
                <a:tc>
                  <a:txBody>
                    <a:bodyPr wrap="square"/>
                    <a:lstStyle/>
                    <a:p>
                      <a:pPr algn="l"/>
                      <a:r>
                        <a:rPr b="0" sz="1000">
                          <a:solidFill>
                            <a:srgbClr val="0F172A"/>
                          </a:solidFill>
                          <a:latin typeface="Segoe UI"/>
                        </a:rPr>
                        <a:t>Qwen3.6-35B-A3B</a:t>
                      </a:r>
                    </a:p>
                  </a:txBody>
                  <a:tcPr>
                    <a:solidFill>
                      <a:srgbClr val="FFFFFF"/>
                    </a:solidFill>
                  </a:tcPr>
                </a:tc>
                <a:tc>
                  <a:txBody>
                    <a:bodyPr wrap="square"/>
                    <a:lstStyle/>
                    <a:p>
                      <a:pPr algn="ctr"/>
                      <a:r>
                        <a:rPr b="0" sz="1000">
                          <a:solidFill>
                            <a:srgbClr val="0F172A"/>
                          </a:solidFill>
                          <a:latin typeface="Segoe UI"/>
                        </a:rPr>
                        <a:t>35B (MoE, Avançado)</a:t>
                      </a:r>
                    </a:p>
                  </a:txBody>
                  <a:tcPr>
                    <a:solidFill>
                      <a:srgbClr val="FFFFFF"/>
                    </a:solidFill>
                  </a:tcPr>
                </a:tc>
                <a:tc>
                  <a:txBody>
                    <a:bodyPr wrap="square"/>
                    <a:lstStyle/>
                    <a:p>
                      <a:pPr algn="ctr"/>
                      <a:r>
                        <a:rPr b="0" sz="1000">
                          <a:solidFill>
                            <a:srgbClr val="0F172A"/>
                          </a:solidFill>
                          <a:latin typeface="Segoe UI"/>
                        </a:rPr>
                        <a:t>131.072 tokens</a:t>
                      </a:r>
                    </a:p>
                  </a:txBody>
                  <a:tcPr>
                    <a:solidFill>
                      <a:srgbClr val="FFFFFF"/>
                    </a:solidFill>
                  </a:tcPr>
                </a:tc>
                <a:tc>
                  <a:txBody>
                    <a:bodyPr wrap="square"/>
                    <a:lstStyle/>
                    <a:p>
                      <a:pPr algn="ctr"/>
                      <a:r>
                        <a:rPr b="0" sz="1000">
                          <a:solidFill>
                            <a:srgbClr val="0F172A"/>
                          </a:solidFill>
                          <a:latin typeface="Segoe UI"/>
                        </a:rPr>
                        <a:t>Não Baixado (configurado)</a:t>
                      </a:r>
                    </a:p>
                  </a:txBody>
                  <a:tcP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Resumo / Takeaways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29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Local-first viável — </a:t>
            </a:r>
            <a:r>
              <a:rPr b="0">
                <a:solidFill>
                  <a:srgbClr val="475569"/>
                </a:solidFill>
              </a:rPr>
              <a:t>Kronk com aceleração nativa Metal entrega vazão comercializável em desktop local</a:t>
            </a:r>
          </a:p>
          <a:p>
            <a:pPr>
              <a:lnSpc>
                <a:spcPct val="125000"/>
              </a:lnSpc>
              <a:spcBef>
                <a:spcPts val="800"/>
              </a:spcBef>
              <a:spcAft>
                <a:spcPts val="1000"/>
              </a:spcAft>
              <a:defRPr sz="1300">
                <a:latin typeface="Segoe UI"/>
              </a:defRPr>
            </a:pPr>
            <a:r>
              <a:rPr b="1">
                <a:solidFill>
                  <a:srgbClr val="006FE6"/>
                </a:solidFill>
              </a:rPr>
              <a:t>Conceito de MoE consistente — </a:t>
            </a:r>
            <a:r>
              <a:rPr b="0">
                <a:solidFill>
                  <a:srgbClr val="475569"/>
                </a:solidFill>
              </a:rPr>
              <a:t>especialistas segmentados economizam processamento em qualquer hardware</a:t>
            </a:r>
          </a:p>
          <a:p>
            <a:pPr>
              <a:lnSpc>
                <a:spcPct val="125000"/>
              </a:lnSpc>
              <a:spcBef>
                <a:spcPts val="800"/>
              </a:spcBef>
              <a:spcAft>
                <a:spcPts val="1000"/>
              </a:spcAft>
              <a:defRPr sz="1300">
                <a:latin typeface="Segoe UI"/>
              </a:defRPr>
            </a:pPr>
            <a:r>
              <a:rPr b="1">
                <a:solidFill>
                  <a:srgbClr val="006FE6"/>
                </a:solidFill>
              </a:rPr>
              <a:t>Documentação manda — </a:t>
            </a:r>
            <a:r>
              <a:rPr b="0">
                <a:solidFill>
                  <a:srgbClr val="475569"/>
                </a:solidFill>
              </a:rPr>
              <a:t>a escala invertida de ngpu-layers do Kronk exige atenção para não travar em CPU</a:t>
            </a:r>
          </a:p>
          <a:p>
            <a:pPr>
              <a:lnSpc>
                <a:spcPct val="125000"/>
              </a:lnSpc>
              <a:spcBef>
                <a:spcPts val="800"/>
              </a:spcBef>
              <a:spcAft>
                <a:spcPts val="1000"/>
              </a:spcAft>
              <a:defRPr sz="1300">
                <a:latin typeface="Segoe UI"/>
              </a:defRPr>
            </a:pPr>
            <a:r>
              <a:rPr b="1">
                <a:solidFill>
                  <a:srgbClr val="006FE6"/>
                </a:solidFill>
              </a:rPr>
              <a:t>Empirismo na prática — </a:t>
            </a:r>
            <a:r>
              <a:rPr b="0">
                <a:solidFill>
                  <a:srgbClr val="475569"/>
                </a:solidFill>
              </a:rPr>
              <a:t>otimização de IA exige medição de bottlenecks reais, não chutes</a:t>
            </a:r>
          </a:p>
          <a:p>
            <a:pPr>
              <a:lnSpc>
                <a:spcPct val="125000"/>
              </a:lnSpc>
              <a:spcBef>
                <a:spcPts val="800"/>
              </a:spcBef>
              <a:spcAft>
                <a:spcPts val="1000"/>
              </a:spcAft>
              <a:defRPr sz="1300">
                <a:latin typeface="Segoe UI"/>
              </a:defRPr>
            </a:pPr>
            <a:r>
              <a:rPr b="1">
                <a:solidFill>
                  <a:srgbClr val="006FE6"/>
                </a:solidFill>
              </a:rPr>
              <a:t>Flexibilidade de runtime — </a:t>
            </a:r>
            <a:r>
              <a:rPr b="0">
                <a:solidFill>
                  <a:srgbClr val="475569"/>
                </a:solidFill>
              </a:rPr>
              <a:t>controle de raciocínio e troca de modelos ao vivo na infra em execução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 Grande Pergunta: Kronk vs Ollama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30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Por que não o Ollama? — </a:t>
            </a:r>
            <a:r>
              <a:rPr b="0">
                <a:solidFill>
                  <a:srgbClr val="475569"/>
                </a:solidFill>
              </a:rPr>
              <a:t>Todo desenvolvedor Go usará essa pergunta clássica como barreira de entrada técnica</a:t>
            </a:r>
          </a:p>
          <a:p>
            <a:pPr>
              <a:lnSpc>
                <a:spcPct val="125000"/>
              </a:lnSpc>
              <a:spcBef>
                <a:spcPts val="800"/>
              </a:spcBef>
              <a:spcAft>
                <a:spcPts val="1000"/>
              </a:spcAft>
              <a:defRPr sz="1300">
                <a:latin typeface="Segoe UI"/>
              </a:defRPr>
            </a:pPr>
            <a:r>
              <a:rPr b="1">
                <a:solidFill>
                  <a:srgbClr val="006FE6"/>
                </a:solidFill>
              </a:rPr>
              <a:t>Ollama (A Abordagem Daemon) — </a:t>
            </a:r>
            <a:r>
              <a:rPr b="0">
                <a:solidFill>
                  <a:srgbClr val="475569"/>
                </a:solidFill>
              </a:rPr>
              <a:t>Excelente ferramenta CLI desktop, mas atua como daemon fechado externo e opaco</a:t>
            </a:r>
          </a:p>
          <a:p>
            <a:pPr>
              <a:lnSpc>
                <a:spcPct val="125000"/>
              </a:lnSpc>
              <a:spcBef>
                <a:spcPts val="800"/>
              </a:spcBef>
              <a:spcAft>
                <a:spcPts val="1000"/>
              </a:spcAft>
              <a:defRPr sz="1300">
                <a:latin typeface="Segoe UI"/>
              </a:defRPr>
            </a:pPr>
            <a:r>
              <a:rPr b="1">
                <a:solidFill>
                  <a:srgbClr val="006FE6"/>
                </a:solidFill>
              </a:rPr>
              <a:t>Kronk (In-Process Go SDK) — </a:t>
            </a:r>
            <a:r>
              <a:rPr b="0">
                <a:solidFill>
                  <a:srgbClr val="475569"/>
                </a:solidFill>
              </a:rPr>
              <a:t>Biblioteca nativa em Go que permite carregar modelos e embeddings diretamente no seu processo Go</a:t>
            </a:r>
          </a:p>
          <a:p>
            <a:pPr>
              <a:lnSpc>
                <a:spcPct val="125000"/>
              </a:lnSpc>
              <a:spcBef>
                <a:spcPts val="800"/>
              </a:spcBef>
              <a:spcAft>
                <a:spcPts val="1000"/>
              </a:spcAft>
              <a:defRPr sz="1300">
                <a:latin typeface="Segoe UI"/>
              </a:defRPr>
            </a:pPr>
            <a:r>
              <a:rPr b="1">
                <a:solidFill>
                  <a:srgbClr val="006FE6"/>
                </a:solidFill>
              </a:rPr>
              <a:t>Embutido de Verdade — </a:t>
            </a:r>
            <a:r>
              <a:rPr b="0">
                <a:solidFill>
                  <a:srgbClr val="475569"/>
                </a:solidFill>
              </a:rPr>
              <a:t>Usamos o Kronk SDK dentro do `vault_smart` para carregar o `embeddinggemma` de forma programática</a:t>
            </a:r>
          </a:p>
          <a:p>
            <a:pPr>
              <a:lnSpc>
                <a:spcPct val="125000"/>
              </a:lnSpc>
              <a:spcBef>
                <a:spcPts val="800"/>
              </a:spcBef>
              <a:spcAft>
                <a:spcPts val="1000"/>
              </a:spcAft>
              <a:defRPr sz="1300">
                <a:latin typeface="Segoe UI"/>
              </a:defRPr>
            </a:pPr>
            <a:r>
              <a:rPr b="1">
                <a:solidFill>
                  <a:srgbClr val="006FE6"/>
                </a:solidFill>
              </a:rPr>
              <a:t>Otimizações de Agentes (IMC) — </a:t>
            </a:r>
            <a:r>
              <a:rPr b="0">
                <a:solidFill>
                  <a:srgbClr val="475569"/>
                </a:solidFill>
              </a:rPr>
              <a:t>O Kronk traz o Cache Incremental de Mensagens (IMC) nativo e afinado para workflows agênticos</a:t>
            </a:r>
          </a:p>
          <a:p>
            <a:pPr>
              <a:lnSpc>
                <a:spcPct val="125000"/>
              </a:lnSpc>
              <a:spcBef>
                <a:spcPts val="800"/>
              </a:spcBef>
              <a:spcAft>
                <a:spcPts val="1000"/>
              </a:spcAft>
              <a:defRPr sz="1300">
                <a:latin typeface="Segoe UI"/>
              </a:defRPr>
            </a:pPr>
            <a:r>
              <a:rPr b="1">
                <a:solidFill>
                  <a:srgbClr val="006FE6"/>
                </a:solidFill>
              </a:rPr>
              <a:t>Controle de Baixo Nível — </a:t>
            </a:r>
            <a:r>
              <a:rPr b="0">
                <a:solidFill>
                  <a:srgbClr val="475569"/>
                </a:solidFill>
              </a:rPr>
              <a:t>Controle total sobre buffers, threads, caches e pool de modelos declarados via YAML ou código Go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03</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03</a:t>
            </a:r>
          </a:p>
          <a:p>
            <a:pPr>
              <a:spcAft>
                <a:spcPts val="1500"/>
              </a:spcAft>
              <a:defRPr sz="3600" b="1">
                <a:solidFill>
                  <a:srgbClr val="FFFFFF"/>
                </a:solidFill>
                <a:latin typeface="Segoe UI"/>
              </a:defRPr>
            </a:pPr>
            <a:r>
              <a:t>POR DENTRO DO CÓDIGO</a:t>
            </a:r>
          </a:p>
          <a:p>
            <a:pPr>
              <a:spcBef>
                <a:spcPts val="1500"/>
              </a:spcBef>
              <a:defRPr sz="1500">
                <a:solidFill>
                  <a:srgbClr val="94A3B8"/>
                </a:solidFill>
                <a:latin typeface="Segoe UI"/>
              </a:defRPr>
            </a:pPr>
            <a:r>
              <a:t>Análise técnica comparativa: do servidor MCP ingênuo ao indexador semântico</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Desafio do Contexto: Por que 25 Tasks?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31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Ruído Estrutural do Backlog — </a:t>
            </a:r>
            <a:r>
              <a:rPr b="0">
                <a:solidFill>
                  <a:srgbClr val="475569"/>
                </a:solidFill>
              </a:rPr>
              <a:t>Projetos reais contêm centenas de tickets, arquivos legados e documentações</a:t>
            </a:r>
          </a:p>
          <a:p>
            <a:pPr>
              <a:lnSpc>
                <a:spcPct val="125000"/>
              </a:lnSpc>
              <a:spcBef>
                <a:spcPts val="800"/>
              </a:spcBef>
              <a:spcAft>
                <a:spcPts val="1000"/>
              </a:spcAft>
              <a:defRPr sz="1300">
                <a:latin typeface="Segoe UI"/>
              </a:defRPr>
            </a:pPr>
            <a:r>
              <a:rPr b="1">
                <a:solidFill>
                  <a:srgbClr val="006FE6"/>
                </a:solidFill>
              </a:rPr>
              <a:t>Inchaço de Janela de Contexto — </a:t>
            </a:r>
            <a:r>
              <a:rPr b="0">
                <a:solidFill>
                  <a:srgbClr val="475569"/>
                </a:solidFill>
              </a:rPr>
              <a:t>Abordagem ingênua (manda tudo) consome ~47k tokens por chamada</a:t>
            </a:r>
          </a:p>
          <a:p>
            <a:pPr>
              <a:lnSpc>
                <a:spcPct val="125000"/>
              </a:lnSpc>
              <a:spcBef>
                <a:spcPts val="800"/>
              </a:spcBef>
              <a:spcAft>
                <a:spcPts val="1000"/>
              </a:spcAft>
              <a:defRPr sz="1300">
                <a:latin typeface="Segoe UI"/>
              </a:defRPr>
            </a:pPr>
            <a:r>
              <a:rPr b="1">
                <a:solidFill>
                  <a:srgbClr val="006FE6"/>
                </a:solidFill>
              </a:rPr>
              <a:t>Diluição de Atenção (Lost in the Middle) — </a:t>
            </a:r>
            <a:r>
              <a:rPr b="0">
                <a:solidFill>
                  <a:srgbClr val="475569"/>
                </a:solidFill>
              </a:rPr>
              <a:t>Modelos tendem a ignorar detalhes ocultos no meio de prompts gigantes</a:t>
            </a:r>
          </a:p>
          <a:p>
            <a:pPr>
              <a:lnSpc>
                <a:spcPct val="125000"/>
              </a:lnSpc>
              <a:spcBef>
                <a:spcPts val="800"/>
              </a:spcBef>
              <a:spcAft>
                <a:spcPts val="1000"/>
              </a:spcAft>
              <a:defRPr sz="1300">
                <a:latin typeface="Segoe UI"/>
              </a:defRPr>
            </a:pPr>
            <a:r>
              <a:rPr b="1">
                <a:solidFill>
                  <a:srgbClr val="006FE6"/>
                </a:solidFill>
              </a:rPr>
              <a:t>Degradação de Velocidade — </a:t>
            </a:r>
            <a:r>
              <a:rPr b="0">
                <a:solidFill>
                  <a:srgbClr val="475569"/>
                </a:solidFill>
              </a:rPr>
              <a:t>Processar 47k de histórico local-first eleva o tempo de prefill inviabilizando a resposta</a:t>
            </a:r>
          </a:p>
          <a:p>
            <a:pPr>
              <a:lnSpc>
                <a:spcPct val="125000"/>
              </a:lnSpc>
              <a:spcBef>
                <a:spcPts val="800"/>
              </a:spcBef>
              <a:spcAft>
                <a:spcPts val="1000"/>
              </a:spcAft>
              <a:defRPr sz="1300">
                <a:latin typeface="Segoe UI"/>
              </a:defRPr>
            </a:pPr>
            <a:r>
              <a:rPr b="1">
                <a:solidFill>
                  <a:srgbClr val="006FE6"/>
                </a:solidFill>
              </a:rPr>
              <a:t>Inviabilidade Financeira — </a:t>
            </a:r>
            <a:r>
              <a:rPr b="0">
                <a:solidFill>
                  <a:srgbClr val="475569"/>
                </a:solidFill>
              </a:rPr>
              <a:t>Enviar ruído para APIs pagas destrói a viabilidade comercial do projeto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 Solução Inteligente: Busca Semântica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32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Embeddings de Documentos — </a:t>
            </a:r>
            <a:r>
              <a:rPr b="0">
                <a:solidFill>
                  <a:srgbClr val="475569"/>
                </a:solidFill>
              </a:rPr>
              <a:t>Modelo embeddinggemma converte cada arquivo markdown em um vetor numérico denso</a:t>
            </a:r>
          </a:p>
          <a:p>
            <a:pPr>
              <a:lnSpc>
                <a:spcPct val="125000"/>
              </a:lnSpc>
              <a:spcBef>
                <a:spcPts val="800"/>
              </a:spcBef>
              <a:spcAft>
                <a:spcPts val="1000"/>
              </a:spcAft>
              <a:defRPr sz="1300">
                <a:latin typeface="Segoe UI"/>
              </a:defRPr>
            </a:pPr>
            <a:r>
              <a:rPr b="1">
                <a:solidFill>
                  <a:srgbClr val="006FE6"/>
                </a:solidFill>
              </a:rPr>
              <a:t>Coordenadas de Significado — </a:t>
            </a:r>
            <a:r>
              <a:rPr b="0">
                <a:solidFill>
                  <a:srgbClr val="475569"/>
                </a:solidFill>
              </a:rPr>
              <a:t>O vetor de 768 dimensões mapeia a semântica do texto em um espaço geométrico</a:t>
            </a:r>
          </a:p>
          <a:p>
            <a:pPr>
              <a:lnSpc>
                <a:spcPct val="125000"/>
              </a:lnSpc>
              <a:spcBef>
                <a:spcPts val="800"/>
              </a:spcBef>
              <a:spcAft>
                <a:spcPts val="1000"/>
              </a:spcAft>
              <a:defRPr sz="1300">
                <a:latin typeface="Segoe UI"/>
              </a:defRPr>
            </a:pPr>
            <a:r>
              <a:rPr b="1">
                <a:solidFill>
                  <a:srgbClr val="006FE6"/>
                </a:solidFill>
              </a:rPr>
              <a:t>Busca por Proximidade — </a:t>
            </a:r>
            <a:r>
              <a:rPr b="0">
                <a:solidFill>
                  <a:srgbClr val="475569"/>
                </a:solidFill>
              </a:rPr>
              <a:t>A pergunta do desenvolvedor é vetorizada e comparada geometricamente com o backlog</a:t>
            </a:r>
          </a:p>
          <a:p>
            <a:pPr>
              <a:lnSpc>
                <a:spcPct val="125000"/>
              </a:lnSpc>
              <a:spcBef>
                <a:spcPts val="800"/>
              </a:spcBef>
              <a:spcAft>
                <a:spcPts val="1000"/>
              </a:spcAft>
              <a:defRPr sz="1300">
                <a:latin typeface="Segoe UI"/>
              </a:defRPr>
            </a:pPr>
            <a:r>
              <a:rPr b="1">
                <a:solidFill>
                  <a:srgbClr val="006FE6"/>
                </a:solidFill>
              </a:rPr>
              <a:t>Superação de Palavras-Chave — </a:t>
            </a:r>
            <a:r>
              <a:rPr b="0">
                <a:solidFill>
                  <a:srgbClr val="475569"/>
                </a:solidFill>
              </a:rPr>
              <a:t>Termos correlatos (ex: 'faturamento' e 'reembolso') aproximam-se sem termos idênticos</a:t>
            </a:r>
          </a:p>
          <a:p>
            <a:pPr>
              <a:lnSpc>
                <a:spcPct val="125000"/>
              </a:lnSpc>
              <a:spcBef>
                <a:spcPts val="800"/>
              </a:spcBef>
              <a:spcAft>
                <a:spcPts val="1000"/>
              </a:spcAft>
              <a:defRPr sz="1300">
                <a:latin typeface="Segoe UI"/>
              </a:defRPr>
            </a:pPr>
            <a:r>
              <a:rPr b="1">
                <a:solidFill>
                  <a:srgbClr val="006FE6"/>
                </a:solidFill>
              </a:rPr>
              <a:t>Filtragem Cirúrgica — </a:t>
            </a:r>
            <a:r>
              <a:rPr b="0">
                <a:solidFill>
                  <a:srgbClr val="475569"/>
                </a:solidFill>
              </a:rPr>
              <a:t>Recupera apenas as top-3 tarefas mais compatíveis, derrubando o contexto em 90%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Motor do Vetor: DuckDB + VSS + HNSW</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33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Mecanismo In-Memory — </a:t>
            </a:r>
            <a:r>
              <a:rPr b="0">
                <a:solidFill>
                  <a:srgbClr val="475569"/>
                </a:solidFill>
              </a:rPr>
              <a:t>DuckDB inicializa instantaneamente em RAM dentro do próprio processo Go do MCP</a:t>
            </a:r>
          </a:p>
          <a:p>
            <a:pPr>
              <a:lnSpc>
                <a:spcPct val="125000"/>
              </a:lnSpc>
              <a:spcBef>
                <a:spcPts val="800"/>
              </a:spcBef>
              <a:spcAft>
                <a:spcPts val="1000"/>
              </a:spcAft>
              <a:defRPr sz="1300">
                <a:latin typeface="Segoe UI"/>
              </a:defRPr>
            </a:pPr>
            <a:r>
              <a:rPr b="1">
                <a:solidFill>
                  <a:srgbClr val="006FE6"/>
                </a:solidFill>
              </a:rPr>
              <a:t>Extensão DuckDB VSS — </a:t>
            </a:r>
            <a:r>
              <a:rPr b="0">
                <a:solidFill>
                  <a:srgbClr val="475569"/>
                </a:solidFill>
              </a:rPr>
              <a:t>Adiciona suporte nativo a tipos vetoriais (FLOAT[768]) e funções matemáticas</a:t>
            </a:r>
          </a:p>
          <a:p>
            <a:pPr>
              <a:lnSpc>
                <a:spcPct val="125000"/>
              </a:lnSpc>
              <a:spcBef>
                <a:spcPts val="800"/>
              </a:spcBef>
              <a:spcAft>
                <a:spcPts val="1000"/>
              </a:spcAft>
              <a:defRPr sz="1300">
                <a:latin typeface="Segoe UI"/>
              </a:defRPr>
            </a:pPr>
            <a:r>
              <a:rPr b="1">
                <a:solidFill>
                  <a:srgbClr val="006FE6"/>
                </a:solidFill>
              </a:rPr>
              <a:t>Índice HNSW (Hierarchical Navigable Small World) — </a:t>
            </a:r>
            <a:r>
              <a:rPr b="0">
                <a:solidFill>
                  <a:srgbClr val="475569"/>
                </a:solidFill>
              </a:rPr>
              <a:t>Algoritmo de grafo para busca rápida de vizinhos próximos</a:t>
            </a:r>
          </a:p>
          <a:p>
            <a:pPr>
              <a:lnSpc>
                <a:spcPct val="125000"/>
              </a:lnSpc>
              <a:spcBef>
                <a:spcPts val="800"/>
              </a:spcBef>
              <a:spcAft>
                <a:spcPts val="1000"/>
              </a:spcAft>
              <a:defRPr sz="1300">
                <a:latin typeface="Segoe UI"/>
              </a:defRPr>
            </a:pPr>
            <a:r>
              <a:rPr b="1">
                <a:solidFill>
                  <a:srgbClr val="006FE6"/>
                </a:solidFill>
              </a:rPr>
              <a:t>Busca em Tempo Logarítmico — </a:t>
            </a:r>
            <a:r>
              <a:rPr b="0">
                <a:solidFill>
                  <a:srgbClr val="475569"/>
                </a:solidFill>
              </a:rPr>
              <a:t>Evita varredura linear lenta, escalando perfeitamente para milhões de registros</a:t>
            </a:r>
          </a:p>
          <a:p>
            <a:pPr>
              <a:lnSpc>
                <a:spcPct val="125000"/>
              </a:lnSpc>
              <a:spcBef>
                <a:spcPts val="800"/>
              </a:spcBef>
              <a:spcAft>
                <a:spcPts val="1000"/>
              </a:spcAft>
              <a:defRPr sz="1300">
                <a:latin typeface="Segoe UI"/>
              </a:defRPr>
            </a:pPr>
            <a:r>
              <a:rPr b="1">
                <a:solidFill>
                  <a:srgbClr val="006FE6"/>
                </a:solidFill>
              </a:rPr>
              <a:t>Similaridade de Cosseno via SQL — </a:t>
            </a:r>
            <a:r>
              <a:rPr b="0">
                <a:solidFill>
                  <a:srgbClr val="475569"/>
                </a:solidFill>
              </a:rPr>
              <a:t>Query simples em banco relacional calcula e ordena os vetores por relevância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Chunk vs Embedding: O Pipeline do RAG</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34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que é um Chunk? — </a:t>
            </a:r>
            <a:r>
              <a:rPr b="0">
                <a:solidFill>
                  <a:srgbClr val="475569"/>
                </a:solidFill>
              </a:rPr>
              <a:t>Partição física de texto bruto legível (humano). Cada um dos 26 markdowns do Obsidian agirá como um chunk</a:t>
            </a:r>
          </a:p>
          <a:p>
            <a:pPr>
              <a:lnSpc>
                <a:spcPct val="125000"/>
              </a:lnSpc>
              <a:spcBef>
                <a:spcPts val="800"/>
              </a:spcBef>
              <a:spcAft>
                <a:spcPts val="1000"/>
              </a:spcAft>
              <a:defRPr sz="1300">
                <a:latin typeface="Segoe UI"/>
              </a:defRPr>
            </a:pPr>
            <a:r>
              <a:rPr b="1">
                <a:solidFill>
                  <a:srgbClr val="006FE6"/>
                </a:solidFill>
              </a:rPr>
              <a:t>O que é um Embedding? — </a:t>
            </a:r>
            <a:r>
              <a:rPr b="0">
                <a:solidFill>
                  <a:srgbClr val="475569"/>
                </a:solidFill>
              </a:rPr>
              <a:t>Tradução do significado semântico do chunk em uma coordenada matemática (vetor) de 768 floats</a:t>
            </a:r>
          </a:p>
          <a:p>
            <a:pPr>
              <a:lnSpc>
                <a:spcPct val="125000"/>
              </a:lnSpc>
              <a:spcBef>
                <a:spcPts val="800"/>
              </a:spcBef>
              <a:spcAft>
                <a:spcPts val="1000"/>
              </a:spcAft>
              <a:defRPr sz="1300">
                <a:latin typeface="Segoe UI"/>
              </a:defRPr>
            </a:pPr>
            <a:r>
              <a:rPr b="1">
                <a:solidFill>
                  <a:srgbClr val="006FE6"/>
                </a:solidFill>
              </a:rPr>
              <a:t>A Conexão no RAG — </a:t>
            </a:r>
            <a:r>
              <a:rPr b="0">
                <a:solidFill>
                  <a:srgbClr val="475569"/>
                </a:solidFill>
              </a:rPr>
              <a:t>DuckDB usa o embedding para calcular a proximidade e recuperar o chunk associado em milissegundos</a:t>
            </a:r>
          </a:p>
          <a:p>
            <a:pPr>
              <a:lnSpc>
                <a:spcPct val="125000"/>
              </a:lnSpc>
              <a:spcBef>
                <a:spcPts val="800"/>
              </a:spcBef>
              <a:spcAft>
                <a:spcPts val="1000"/>
              </a:spcAft>
              <a:defRPr sz="1300">
                <a:latin typeface="Segoe UI"/>
              </a:defRPr>
            </a:pPr>
            <a:r>
              <a:rPr b="1">
                <a:solidFill>
                  <a:srgbClr val="006FE6"/>
                </a:solidFill>
              </a:rPr>
              <a:t>Economia de Contexto — </a:t>
            </a:r>
            <a:r>
              <a:rPr b="0">
                <a:solidFill>
                  <a:srgbClr val="475569"/>
                </a:solidFill>
              </a:rPr>
              <a:t>O modelo de chat recebe o chunk de texto puro ideal, eliminando 90% do ruído do backlog corporativo</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TEXT</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[FASE 1: INDEXAÇÃO (No Startup)]</a:t>
            </a:r>
          </a:p>
          <a:p>
            <a:pPr>
              <a:spcAft>
                <a:spcPts val="200"/>
              </a:spcAft>
              <a:defRPr sz="950">
                <a:solidFill>
                  <a:srgbClr val="0F172A"/>
                </a:solidFill>
                <a:latin typeface="Consolas"/>
              </a:defRPr>
            </a:pPr>
            <a:r>
              <a:t>Documento.md ───&gt; CHUNK (Texto Puro)</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(embeddinggemma)</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EMBEDDING (768 floats)</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 Salva no DuckDB ]</a:t>
            </a:r>
          </a:p>
          <a:p>
            <a:pPr>
              <a:spcAft>
                <a:spcPts val="200"/>
              </a:spcAft>
              <a:defRPr sz="950">
                <a:solidFill>
                  <a:srgbClr val="0F172A"/>
                </a:solidFill>
                <a:latin typeface="Consolas"/>
              </a:defRPr>
            </a:pPr>
          </a:p>
          <a:p>
            <a:pPr>
              <a:spcAft>
                <a:spcPts val="200"/>
              </a:spcAft>
              <a:defRPr sz="950">
                <a:solidFill>
                  <a:srgbClr val="0F172A"/>
                </a:solidFill>
                <a:latin typeface="Consolas"/>
              </a:defRPr>
            </a:pPr>
            <a:r>
              <a:t>[FASE 2: RECUPERAÇÃO (Na Pergunta)]</a:t>
            </a:r>
          </a:p>
          <a:p>
            <a:pPr>
              <a:spcAft>
                <a:spcPts val="200"/>
              </a:spcAft>
              <a:defRPr sz="950">
                <a:solidFill>
                  <a:srgbClr val="0F172A"/>
                </a:solidFill>
                <a:latin typeface="Consolas"/>
              </a:defRPr>
            </a:pPr>
            <a:r>
              <a:t>Pergunta ──&gt; Vetor Query ──&gt; SQL Cosseno</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Acha EMBEDDING</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Retorna CHUNK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 base compartilhada: lendo o vault</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35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Lógica unificada — </a:t>
            </a:r>
            <a:r>
              <a:rPr b="0">
                <a:solidFill>
                  <a:srgbClr val="475569"/>
                </a:solidFill>
              </a:rPr>
              <a:t>os dois servidores MCP de demo consomem exatamente a mesma função interna</a:t>
            </a:r>
          </a:p>
          <a:p>
            <a:pPr>
              <a:lnSpc>
                <a:spcPct val="125000"/>
              </a:lnSpc>
              <a:spcBef>
                <a:spcPts val="800"/>
              </a:spcBef>
              <a:spcAft>
                <a:spcPts val="1000"/>
              </a:spcAft>
              <a:defRPr sz="1300">
                <a:latin typeface="Segoe UI"/>
              </a:defRPr>
            </a:pPr>
            <a:r>
              <a:rPr b="1">
                <a:solidFill>
                  <a:srgbClr val="006FE6"/>
                </a:solidFill>
              </a:rPr>
              <a:t>Escaneamento simples — </a:t>
            </a:r>
            <a:r>
              <a:rPr b="0">
                <a:solidFill>
                  <a:srgbClr val="475569"/>
                </a:solidFill>
              </a:rPr>
              <a:t>percorre a pasta recursivamente coletando o caminho relativo e texto bruto</a:t>
            </a:r>
          </a:p>
          <a:p>
            <a:pPr>
              <a:lnSpc>
                <a:spcPct val="125000"/>
              </a:lnSpc>
              <a:spcBef>
                <a:spcPts val="800"/>
              </a:spcBef>
              <a:spcAft>
                <a:spcPts val="1000"/>
              </a:spcAft>
              <a:defRPr sz="1300">
                <a:latin typeface="Segoe UI"/>
              </a:defRPr>
            </a:pPr>
            <a:r>
              <a:rPr b="1">
                <a:solidFill>
                  <a:srgbClr val="006FE6"/>
                </a:solidFill>
              </a:rPr>
              <a:t>Escala do teste — </a:t>
            </a:r>
            <a:r>
              <a:rPr b="0">
                <a:solidFill>
                  <a:srgbClr val="475569"/>
                </a:solidFill>
              </a:rPr>
              <a:t>processa os 26 arquivos em Markdown simulando o backlog fictício</a:t>
            </a:r>
          </a:p>
          <a:p>
            <a:pPr>
              <a:lnSpc>
                <a:spcPct val="125000"/>
              </a:lnSpc>
              <a:spcBef>
                <a:spcPts val="800"/>
              </a:spcBef>
              <a:spcAft>
                <a:spcPts val="1000"/>
              </a:spcAft>
              <a:defRPr sz="1300">
                <a:latin typeface="Segoe UI"/>
              </a:defRPr>
            </a:pPr>
            <a:r>
              <a:rPr b="1">
                <a:solidFill>
                  <a:srgbClr val="006FE6"/>
                </a:solidFill>
              </a:rPr>
              <a:t>O divisor de águas — </a:t>
            </a:r>
            <a:r>
              <a:rPr b="0">
                <a:solidFill>
                  <a:srgbClr val="475569"/>
                </a:solidFill>
              </a:rPr>
              <a:t>o que dita a eficiência não é o carregamento, mas o filtro de busca</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internal/vault/reader.go</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func LoadAll(root string) ([]Document, error) {</a:t>
            </a:r>
          </a:p>
          <a:p>
            <a:pPr>
              <a:spcAft>
                <a:spcPts val="200"/>
              </a:spcAft>
              <a:defRPr sz="950">
                <a:solidFill>
                  <a:srgbClr val="0F172A"/>
                </a:solidFill>
                <a:latin typeface="Consolas"/>
              </a:defRPr>
            </a:pPr>
            <a:r>
              <a:t>    var docs []Document</a:t>
            </a:r>
          </a:p>
          <a:p>
            <a:pPr>
              <a:spcAft>
                <a:spcPts val="200"/>
              </a:spcAft>
              <a:defRPr sz="950">
                <a:solidFill>
                  <a:srgbClr val="0F172A"/>
                </a:solidFill>
                <a:latin typeface="Consolas"/>
              </a:defRPr>
            </a:pPr>
            <a:r>
              <a:t>    filepath.WalkDir(root, func(path string, d os.DirEntry, err error) error {</a:t>
            </a:r>
          </a:p>
          <a:p>
            <a:pPr>
              <a:spcAft>
                <a:spcPts val="200"/>
              </a:spcAft>
              <a:defRPr sz="950">
                <a:solidFill>
                  <a:srgbClr val="0F172A"/>
                </a:solidFill>
                <a:latin typeface="Consolas"/>
              </a:defRPr>
            </a:pPr>
            <a:r>
              <a:t>        if d.IsDir() || !strings.HasSuffix(d.Name(), ".md") {</a:t>
            </a:r>
          </a:p>
          <a:p>
            <a:pPr>
              <a:spcAft>
                <a:spcPts val="200"/>
              </a:spcAft>
              <a:defRPr sz="950">
                <a:solidFill>
                  <a:srgbClr val="0F172A"/>
                </a:solidFill>
                <a:latin typeface="Consolas"/>
              </a:defRPr>
            </a:pPr>
            <a:r>
              <a:t>            return nil</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content, _ := os.ReadFile(path)</a:t>
            </a:r>
          </a:p>
          <a:p>
            <a:pPr>
              <a:spcAft>
                <a:spcPts val="200"/>
              </a:spcAft>
              <a:defRPr sz="950">
                <a:solidFill>
                  <a:srgbClr val="0F172A"/>
                </a:solidFill>
                <a:latin typeface="Consolas"/>
              </a:defRPr>
            </a:pPr>
            <a:r>
              <a:t>        rel, _ := filepath.Rel(root, path)</a:t>
            </a:r>
          </a:p>
          <a:p>
            <a:pPr>
              <a:spcAft>
                <a:spcPts val="200"/>
              </a:spcAft>
              <a:defRPr sz="950">
                <a:solidFill>
                  <a:srgbClr val="0F172A"/>
                </a:solidFill>
                <a:latin typeface="Consolas"/>
              </a:defRPr>
            </a:pPr>
            <a:r>
              <a:t>        docs = append(docs, Document{Path: rel, Content: string(content)})</a:t>
            </a:r>
          </a:p>
          <a:p>
            <a:pPr>
              <a:spcAft>
                <a:spcPts val="200"/>
              </a:spcAft>
              <a:defRPr sz="950">
                <a:solidFill>
                  <a:srgbClr val="0F172A"/>
                </a:solidFill>
                <a:latin typeface="Consolas"/>
              </a:defRPr>
            </a:pPr>
            <a:r>
              <a:t>        return nil</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return docs, nil</a:t>
            </a:r>
          </a:p>
          <a:p>
            <a:pPr>
              <a:spcAft>
                <a:spcPts val="200"/>
              </a:spcAft>
              <a:defRPr sz="950">
                <a:solidFill>
                  <a:srgbClr val="0F172A"/>
                </a:solidFill>
                <a:latin typeface="Consolas"/>
              </a:defRPr>
            </a:pPr>
            <a: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1: Servidor MCP sem Filtragem (vault_dumb)</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36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Uma única ferramenta unificada — </a:t>
            </a:r>
            <a:r>
              <a:rPr b="0">
                <a:solidFill>
                  <a:srgbClr val="475569"/>
                </a:solidFill>
              </a:rPr>
              <a:t>read_vault exposta sem necessidade de argumentos de entrada</a:t>
            </a:r>
          </a:p>
          <a:p>
            <a:pPr>
              <a:lnSpc>
                <a:spcPct val="125000"/>
              </a:lnSpc>
              <a:spcBef>
                <a:spcPts val="800"/>
              </a:spcBef>
              <a:spcAft>
                <a:spcPts val="1000"/>
              </a:spcAft>
              <a:defRPr sz="1300">
                <a:latin typeface="Segoe UI"/>
              </a:defRPr>
            </a:pPr>
            <a:r>
              <a:rPr b="1">
                <a:solidFill>
                  <a:srgbClr val="006FE6"/>
                </a:solidFill>
              </a:rPr>
              <a:t>Processamento sem filtro — </a:t>
            </a:r>
            <a:r>
              <a:rPr b="0">
                <a:solidFill>
                  <a:srgbClr val="475569"/>
                </a:solidFill>
              </a:rPr>
              <a:t>carrega todas as tarefas, concatena em um payload cru e devolve de uma vez</a:t>
            </a:r>
          </a:p>
          <a:p>
            <a:pPr>
              <a:lnSpc>
                <a:spcPct val="125000"/>
              </a:lnSpc>
              <a:spcBef>
                <a:spcPts val="800"/>
              </a:spcBef>
              <a:spcAft>
                <a:spcPts val="1000"/>
              </a:spcAft>
              <a:defRPr sz="1300">
                <a:latin typeface="Segoe UI"/>
              </a:defRPr>
            </a:pPr>
            <a:r>
              <a:rPr b="1">
                <a:solidFill>
                  <a:srgbClr val="006FE6"/>
                </a:solidFill>
              </a:rPr>
              <a:t>Ignorância de relevância — </a:t>
            </a:r>
            <a:r>
              <a:rPr b="0">
                <a:solidFill>
                  <a:srgbClr val="475569"/>
                </a:solidFill>
              </a:rPr>
              <a:t>o agente pede contexto de uma única task, e recebe o backlog inteiro</a:t>
            </a:r>
          </a:p>
          <a:p>
            <a:pPr>
              <a:lnSpc>
                <a:spcPct val="125000"/>
              </a:lnSpc>
              <a:spcBef>
                <a:spcPts val="800"/>
              </a:spcBef>
              <a:spcAft>
                <a:spcPts val="1000"/>
              </a:spcAft>
              <a:defRPr sz="1300">
                <a:latin typeface="Segoe UI"/>
              </a:defRPr>
            </a:pPr>
            <a:r>
              <a:rPr b="1">
                <a:solidFill>
                  <a:srgbClr val="006FE6"/>
                </a:solidFill>
              </a:rPr>
              <a:t>Custo de simplicidade — </a:t>
            </a:r>
            <a:r>
              <a:rPr b="0">
                <a:solidFill>
                  <a:srgbClr val="475569"/>
                </a:solidFill>
              </a:rPr>
              <a:t>apenas 20 linhas de desenvolvimento Go, resultando em ~47k tokens na nuvem</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internal/vault/reader.go</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mcp.AddTool(server, &amp;mcp.Tool{</a:t>
            </a:r>
          </a:p>
          <a:p>
            <a:pPr>
              <a:spcAft>
                <a:spcPts val="200"/>
              </a:spcAft>
              <a:defRPr sz="950">
                <a:solidFill>
                  <a:srgbClr val="0F172A"/>
                </a:solidFill>
                <a:latin typeface="Consolas"/>
              </a:defRPr>
            </a:pPr>
            <a:r>
              <a:t>    Name: "read_vault",</a:t>
            </a:r>
          </a:p>
          <a:p>
            <a:pPr>
              <a:spcAft>
                <a:spcPts val="200"/>
              </a:spcAft>
              <a:defRPr sz="950">
                <a:solidFill>
                  <a:srgbClr val="0F172A"/>
                </a:solidFill>
                <a:latin typeface="Consolas"/>
              </a:defRPr>
            </a:pPr>
            <a:r>
              <a:t>    Description: "Returns the full contents of every Markdown file...",</a:t>
            </a:r>
          </a:p>
          <a:p>
            <a:pPr>
              <a:spcAft>
                <a:spcPts val="200"/>
              </a:spcAft>
              <a:defRPr sz="950">
                <a:solidFill>
                  <a:srgbClr val="0F172A"/>
                </a:solidFill>
                <a:latin typeface="Consolas"/>
              </a:defRPr>
            </a:pPr>
            <a:r>
              <a:t>}, readVaultHandler(vaultPath))</a:t>
            </a:r>
          </a:p>
          <a:p>
            <a:pPr>
              <a:spcAft>
                <a:spcPts val="200"/>
              </a:spcAft>
              <a:defRPr sz="950">
                <a:solidFill>
                  <a:srgbClr val="0F172A"/>
                </a:solidFill>
                <a:latin typeface="Consolas"/>
              </a:defRPr>
            </a:pPr>
          </a:p>
          <a:p>
            <a:pPr>
              <a:spcAft>
                <a:spcPts val="200"/>
              </a:spcAft>
              <a:defRPr sz="950">
                <a:solidFill>
                  <a:srgbClr val="0F172A"/>
                </a:solidFill>
                <a:latin typeface="Consolas"/>
              </a:defRPr>
            </a:pPr>
            <a:r>
              <a:t>func readVaultHandler(vaultPath string) ... {</a:t>
            </a:r>
          </a:p>
          <a:p>
            <a:pPr>
              <a:spcAft>
                <a:spcPts val="200"/>
              </a:spcAft>
              <a:defRPr sz="950">
                <a:solidFill>
                  <a:srgbClr val="0F172A"/>
                </a:solidFill>
                <a:latin typeface="Consolas"/>
              </a:defRPr>
            </a:pPr>
            <a:r>
              <a:t>    docs, _ := vault.LoadAll(vaultPath)</a:t>
            </a:r>
          </a:p>
          <a:p>
            <a:pPr>
              <a:spcAft>
                <a:spcPts val="200"/>
              </a:spcAft>
              <a:defRPr sz="950">
                <a:solidFill>
                  <a:srgbClr val="0F172A"/>
                </a:solidFill>
                <a:latin typeface="Consolas"/>
              </a:defRPr>
            </a:pPr>
            <a:r>
              <a:t>    // concatena tudo: --- FILE: path ---\ncontent\n\n</a:t>
            </a:r>
          </a:p>
          <a:p>
            <a:pPr>
              <a:spcAft>
                <a:spcPts val="200"/>
              </a:spcAft>
              <a:defRPr sz="950">
                <a:solidFill>
                  <a:srgbClr val="0F172A"/>
                </a:solidFill>
                <a:latin typeface="Consolas"/>
              </a:defRPr>
            </a:pPr>
            <a: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2, parte 1: montando o índice vetorial</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37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Modelo secundário local — </a:t>
            </a:r>
            <a:r>
              <a:rPr b="0">
                <a:solidFill>
                  <a:srgbClr val="475569"/>
                </a:solidFill>
              </a:rPr>
              <a:t>carrega o embeddinggemma-300m, especialista veloz em mapear significados</a:t>
            </a:r>
          </a:p>
          <a:p>
            <a:pPr>
              <a:lnSpc>
                <a:spcPct val="125000"/>
              </a:lnSpc>
              <a:spcBef>
                <a:spcPts val="800"/>
              </a:spcBef>
              <a:spcAft>
                <a:spcPts val="1000"/>
              </a:spcAft>
              <a:defRPr sz="1300">
                <a:latin typeface="Segoe UI"/>
              </a:defRPr>
            </a:pPr>
            <a:r>
              <a:rPr b="1">
                <a:solidFill>
                  <a:srgbClr val="006FE6"/>
                </a:solidFill>
              </a:rPr>
              <a:t>Representação matemática — </a:t>
            </a:r>
            <a:r>
              <a:rPr b="0">
                <a:solidFill>
                  <a:srgbClr val="475569"/>
                </a:solidFill>
              </a:rPr>
              <a:t>gera vetores de 768 floats (coordenadas) representando semântica dos arquivos</a:t>
            </a:r>
          </a:p>
          <a:p>
            <a:pPr>
              <a:lnSpc>
                <a:spcPct val="125000"/>
              </a:lnSpc>
              <a:spcBef>
                <a:spcPts val="800"/>
              </a:spcBef>
              <a:spcAft>
                <a:spcPts val="1000"/>
              </a:spcAft>
              <a:defRPr sz="1300">
                <a:latin typeface="Segoe UI"/>
              </a:defRPr>
            </a:pPr>
            <a:r>
              <a:rPr b="1">
                <a:solidFill>
                  <a:srgbClr val="006FE6"/>
                </a:solidFill>
              </a:rPr>
              <a:t>Banco de dados embutido — </a:t>
            </a:r>
            <a:r>
              <a:rPr b="0">
                <a:solidFill>
                  <a:srgbClr val="475569"/>
                </a:solidFill>
              </a:rPr>
              <a:t>inicializa DuckDB localmente acoplado com índice HNSW para vizinhos próximos</a:t>
            </a:r>
          </a:p>
          <a:p>
            <a:pPr>
              <a:lnSpc>
                <a:spcPct val="125000"/>
              </a:lnSpc>
              <a:spcBef>
                <a:spcPts val="800"/>
              </a:spcBef>
              <a:spcAft>
                <a:spcPts val="1000"/>
              </a:spcAft>
              <a:defRPr sz="1300">
                <a:latin typeface="Segoe UI"/>
              </a:defRPr>
            </a:pPr>
            <a:r>
              <a:rPr b="1">
                <a:solidFill>
                  <a:srgbClr val="006FE6"/>
                </a:solidFill>
              </a:rPr>
              <a:t>Mapeamento único — </a:t>
            </a:r>
            <a:r>
              <a:rPr b="0">
                <a:solidFill>
                  <a:srgbClr val="475569"/>
                </a:solidFill>
              </a:rPr>
              <a:t>a vetorização e inserção ocorrem somente na inicialização do servidor, sem delay na requisição</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internal/vault/reader.go</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krnEmbed, _ := kronk.New(model.WithModelFiles(</a:t>
            </a:r>
          </a:p>
          <a:p>
            <a:pPr>
              <a:spcAft>
                <a:spcPts val="200"/>
              </a:spcAft>
              <a:defRPr sz="950">
                <a:solidFill>
                  <a:srgbClr val="0F172A"/>
                </a:solidFill>
                <a:latin typeface="Consolas"/>
              </a:defRPr>
            </a:pPr>
            <a:r>
              <a:t>    []string{embedModelPath}))</a:t>
            </a:r>
          </a:p>
          <a:p>
            <a:pPr>
              <a:spcAft>
                <a:spcPts val="200"/>
              </a:spcAft>
              <a:defRPr sz="950">
                <a:solidFill>
                  <a:srgbClr val="0F172A"/>
                </a:solidFill>
                <a:latin typeface="Consolas"/>
              </a:defRPr>
            </a:pPr>
            <a:r>
              <a:t>docs, _ := vault.LoadAll(vaultPath)</a:t>
            </a:r>
          </a:p>
          <a:p>
            <a:pPr>
              <a:spcAft>
                <a:spcPts val="200"/>
              </a:spcAft>
              <a:defRPr sz="950">
                <a:solidFill>
                  <a:srgbClr val="0F172A"/>
                </a:solidFill>
                <a:latin typeface="Consolas"/>
              </a:defRPr>
            </a:pPr>
            <a:r>
              <a:t>dims, _ := embeddingDims(krnEmbed)</a:t>
            </a:r>
          </a:p>
          <a:p>
            <a:pPr>
              <a:spcAft>
                <a:spcPts val="200"/>
              </a:spcAft>
              <a:defRPr sz="950">
                <a:solidFill>
                  <a:srgbClr val="0F172A"/>
                </a:solidFill>
                <a:latin typeface="Consolas"/>
              </a:defRPr>
            </a:pPr>
            <a:r>
              <a:t>db, _ := store.LoadVault(ctx, krnEmbed, docs, dims)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2, parte 2: a busca de verdade</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38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Vetorização de query — </a:t>
            </a:r>
            <a:r>
              <a:rPr b="0">
                <a:solidFill>
                  <a:srgbClr val="475569"/>
                </a:solidFill>
              </a:rPr>
              <a:t>transforma a pergunta do usuário no mesmo formato de coordenadas numéricas</a:t>
            </a:r>
          </a:p>
          <a:p>
            <a:pPr>
              <a:lnSpc>
                <a:spcPct val="125000"/>
              </a:lnSpc>
              <a:spcBef>
                <a:spcPts val="800"/>
              </a:spcBef>
              <a:spcAft>
                <a:spcPts val="1000"/>
              </a:spcAft>
              <a:defRPr sz="1300">
                <a:latin typeface="Segoe UI"/>
              </a:defRPr>
            </a:pPr>
            <a:r>
              <a:rPr b="1">
                <a:solidFill>
                  <a:srgbClr val="006FE6"/>
                </a:solidFill>
              </a:rPr>
              <a:t>Busca vetorial via SQL — </a:t>
            </a:r>
            <a:r>
              <a:rPr b="0">
                <a:solidFill>
                  <a:srgbClr val="475569"/>
                </a:solidFill>
              </a:rPr>
              <a:t>executa query no DuckDB calculando similaridade de cosseno com os vetores salvos</a:t>
            </a:r>
          </a:p>
          <a:p>
            <a:pPr>
              <a:lnSpc>
                <a:spcPct val="125000"/>
              </a:lnSpc>
              <a:spcBef>
                <a:spcPts val="800"/>
              </a:spcBef>
              <a:spcAft>
                <a:spcPts val="1000"/>
              </a:spcAft>
              <a:defRPr sz="1300">
                <a:latin typeface="Segoe UI"/>
              </a:defRPr>
            </a:pPr>
            <a:r>
              <a:rPr b="1">
                <a:solidFill>
                  <a:srgbClr val="006FE6"/>
                </a:solidFill>
              </a:rPr>
              <a:t>Busca por significado — </a:t>
            </a:r>
            <a:r>
              <a:rPr b="0">
                <a:solidFill>
                  <a:srgbClr val="475569"/>
                </a:solidFill>
              </a:rPr>
              <a:t>encontra termos análogos (ex: faturamento recupera cupom) sem palavras idênticas</a:t>
            </a:r>
          </a:p>
          <a:p>
            <a:pPr>
              <a:lnSpc>
                <a:spcPct val="125000"/>
              </a:lnSpc>
              <a:spcBef>
                <a:spcPts val="800"/>
              </a:spcBef>
              <a:spcAft>
                <a:spcPts val="1000"/>
              </a:spcAft>
              <a:defRPr sz="1300">
                <a:latin typeface="Segoe UI"/>
              </a:defRPr>
            </a:pPr>
            <a:r>
              <a:rPr b="1">
                <a:solidFill>
                  <a:srgbClr val="006FE6"/>
                </a:solidFill>
              </a:rPr>
              <a:t>Retorno ultra enxuto — </a:t>
            </a:r>
            <a:r>
              <a:rPr b="0">
                <a:solidFill>
                  <a:srgbClr val="475569"/>
                </a:solidFill>
              </a:rPr>
              <a:t>reduz o volume de texto enviado do repositório inteiro para apenas os top-3 úteis</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search_vault.sql</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SELECT path, text,</a:t>
            </a:r>
          </a:p>
          <a:p>
            <a:pPr>
              <a:spcAft>
                <a:spcPts val="200"/>
              </a:spcAft>
              <a:defRPr sz="950">
                <a:solidFill>
                  <a:srgbClr val="0F172A"/>
                </a:solidFill>
                <a:latin typeface="Consolas"/>
              </a:defRPr>
            </a:pPr>
            <a:r>
              <a:t>       array_cosine_similarity(embedding, ?::FLOAT[768]) AS similarity</a:t>
            </a:r>
          </a:p>
          <a:p>
            <a:pPr>
              <a:spcAft>
                <a:spcPts val="200"/>
              </a:spcAft>
              <a:defRPr sz="950">
                <a:solidFill>
                  <a:srgbClr val="0F172A"/>
                </a:solidFill>
                <a:latin typeface="Consolas"/>
              </a:defRPr>
            </a:pPr>
            <a:r>
              <a:t>FROM items</a:t>
            </a:r>
          </a:p>
          <a:p>
            <a:pPr>
              <a:spcAft>
                <a:spcPts val="200"/>
              </a:spcAft>
              <a:defRPr sz="950">
                <a:solidFill>
                  <a:srgbClr val="0F172A"/>
                </a:solidFill>
                <a:latin typeface="Consolas"/>
              </a:defRPr>
            </a:pPr>
            <a:r>
              <a:t>ORDER BY similarity DESC</a:t>
            </a:r>
          </a:p>
          <a:p>
            <a:pPr>
              <a:spcAft>
                <a:spcPts val="200"/>
              </a:spcAft>
              <a:defRPr sz="950">
                <a:solidFill>
                  <a:srgbClr val="0F172A"/>
                </a:solidFill>
                <a:latin typeface="Consolas"/>
              </a:defRPr>
            </a:pPr>
            <a:r>
              <a:t>LIMIT 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Lado a lado: mesma pergunta, dois caminhos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39 / 50</a:t>
            </a:r>
          </a:p>
        </p:txBody>
      </p:sp>
      <p:graphicFrame>
        <p:nvGraphicFramePr>
          <p:cNvPr id="8" name="Table 7"/>
          <p:cNvGraphicFramePr>
            <a:graphicFrameLocks noGrp="1"/>
          </p:cNvGraphicFramePr>
          <p:nvPr/>
        </p:nvGraphicFramePr>
        <p:xfrm>
          <a:off x="548640" y="1737360"/>
          <a:ext cx="11094415" cy="32004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pPr algn="l"/>
                      <a:r>
                        <a:rPr b="1" sz="1200">
                          <a:solidFill>
                            <a:srgbClr val="00D2FF"/>
                          </a:solidFill>
                          <a:latin typeface="Segoe UI"/>
                        </a:rPr>
                        <a:t>Métrica / Recurso</a:t>
                      </a:r>
                    </a:p>
                  </a:txBody>
                  <a:tcPr>
                    <a:solidFill>
                      <a:srgbClr val="0A2540"/>
                    </a:solidFill>
                  </a:tcPr>
                </a:tc>
                <a:tc>
                  <a:txBody>
                    <a:bodyPr wrap="square"/>
                    <a:lstStyle/>
                    <a:p>
                      <a:pPr algn="ctr"/>
                      <a:r>
                        <a:rPr b="1" sz="1200">
                          <a:solidFill>
                            <a:srgbClr val="00D2FF"/>
                          </a:solidFill>
                          <a:latin typeface="Segoe UI"/>
                        </a:rPr>
                        <a:t>vault_dumb (Cena 1)</a:t>
                      </a:r>
                    </a:p>
                  </a:txBody>
                  <a:tcPr>
                    <a:solidFill>
                      <a:srgbClr val="0A2540"/>
                    </a:solidFill>
                  </a:tcPr>
                </a:tc>
                <a:tc>
                  <a:txBody>
                    <a:bodyPr wrap="square"/>
                    <a:lstStyle/>
                    <a:p>
                      <a:pPr algn="ctr"/>
                      <a:r>
                        <a:rPr b="1" sz="1200">
                          <a:solidFill>
                            <a:srgbClr val="00D2FF"/>
                          </a:solidFill>
                          <a:latin typeface="Segoe UI"/>
                        </a:rPr>
                        <a:t>vault_smart (Cena 2)</a:t>
                      </a:r>
                    </a:p>
                  </a:txBody>
                  <a:tcPr>
                    <a:solidFill>
                      <a:srgbClr val="0A2540"/>
                    </a:solidFill>
                  </a:tcPr>
                </a:tc>
              </a:tr>
              <a:tr h="457200">
                <a:tc>
                  <a:txBody>
                    <a:bodyPr wrap="square"/>
                    <a:lstStyle/>
                    <a:p>
                      <a:pPr algn="l"/>
                      <a:r>
                        <a:rPr b="0" sz="1100">
                          <a:solidFill>
                            <a:srgbClr val="0F172A"/>
                          </a:solidFill>
                          <a:latin typeface="Segoe UI"/>
                        </a:rPr>
                        <a:t>Nome da Ferramenta</a:t>
                      </a:r>
                    </a:p>
                  </a:txBody>
                  <a:tcPr>
                    <a:solidFill>
                      <a:srgbClr val="F8FAFC"/>
                    </a:solidFill>
                  </a:tcPr>
                </a:tc>
                <a:tc>
                  <a:txBody>
                    <a:bodyPr wrap="square"/>
                    <a:lstStyle/>
                    <a:p>
                      <a:pPr algn="ctr"/>
                      <a:r>
                        <a:rPr b="0" sz="1100">
                          <a:solidFill>
                            <a:srgbClr val="0F172A"/>
                          </a:solidFill>
                          <a:latin typeface="Segoe UI"/>
                        </a:rPr>
                        <a:t>read_vault</a:t>
                      </a:r>
                    </a:p>
                  </a:txBody>
                  <a:tcPr>
                    <a:solidFill>
                      <a:srgbClr val="F8FAFC"/>
                    </a:solidFill>
                  </a:tcPr>
                </a:tc>
                <a:tc>
                  <a:txBody>
                    <a:bodyPr wrap="square"/>
                    <a:lstStyle/>
                    <a:p>
                      <a:pPr algn="ctr"/>
                      <a:r>
                        <a:rPr b="0" sz="1100">
                          <a:solidFill>
                            <a:srgbClr val="0F172A"/>
                          </a:solidFill>
                          <a:latin typeface="Segoe UI"/>
                        </a:rPr>
                        <a:t>search_vault(query, top_k)</a:t>
                      </a:r>
                    </a:p>
                  </a:txBody>
                  <a:tcPr>
                    <a:solidFill>
                      <a:srgbClr val="F8FAFC"/>
                    </a:solidFill>
                  </a:tcPr>
                </a:tc>
              </a:tr>
              <a:tr h="457200">
                <a:tc>
                  <a:txBody>
                    <a:bodyPr wrap="square"/>
                    <a:lstStyle/>
                    <a:p>
                      <a:pPr algn="l"/>
                      <a:r>
                        <a:rPr b="0" sz="1100">
                          <a:solidFill>
                            <a:srgbClr val="0F172A"/>
                          </a:solidFill>
                          <a:latin typeface="Segoe UI"/>
                        </a:rPr>
                        <a:t>Mecanismo Interno</a:t>
                      </a:r>
                    </a:p>
                  </a:txBody>
                  <a:tcPr>
                    <a:solidFill>
                      <a:srgbClr val="FFFFFF"/>
                    </a:solidFill>
                  </a:tcPr>
                </a:tc>
                <a:tc>
                  <a:txBody>
                    <a:bodyPr wrap="square"/>
                    <a:lstStyle/>
                    <a:p>
                      <a:pPr algn="ctr"/>
                      <a:r>
                        <a:rPr b="0" sz="1100">
                          <a:solidFill>
                            <a:srgbClr val="0F172A"/>
                          </a:solidFill>
                          <a:latin typeface="Segoe UI"/>
                        </a:rPr>
                        <a:t>Concatenação crua</a:t>
                      </a:r>
                    </a:p>
                  </a:txBody>
                  <a:tcPr>
                    <a:solidFill>
                      <a:srgbClr val="FFFFFF"/>
                    </a:solidFill>
                  </a:tcPr>
                </a:tc>
                <a:tc>
                  <a:txBody>
                    <a:bodyPr wrap="square"/>
                    <a:lstStyle/>
                    <a:p>
                      <a:pPr algn="ctr"/>
                      <a:r>
                        <a:rPr b="0" sz="1100">
                          <a:solidFill>
                            <a:srgbClr val="0F172A"/>
                          </a:solidFill>
                          <a:latin typeface="Segoe UI"/>
                        </a:rPr>
                        <a:t>Embeddings + Busca Vetorial</a:t>
                      </a:r>
                    </a:p>
                  </a:txBody>
                  <a:tcPr>
                    <a:solidFill>
                      <a:srgbClr val="FFFFFF"/>
                    </a:solidFill>
                  </a:tcPr>
                </a:tc>
              </a:tr>
              <a:tr h="457200">
                <a:tc>
                  <a:txBody>
                    <a:bodyPr wrap="square"/>
                    <a:lstStyle/>
                    <a:p>
                      <a:pPr algn="l"/>
                      <a:r>
                        <a:rPr b="0" sz="1100">
                          <a:solidFill>
                            <a:srgbClr val="0F172A"/>
                          </a:solidFill>
                          <a:latin typeface="Segoe UI"/>
                        </a:rPr>
                        <a:t>Armazenamento</a:t>
                      </a:r>
                    </a:p>
                  </a:txBody>
                  <a:tcPr>
                    <a:solidFill>
                      <a:srgbClr val="F8FAFC"/>
                    </a:solidFill>
                  </a:tcPr>
                </a:tc>
                <a:tc>
                  <a:txBody>
                    <a:bodyPr wrap="square"/>
                    <a:lstStyle/>
                    <a:p>
                      <a:pPr algn="ctr"/>
                      <a:r>
                        <a:rPr b="0" sz="1100">
                          <a:solidFill>
                            <a:srgbClr val="0F172A"/>
                          </a:solidFill>
                          <a:latin typeface="Segoe UI"/>
                        </a:rPr>
                        <a:t>Memória volátil simples</a:t>
                      </a:r>
                    </a:p>
                  </a:txBody>
                  <a:tcPr>
                    <a:solidFill>
                      <a:srgbClr val="F8FAFC"/>
                    </a:solidFill>
                  </a:tcPr>
                </a:tc>
                <a:tc>
                  <a:txBody>
                    <a:bodyPr wrap="square"/>
                    <a:lstStyle/>
                    <a:p>
                      <a:pPr algn="ctr"/>
                      <a:r>
                        <a:rPr b="0" sz="1100">
                          <a:solidFill>
                            <a:srgbClr val="0F172A"/>
                          </a:solidFill>
                          <a:latin typeface="Segoe UI"/>
                        </a:rPr>
                        <a:t>DuckDB em RAM + Índice HNSW</a:t>
                      </a:r>
                    </a:p>
                  </a:txBody>
                  <a:tcPr>
                    <a:solidFill>
                      <a:srgbClr val="F8FAFC"/>
                    </a:solidFill>
                  </a:tcPr>
                </a:tc>
              </a:tr>
              <a:tr h="457200">
                <a:tc>
                  <a:txBody>
                    <a:bodyPr wrap="square"/>
                    <a:lstStyle/>
                    <a:p>
                      <a:pPr algn="l"/>
                      <a:r>
                        <a:rPr b="0" sz="1100">
                          <a:solidFill>
                            <a:srgbClr val="0F172A"/>
                          </a:solidFill>
                          <a:latin typeface="Segoe UI"/>
                        </a:rPr>
                        <a:t>Preparação no Boot</a:t>
                      </a:r>
                    </a:p>
                  </a:txBody>
                  <a:tcPr>
                    <a:solidFill>
                      <a:srgbClr val="FFFFFF"/>
                    </a:solidFill>
                  </a:tcPr>
                </a:tc>
                <a:tc>
                  <a:txBody>
                    <a:bodyPr wrap="square"/>
                    <a:lstStyle/>
                    <a:p>
                      <a:pPr algn="ctr"/>
                      <a:r>
                        <a:rPr b="0" sz="1100">
                          <a:solidFill>
                            <a:srgbClr val="0F172A"/>
                          </a:solidFill>
                          <a:latin typeface="Segoe UI"/>
                        </a:rPr>
                        <a:t>Nenhuma</a:t>
                      </a:r>
                    </a:p>
                  </a:txBody>
                  <a:tcPr>
                    <a:solidFill>
                      <a:srgbClr val="FFFFFF"/>
                    </a:solidFill>
                  </a:tcPr>
                </a:tc>
                <a:tc>
                  <a:txBody>
                    <a:bodyPr wrap="square"/>
                    <a:lstStyle/>
                    <a:p>
                      <a:pPr algn="ctr"/>
                      <a:r>
                        <a:rPr b="0" sz="1100">
                          <a:solidFill>
                            <a:srgbClr val="0F172A"/>
                          </a:solidFill>
                          <a:latin typeface="Segoe UI"/>
                        </a:rPr>
                        <a:t>Mapeamento semântico no startup</a:t>
                      </a:r>
                    </a:p>
                  </a:txBody>
                  <a:tcPr>
                    <a:solidFill>
                      <a:srgbClr val="FFFFFF"/>
                    </a:solidFill>
                  </a:tcPr>
                </a:tc>
              </a:tr>
              <a:tr h="457200">
                <a:tc>
                  <a:txBody>
                    <a:bodyPr wrap="square"/>
                    <a:lstStyle/>
                    <a:p>
                      <a:pPr algn="l"/>
                      <a:r>
                        <a:rPr b="0" sz="1100">
                          <a:solidFill>
                            <a:srgbClr val="0F172A"/>
                          </a:solidFill>
                          <a:latin typeface="Segoe UI"/>
                        </a:rPr>
                        <a:t>Tokens Consumidos</a:t>
                      </a:r>
                    </a:p>
                  </a:txBody>
                  <a:tcPr>
                    <a:solidFill>
                      <a:srgbClr val="F8FAFC"/>
                    </a:solidFill>
                  </a:tcPr>
                </a:tc>
                <a:tc>
                  <a:txBody>
                    <a:bodyPr wrap="square"/>
                    <a:lstStyle/>
                    <a:p>
                      <a:pPr algn="ctr"/>
                      <a:r>
                        <a:rPr b="0" sz="1100">
                          <a:solidFill>
                            <a:srgbClr val="0F172A"/>
                          </a:solidFill>
                          <a:latin typeface="Segoe UI"/>
                        </a:rPr>
                        <a:t>~47.000 tokens (alto custo)</a:t>
                      </a:r>
                    </a:p>
                  </a:txBody>
                  <a:tcPr>
                    <a:solidFill>
                      <a:srgbClr val="F8FAFC"/>
                    </a:solidFill>
                  </a:tcPr>
                </a:tc>
                <a:tc>
                  <a:txBody>
                    <a:bodyPr wrap="square"/>
                    <a:lstStyle/>
                    <a:p>
                      <a:pPr algn="ctr"/>
                      <a:r>
                        <a:rPr b="0" sz="1100">
                          <a:solidFill>
                            <a:srgbClr val="0F172A"/>
                          </a:solidFill>
                          <a:latin typeface="Segoe UI"/>
                        </a:rPr>
                        <a:t>~4.000 tokens (alta otimização)</a:t>
                      </a:r>
                    </a:p>
                  </a:txBody>
                  <a:tcPr>
                    <a:solidFill>
                      <a:srgbClr val="F8FAFC"/>
                    </a:solidFill>
                  </a:tcPr>
                </a:tc>
              </a:tr>
              <a:tr h="457200">
                <a:tc>
                  <a:txBody>
                    <a:bodyPr wrap="square"/>
                    <a:lstStyle/>
                    <a:p>
                      <a:pPr algn="l"/>
                      <a:r>
                        <a:rPr b="0" sz="1100">
                          <a:solidFill>
                            <a:srgbClr val="0F172A"/>
                          </a:solidFill>
                          <a:latin typeface="Segoe UI"/>
                        </a:rPr>
                        <a:t>Complexidade de Código</a:t>
                      </a:r>
                    </a:p>
                  </a:txBody>
                  <a:tcPr>
                    <a:solidFill>
                      <a:srgbClr val="FFFFFF"/>
                    </a:solidFill>
                  </a:tcPr>
                </a:tc>
                <a:tc>
                  <a:txBody>
                    <a:bodyPr wrap="square"/>
                    <a:lstStyle/>
                    <a:p>
                      <a:pPr algn="ctr"/>
                      <a:r>
                        <a:rPr b="0" sz="1100">
                          <a:solidFill>
                            <a:srgbClr val="0F172A"/>
                          </a:solidFill>
                          <a:latin typeface="Segoe UI"/>
                        </a:rPr>
                        <a:t>Mínima (~20 linhas Go)</a:t>
                      </a:r>
                    </a:p>
                  </a:txBody>
                  <a:tcPr>
                    <a:solidFill>
                      <a:srgbClr val="FFFFFF"/>
                    </a:solidFill>
                  </a:tcPr>
                </a:tc>
                <a:tc>
                  <a:txBody>
                    <a:bodyPr wrap="square"/>
                    <a:lstStyle/>
                    <a:p>
                      <a:pPr algn="ctr"/>
                      <a:r>
                        <a:rPr b="0" sz="1100">
                          <a:solidFill>
                            <a:srgbClr val="0F172A"/>
                          </a:solidFill>
                          <a:latin typeface="Segoe UI"/>
                        </a:rPr>
                        <a:t>Moderada (~80 linhas Go)</a:t>
                      </a:r>
                    </a:p>
                  </a:txBody>
                  <a:tcP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Alvo do Fix: Concorrência no DeductStock</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40 / 50</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Código de E-Commerce — </a:t>
            </a:r>
            <a:r>
              <a:rPr b="0">
                <a:solidFill>
                  <a:srgbClr val="475569"/>
                </a:solidFill>
              </a:rPr>
              <a:t>O pacote de estoque `internal/inventory/service.go` possui a função DeductStock</a:t>
            </a:r>
          </a:p>
          <a:p>
            <a:pPr>
              <a:lnSpc>
                <a:spcPct val="125000"/>
              </a:lnSpc>
              <a:spcBef>
                <a:spcPts val="800"/>
              </a:spcBef>
              <a:spcAft>
                <a:spcPts val="1000"/>
              </a:spcAft>
              <a:defRPr sz="1300">
                <a:latin typeface="Segoe UI"/>
              </a:defRPr>
            </a:pPr>
            <a:r>
              <a:rPr b="1">
                <a:solidFill>
                  <a:srgbClr val="006FE6"/>
                </a:solidFill>
              </a:rPr>
              <a:t>Vulnerabilidade Concorrente — </a:t>
            </a:r>
            <a:r>
              <a:rPr b="0">
                <a:solidFill>
                  <a:srgbClr val="475569"/>
                </a:solidFill>
              </a:rPr>
              <a:t>Acesso concorrente ao mapa Go `products` sem travas causa pânico fatal no runtime</a:t>
            </a:r>
          </a:p>
          <a:p>
            <a:pPr>
              <a:lnSpc>
                <a:spcPct val="125000"/>
              </a:lnSpc>
              <a:spcBef>
                <a:spcPts val="800"/>
              </a:spcBef>
              <a:spcAft>
                <a:spcPts val="1000"/>
              </a:spcAft>
              <a:defRPr sz="1300">
                <a:latin typeface="Segoe UI"/>
              </a:defRPr>
            </a:pPr>
            <a:r>
              <a:rPr b="1">
                <a:solidFill>
                  <a:srgbClr val="006FE6"/>
                </a:solidFill>
              </a:rPr>
              <a:t>A Race Condition de Estado — </a:t>
            </a:r>
            <a:r>
              <a:rPr b="0">
                <a:solidFill>
                  <a:srgbClr val="475569"/>
                </a:solidFill>
              </a:rPr>
              <a:t>Múltiplas goroutines podem validar o estoque simultaneamente antes que a subtração aconteça</a:t>
            </a:r>
          </a:p>
          <a:p>
            <a:pPr>
              <a:lnSpc>
                <a:spcPct val="125000"/>
              </a:lnSpc>
              <a:spcBef>
                <a:spcPts val="800"/>
              </a:spcBef>
              <a:spcAft>
                <a:spcPts val="1000"/>
              </a:spcAft>
              <a:defRPr sz="1300">
                <a:latin typeface="Segoe UI"/>
              </a:defRPr>
            </a:pPr>
            <a:r>
              <a:rPr b="1">
                <a:solidFill>
                  <a:srgbClr val="006FE6"/>
                </a:solidFill>
              </a:rPr>
              <a:t>O Teste de Concorrência (`-race`) — </a:t>
            </a:r>
            <a:r>
              <a:rPr b="0">
                <a:solidFill>
                  <a:srgbClr val="475569"/>
                </a:solidFill>
              </a:rPr>
              <a:t>Temos um teste de WaitGroup simulando 20 requisições simultâneas para um estoque de 10</a:t>
            </a:r>
          </a:p>
          <a:p>
            <a:pPr>
              <a:lnSpc>
                <a:spcPct val="125000"/>
              </a:lnSpc>
              <a:spcBef>
                <a:spcPts val="800"/>
              </a:spcBef>
              <a:spcAft>
                <a:spcPts val="1000"/>
              </a:spcAft>
              <a:defRPr sz="1300">
                <a:latin typeface="Segoe UI"/>
              </a:defRPr>
            </a:pPr>
            <a:r>
              <a:rPr b="1">
                <a:solidFill>
                  <a:srgbClr val="006FE6"/>
                </a:solidFill>
              </a:rPr>
              <a:t>O Objetivo da Demo — </a:t>
            </a:r>
            <a:r>
              <a:rPr b="0">
                <a:solidFill>
                  <a:srgbClr val="475569"/>
                </a:solidFill>
              </a:rPr>
              <a:t>O agente Cline precisa ler a TASK-001 via MCP, entender o bug de concorrência e aplicar sync.Mutex</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cmd/smart/main.go</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func (s *Service) DeductStock(productID string, quantity int) error {</a:t>
            </a:r>
          </a:p>
          <a:p>
            <a:pPr>
              <a:spcAft>
                <a:spcPts val="200"/>
              </a:spcAft>
              <a:defRPr sz="950">
                <a:solidFill>
                  <a:srgbClr val="0F172A"/>
                </a:solidFill>
                <a:latin typeface="Consolas"/>
              </a:defRPr>
            </a:pPr>
            <a:r>
              <a:t>    p, ok := s.products[productID] // Concorrência no Mapa (Fatal!)</a:t>
            </a:r>
          </a:p>
          <a:p>
            <a:pPr>
              <a:spcAft>
                <a:spcPts val="200"/>
              </a:spcAft>
              <a:defRPr sz="950">
                <a:solidFill>
                  <a:srgbClr val="0F172A"/>
                </a:solidFill>
                <a:latin typeface="Consolas"/>
              </a:defRPr>
            </a:pPr>
            <a:r>
              <a:t>    if !ok {</a:t>
            </a:r>
          </a:p>
          <a:p>
            <a:pPr>
              <a:spcAft>
                <a:spcPts val="200"/>
              </a:spcAft>
              <a:defRPr sz="950">
                <a:solidFill>
                  <a:srgbClr val="0F172A"/>
                </a:solidFill>
                <a:latin typeface="Consolas"/>
              </a:defRPr>
            </a:pPr>
            <a:r>
              <a:t>        return fmt.Errorf("produto %s não encontrado", productID)</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p>
          <a:p>
            <a:pPr>
              <a:spcAft>
                <a:spcPts val="200"/>
              </a:spcAft>
              <a:defRPr sz="950">
                <a:solidFill>
                  <a:srgbClr val="0F172A"/>
                </a:solidFill>
                <a:latin typeface="Consolas"/>
              </a:defRPr>
            </a:pPr>
            <a:r>
              <a:t>    // BUG: Race condition aqui. Múltiplas goroutines compram juntas!</a:t>
            </a:r>
          </a:p>
          <a:p>
            <a:pPr>
              <a:spcAft>
                <a:spcPts val="200"/>
              </a:spcAft>
              <a:defRPr sz="950">
                <a:solidFill>
                  <a:srgbClr val="0F172A"/>
                </a:solidFill>
                <a:latin typeface="Consolas"/>
              </a:defRPr>
            </a:pPr>
            <a:r>
              <a:t>    if p.Stock &lt; quantity {</a:t>
            </a:r>
          </a:p>
          <a:p>
            <a:pPr>
              <a:spcAft>
                <a:spcPts val="200"/>
              </a:spcAft>
              <a:defRPr sz="950">
                <a:solidFill>
                  <a:srgbClr val="0F172A"/>
                </a:solidFill>
                <a:latin typeface="Consolas"/>
              </a:defRPr>
            </a:pPr>
            <a:r>
              <a:t>        return ErrInsufficientStock</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p>
          <a:p>
            <a:pPr>
              <a:spcAft>
                <a:spcPts val="200"/>
              </a:spcAft>
              <a:defRPr sz="950">
                <a:solidFill>
                  <a:srgbClr val="0F172A"/>
                </a:solidFill>
                <a:latin typeface="Consolas"/>
              </a:defRPr>
            </a:pPr>
            <a:r>
              <a:t>    p.Stock -= quantity // Modificação Concorrente sem Locks!</a:t>
            </a:r>
          </a:p>
          <a:p>
            <a:pPr>
              <a:spcAft>
                <a:spcPts val="200"/>
              </a:spcAft>
              <a:defRPr sz="950">
                <a:solidFill>
                  <a:srgbClr val="0F172A"/>
                </a:solidFill>
                <a:latin typeface="Consolas"/>
              </a:defRPr>
            </a:pPr>
            <a:r>
              <a:t>    return nil</a:t>
            </a:r>
          </a:p>
          <a:p>
            <a:pPr>
              <a:spcAft>
                <a:spcPts val="200"/>
              </a:spcAft>
              <a:defRPr sz="950">
                <a:solidFill>
                  <a:srgbClr val="0F172A"/>
                </a:solidFill>
                <a:latin typeface="Consolas"/>
              </a:defRPr>
            </a:pPr>
            <a: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Como o Agente Pensa: O Loop ReAct</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41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Além de Chat Completions — </a:t>
            </a:r>
            <a:r>
              <a:rPr b="0">
                <a:solidFill>
                  <a:srgbClr val="475569"/>
                </a:solidFill>
              </a:rPr>
              <a:t>Agentes não apenas geram texto; eles executam ações de forma iterativa</a:t>
            </a:r>
          </a:p>
          <a:p>
            <a:pPr>
              <a:lnSpc>
                <a:spcPct val="125000"/>
              </a:lnSpc>
              <a:spcBef>
                <a:spcPts val="800"/>
              </a:spcBef>
              <a:spcAft>
                <a:spcPts val="1000"/>
              </a:spcAft>
              <a:defRPr sz="1300">
                <a:latin typeface="Segoe UI"/>
              </a:defRPr>
            </a:pPr>
            <a:r>
              <a:rPr b="1">
                <a:solidFill>
                  <a:srgbClr val="006FE6"/>
                </a:solidFill>
              </a:rPr>
              <a:t>Padrão ReAct (Reasoning &amp; Acting) — </a:t>
            </a:r>
            <a:r>
              <a:rPr b="0">
                <a:solidFill>
                  <a:srgbClr val="475569"/>
                </a:solidFill>
              </a:rPr>
              <a:t>Paradigma de execução que combina raciocínio lógico e chamadas de ferramentas</a:t>
            </a:r>
          </a:p>
          <a:p>
            <a:pPr>
              <a:lnSpc>
                <a:spcPct val="125000"/>
              </a:lnSpc>
              <a:spcBef>
                <a:spcPts val="800"/>
              </a:spcBef>
              <a:spcAft>
                <a:spcPts val="1000"/>
              </a:spcAft>
              <a:defRPr sz="1300">
                <a:latin typeface="Segoe UI"/>
              </a:defRPr>
            </a:pPr>
            <a:r>
              <a:rPr b="1">
                <a:solidFill>
                  <a:srgbClr val="006FE6"/>
                </a:solidFill>
              </a:rPr>
              <a:t>Fase 1: Thought (Raciocínio) — </a:t>
            </a:r>
            <a:r>
              <a:rPr b="0">
                <a:solidFill>
                  <a:srgbClr val="475569"/>
                </a:solidFill>
              </a:rPr>
              <a:t>O agente analisa o estado atual da tarefa e decide o que fazer</a:t>
            </a:r>
          </a:p>
          <a:p>
            <a:pPr>
              <a:lnSpc>
                <a:spcPct val="125000"/>
              </a:lnSpc>
              <a:spcBef>
                <a:spcPts val="800"/>
              </a:spcBef>
              <a:spcAft>
                <a:spcPts val="1000"/>
              </a:spcAft>
              <a:defRPr sz="1300">
                <a:latin typeface="Segoe UI"/>
              </a:defRPr>
            </a:pPr>
            <a:r>
              <a:rPr b="1">
                <a:solidFill>
                  <a:srgbClr val="006FE6"/>
                </a:solidFill>
              </a:rPr>
              <a:t>Fase 2: Action (Ação) — </a:t>
            </a:r>
            <a:r>
              <a:rPr b="0">
                <a:solidFill>
                  <a:srgbClr val="475569"/>
                </a:solidFill>
              </a:rPr>
              <a:t>Chama uma ferramenta do MCP (como `read_vault` ou `search_vault`)</a:t>
            </a:r>
          </a:p>
          <a:p>
            <a:pPr>
              <a:lnSpc>
                <a:spcPct val="125000"/>
              </a:lnSpc>
              <a:spcBef>
                <a:spcPts val="800"/>
              </a:spcBef>
              <a:spcAft>
                <a:spcPts val="1000"/>
              </a:spcAft>
              <a:defRPr sz="1300">
                <a:latin typeface="Segoe UI"/>
              </a:defRPr>
            </a:pPr>
            <a:r>
              <a:rPr b="1">
                <a:solidFill>
                  <a:srgbClr val="006FE6"/>
                </a:solidFill>
              </a:rPr>
              <a:t>Fase 3: Observation (Observação) — </a:t>
            </a:r>
            <a:r>
              <a:rPr b="0">
                <a:solidFill>
                  <a:srgbClr val="475569"/>
                </a:solidFill>
              </a:rPr>
              <a:t>O agente lê o resultado retornado pelo MCP e avalia o que mudou</a:t>
            </a:r>
          </a:p>
          <a:p>
            <a:pPr>
              <a:lnSpc>
                <a:spcPct val="125000"/>
              </a:lnSpc>
              <a:spcBef>
                <a:spcPts val="800"/>
              </a:spcBef>
              <a:spcAft>
                <a:spcPts val="1000"/>
              </a:spcAft>
              <a:defRPr sz="1300">
                <a:latin typeface="Segoe UI"/>
              </a:defRPr>
            </a:pPr>
            <a:r>
              <a:rPr b="1">
                <a:solidFill>
                  <a:srgbClr val="006FE6"/>
                </a:solidFill>
              </a:rPr>
              <a:t>Ciclo de Resolução — </a:t>
            </a:r>
            <a:r>
              <a:rPr b="0">
                <a:solidFill>
                  <a:srgbClr val="475569"/>
                </a:solidFill>
              </a:rPr>
              <a:t>O loop repete-se de forma autônoma até o bug ser encontrado, corrigido e validado com testes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04</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04</a:t>
            </a:r>
          </a:p>
          <a:p>
            <a:pPr>
              <a:spcAft>
                <a:spcPts val="1500"/>
              </a:spcAft>
              <a:defRPr sz="3600" b="1">
                <a:solidFill>
                  <a:srgbClr val="FFFFFF"/>
                </a:solidFill>
                <a:latin typeface="Segoe UI"/>
              </a:defRPr>
            </a:pPr>
            <a:r>
              <a:t>A PROVA REAL: DEMOS</a:t>
            </a:r>
          </a:p>
          <a:p>
            <a:pPr>
              <a:spcBef>
                <a:spcPts val="1500"/>
              </a:spcBef>
              <a:defRPr sz="1500">
                <a:solidFill>
                  <a:srgbClr val="94A3B8"/>
                </a:solidFill>
                <a:latin typeface="Segoe UI"/>
              </a:defRPr>
            </a:pPr>
            <a:r>
              <a:t>Cena 1 (nuvem + dumb) contra Cena 2 (local + smart) ao vivo na tela</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Protagonista da Demo: Configurando o Cline</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42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Extensão VS Code — </a:t>
            </a:r>
            <a:r>
              <a:rPr b="0">
                <a:solidFill>
                  <a:srgbClr val="475569"/>
                </a:solidFill>
              </a:rPr>
              <a:t>O Cline opera como uma extensão de chat e automação de arquivos integrada no editor</a:t>
            </a:r>
          </a:p>
          <a:p>
            <a:pPr>
              <a:lnSpc>
                <a:spcPct val="125000"/>
              </a:lnSpc>
              <a:spcBef>
                <a:spcPts val="800"/>
              </a:spcBef>
              <a:spcAft>
                <a:spcPts val="1000"/>
              </a:spcAft>
              <a:defRPr sz="1300">
                <a:latin typeface="Segoe UI"/>
              </a:defRPr>
            </a:pPr>
            <a:r>
              <a:rPr b="1">
                <a:solidFill>
                  <a:srgbClr val="006FE6"/>
                </a:solidFill>
              </a:rPr>
              <a:t>Apontamento Local — </a:t>
            </a:r>
            <a:r>
              <a:rPr b="0">
                <a:solidFill>
                  <a:srgbClr val="475569"/>
                </a:solidFill>
              </a:rPr>
              <a:t>Configuramos o provedor para API Compatível com OpenAI, base URL `http://localhost:11435/v1`</a:t>
            </a:r>
          </a:p>
          <a:p>
            <a:pPr>
              <a:lnSpc>
                <a:spcPct val="125000"/>
              </a:lnSpc>
              <a:spcBef>
                <a:spcPts val="800"/>
              </a:spcBef>
              <a:spcAft>
                <a:spcPts val="1000"/>
              </a:spcAft>
              <a:defRPr sz="1300">
                <a:latin typeface="Segoe UI"/>
              </a:defRPr>
            </a:pPr>
            <a:r>
              <a:rPr b="1">
                <a:solidFill>
                  <a:srgbClr val="006FE6"/>
                </a:solidFill>
              </a:rPr>
              <a:t>Seleção de Modelo — </a:t>
            </a:r>
            <a:r>
              <a:rPr b="0">
                <a:solidFill>
                  <a:srgbClr val="475569"/>
                </a:solidFill>
              </a:rPr>
              <a:t>Apontamos o ID do modelo para `gpt-oss-20b-Q8_0` que o Kronk mantém carregado no pool</a:t>
            </a:r>
          </a:p>
          <a:p>
            <a:pPr>
              <a:lnSpc>
                <a:spcPct val="125000"/>
              </a:lnSpc>
              <a:spcBef>
                <a:spcPts val="800"/>
              </a:spcBef>
              <a:spcAft>
                <a:spcPts val="1000"/>
              </a:spcAft>
              <a:defRPr sz="1300">
                <a:latin typeface="Segoe UI"/>
              </a:defRPr>
            </a:pPr>
            <a:r>
              <a:rPr b="1">
                <a:solidFill>
                  <a:srgbClr val="006FE6"/>
                </a:solidFill>
              </a:rPr>
              <a:t>Contador de Tokens — </a:t>
            </a:r>
            <a:r>
              <a:rPr b="0">
                <a:solidFill>
                  <a:srgbClr val="475569"/>
                </a:solidFill>
              </a:rPr>
              <a:t>Cline exibe nativamente a quantidade de tokens consumida por turno e o custo em dólares</a:t>
            </a:r>
          </a:p>
          <a:p>
            <a:pPr>
              <a:lnSpc>
                <a:spcPct val="125000"/>
              </a:lnSpc>
              <a:spcBef>
                <a:spcPts val="800"/>
              </a:spcBef>
              <a:spcAft>
                <a:spcPts val="1000"/>
              </a:spcAft>
              <a:defRPr sz="1300">
                <a:latin typeface="Segoe UI"/>
              </a:defRPr>
            </a:pPr>
            <a:r>
              <a:rPr b="1">
                <a:solidFill>
                  <a:srgbClr val="006FE6"/>
                </a:solidFill>
              </a:rPr>
              <a:t>O Clímax das Cenas — </a:t>
            </a:r>
            <a:r>
              <a:rPr b="0">
                <a:solidFill>
                  <a:srgbClr val="475569"/>
                </a:solidFill>
              </a:rPr>
              <a:t>Na Cena 1, o MCP Dumb inunda o contexto (Custo: $1.43); na Cena 2, o MCP Smart filtra cirurgicamente (Custo: $0.00)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Chegou a hora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43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Cenários idênticos — </a:t>
            </a:r>
            <a:r>
              <a:rPr b="0">
                <a:solidFill>
                  <a:srgbClr val="475569"/>
                </a:solidFill>
              </a:rPr>
              <a:t>mesmo agente Cline, mesma pergunta disparada pelo prompt</a:t>
            </a:r>
          </a:p>
          <a:p>
            <a:pPr>
              <a:lnSpc>
                <a:spcPct val="125000"/>
              </a:lnSpc>
              <a:spcBef>
                <a:spcPts val="800"/>
              </a:spcBef>
              <a:spcAft>
                <a:spcPts val="1000"/>
              </a:spcAft>
              <a:defRPr sz="1300">
                <a:latin typeface="Segoe UI"/>
              </a:defRPr>
            </a:pPr>
            <a:r>
              <a:rPr b="1">
                <a:solidFill>
                  <a:srgbClr val="006FE6"/>
                </a:solidFill>
              </a:rPr>
              <a:t>Abordagens antagônicas — </a:t>
            </a:r>
            <a:r>
              <a:rPr b="0">
                <a:solidFill>
                  <a:srgbClr val="475569"/>
                </a:solidFill>
              </a:rPr>
              <a:t>busca semântica inteligente contra dump de dados massivos</a:t>
            </a:r>
          </a:p>
          <a:p>
            <a:pPr>
              <a:lnSpc>
                <a:spcPct val="125000"/>
              </a:lnSpc>
              <a:spcBef>
                <a:spcPts val="800"/>
              </a:spcBef>
              <a:spcAft>
                <a:spcPts val="1000"/>
              </a:spcAft>
              <a:defRPr sz="1300">
                <a:latin typeface="Segoe UI"/>
              </a:defRPr>
            </a:pPr>
            <a:r>
              <a:rPr b="1">
                <a:solidFill>
                  <a:srgbClr val="006FE6"/>
                </a:solidFill>
              </a:rPr>
              <a:t>Dois ambientes de testes de custos — </a:t>
            </a:r>
            <a:r>
              <a:rPr b="0">
                <a:solidFill>
                  <a:srgbClr val="475569"/>
                </a:solidFill>
              </a:rPr>
              <a:t>Cena 1 (Nuvem paga) vs Cena 2 (Kronk local)</a:t>
            </a:r>
          </a:p>
          <a:p>
            <a:pPr>
              <a:lnSpc>
                <a:spcPct val="125000"/>
              </a:lnSpc>
              <a:spcBef>
                <a:spcPts val="800"/>
              </a:spcBef>
              <a:spcAft>
                <a:spcPts val="1000"/>
              </a:spcAft>
              <a:defRPr sz="1300">
                <a:latin typeface="Segoe UI"/>
              </a:defRPr>
            </a:pPr>
            <a:r>
              <a:rPr b="1">
                <a:solidFill>
                  <a:srgbClr val="006FE6"/>
                </a:solidFill>
              </a:rPr>
              <a:t>Visualização direta — </a:t>
            </a:r>
            <a:r>
              <a:rPr b="0">
                <a:solidFill>
                  <a:srgbClr val="475569"/>
                </a:solidFill>
              </a:rPr>
              <a:t>acompanhe os contadores integrados de tokens e custos na UI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Apresentando a Cena 1</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44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Backend do Provedor — </a:t>
            </a:r>
            <a:r>
              <a:rPr b="0">
                <a:solidFill>
                  <a:srgbClr val="475569"/>
                </a:solidFill>
              </a:rPr>
              <a:t>API de nuvem comercial do parceiro integrada com créditos de uso</a:t>
            </a:r>
          </a:p>
          <a:p>
            <a:pPr>
              <a:lnSpc>
                <a:spcPct val="125000"/>
              </a:lnSpc>
              <a:spcBef>
                <a:spcPts val="800"/>
              </a:spcBef>
              <a:spcAft>
                <a:spcPts val="1000"/>
              </a:spcAft>
              <a:defRPr sz="1300">
                <a:latin typeface="Segoe UI"/>
              </a:defRPr>
            </a:pPr>
            <a:r>
              <a:rPr b="1">
                <a:solidFill>
                  <a:srgbClr val="006FE6"/>
                </a:solidFill>
              </a:rPr>
              <a:t>Servidor MCP ativo — </a:t>
            </a:r>
            <a:r>
              <a:rPr b="0">
                <a:solidFill>
                  <a:srgbClr val="475569"/>
                </a:solidFill>
              </a:rPr>
              <a:t>vault_dumb escutando na porta local :9001</a:t>
            </a:r>
          </a:p>
          <a:p>
            <a:pPr>
              <a:lnSpc>
                <a:spcPct val="125000"/>
              </a:lnSpc>
              <a:spcBef>
                <a:spcPts val="800"/>
              </a:spcBef>
              <a:spcAft>
                <a:spcPts val="1000"/>
              </a:spcAft>
              <a:defRPr sz="1300">
                <a:latin typeface="Segoe UI"/>
              </a:defRPr>
            </a:pPr>
            <a:r>
              <a:rPr b="1">
                <a:solidFill>
                  <a:srgbClr val="006FE6"/>
                </a:solidFill>
              </a:rPr>
              <a:t>Preparação dos contadores — </a:t>
            </a:r>
            <a:r>
              <a:rPr b="0">
                <a:solidFill>
                  <a:srgbClr val="475569"/>
                </a:solidFill>
              </a:rPr>
              <a:t>zerados para garantir transparência na medição dos gastos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1 ao vivo  [DEMO]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45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prompt de comando — </a:t>
            </a:r>
            <a:r>
              <a:rPr b="0">
                <a:solidFill>
                  <a:srgbClr val="475569"/>
                </a:solidFill>
              </a:rPr>
              <a:t>'Leia a TASK-001 no vault do Obsidian e resolva o problema de concorrência'</a:t>
            </a:r>
          </a:p>
          <a:p>
            <a:pPr>
              <a:lnSpc>
                <a:spcPct val="125000"/>
              </a:lnSpc>
              <a:spcBef>
                <a:spcPts val="800"/>
              </a:spcBef>
              <a:spcAft>
                <a:spcPts val="1000"/>
              </a:spcAft>
              <a:defRPr sz="1300">
                <a:latin typeface="Segoe UI"/>
              </a:defRPr>
            </a:pPr>
            <a:r>
              <a:rPr b="1">
                <a:solidFill>
                  <a:srgbClr val="006FE6"/>
                </a:solidFill>
              </a:rPr>
              <a:t>Decisão autônoma — </a:t>
            </a:r>
            <a:r>
              <a:rPr b="0">
                <a:solidFill>
                  <a:srgbClr val="475569"/>
                </a:solidFill>
              </a:rPr>
              <a:t>o agente escolhe chamar read_vault (única ferramenta disponível)</a:t>
            </a:r>
          </a:p>
          <a:p>
            <a:pPr>
              <a:lnSpc>
                <a:spcPct val="125000"/>
              </a:lnSpc>
              <a:spcBef>
                <a:spcPts val="800"/>
              </a:spcBef>
              <a:spcAft>
                <a:spcPts val="1000"/>
              </a:spcAft>
              <a:defRPr sz="1300">
                <a:latin typeface="Segoe UI"/>
              </a:defRPr>
            </a:pPr>
            <a:r>
              <a:rPr b="1">
                <a:solidFill>
                  <a:srgbClr val="006FE6"/>
                </a:solidFill>
              </a:rPr>
              <a:t>Volume de processamento — </a:t>
            </a:r>
            <a:r>
              <a:rPr b="0">
                <a:solidFill>
                  <a:srgbClr val="475569"/>
                </a:solidFill>
              </a:rPr>
              <a:t>observe a subida massiva do contador de tokens e custo disparando na tela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Métricas de Consumo: Cena 1</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46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Controle de custos reais — </a:t>
            </a:r>
            <a:r>
              <a:rPr b="0">
                <a:solidFill>
                  <a:srgbClr val="475569"/>
                </a:solidFill>
              </a:rPr>
              <a:t>exibição direta do consumo financeiro e de volume medidos no terminal</a:t>
            </a:r>
          </a:p>
          <a:p>
            <a:pPr>
              <a:lnSpc>
                <a:spcPct val="125000"/>
              </a:lnSpc>
              <a:spcBef>
                <a:spcPts val="800"/>
              </a:spcBef>
              <a:spcAft>
                <a:spcPts val="1000"/>
              </a:spcAft>
              <a:defRPr sz="1300">
                <a:latin typeface="Segoe UI"/>
              </a:defRPr>
            </a:pPr>
            <a:r>
              <a:rPr b="1">
                <a:solidFill>
                  <a:srgbClr val="006FE6"/>
                </a:solidFill>
              </a:rPr>
              <a:t>O impacto do desperdício — </a:t>
            </a:r>
            <a:r>
              <a:rPr b="0">
                <a:solidFill>
                  <a:srgbClr val="475569"/>
                </a:solidFill>
              </a:rPr>
              <a:t>volume expressivo de tokens consumidos apenas na coleta do contexto</a:t>
            </a:r>
          </a:p>
          <a:p>
            <a:pPr>
              <a:lnSpc>
                <a:spcPct val="125000"/>
              </a:lnSpc>
              <a:spcBef>
                <a:spcPts val="800"/>
              </a:spcBef>
              <a:spcAft>
                <a:spcPts val="1000"/>
              </a:spcAft>
              <a:defRPr sz="1300">
                <a:latin typeface="Segoe UI"/>
              </a:defRPr>
            </a:pPr>
            <a:r>
              <a:rPr b="1">
                <a:solidFill>
                  <a:srgbClr val="006FE6"/>
                </a:solidFill>
              </a:rPr>
              <a:t>Análise do gargalo — </a:t>
            </a:r>
            <a:r>
              <a:rPr b="0">
                <a:solidFill>
                  <a:srgbClr val="475569"/>
                </a:solidFill>
              </a:rPr>
              <a:t>a simplicidade de código do dumb mcp penaliza financeiramente o negócio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Apresentando a Cena 2</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47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Infraestrutura de inferência — </a:t>
            </a:r>
            <a:r>
              <a:rPr b="0">
                <a:solidFill>
                  <a:srgbClr val="475569"/>
                </a:solidFill>
              </a:rPr>
              <a:t>Kronk rodando localmente na máquina do desenvolvedor (:11435)</a:t>
            </a:r>
          </a:p>
          <a:p>
            <a:pPr>
              <a:lnSpc>
                <a:spcPct val="125000"/>
              </a:lnSpc>
              <a:spcBef>
                <a:spcPts val="800"/>
              </a:spcBef>
              <a:spcAft>
                <a:spcPts val="1000"/>
              </a:spcAft>
              <a:defRPr sz="1300">
                <a:latin typeface="Segoe UI"/>
              </a:defRPr>
            </a:pPr>
            <a:r>
              <a:rPr b="1">
                <a:solidFill>
                  <a:srgbClr val="006FE6"/>
                </a:solidFill>
              </a:rPr>
              <a:t>Servidor MCP ativo — </a:t>
            </a:r>
            <a:r>
              <a:rPr b="0">
                <a:solidFill>
                  <a:srgbClr val="475569"/>
                </a:solidFill>
              </a:rPr>
              <a:t>vault_smart habilitado de forma exclusiva na porta local :9002</a:t>
            </a:r>
          </a:p>
          <a:p>
            <a:pPr>
              <a:lnSpc>
                <a:spcPct val="125000"/>
              </a:lnSpc>
              <a:spcBef>
                <a:spcPts val="800"/>
              </a:spcBef>
              <a:spcAft>
                <a:spcPts val="1000"/>
              </a:spcAft>
              <a:defRPr sz="1300">
                <a:latin typeface="Segoe UI"/>
              </a:defRPr>
            </a:pPr>
            <a:r>
              <a:rPr b="1">
                <a:solidFill>
                  <a:srgbClr val="006FE6"/>
                </a:solidFill>
              </a:rPr>
              <a:t>Simetria de teste — </a:t>
            </a:r>
            <a:r>
              <a:rPr b="0">
                <a:solidFill>
                  <a:srgbClr val="475569"/>
                </a:solidFill>
              </a:rPr>
              <a:t>mesmo prompt textual colado exatamente de forma idêntica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2 ao vivo  [DEMO]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48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Início do fluxo — </a:t>
            </a:r>
            <a:r>
              <a:rPr b="0">
                <a:solidFill>
                  <a:srgbClr val="475569"/>
                </a:solidFill>
              </a:rPr>
              <a:t>envio do prompt idêntico sem acesso de rede externa</a:t>
            </a:r>
          </a:p>
          <a:p>
            <a:pPr>
              <a:lnSpc>
                <a:spcPct val="125000"/>
              </a:lnSpc>
              <a:spcBef>
                <a:spcPts val="800"/>
              </a:spcBef>
              <a:spcAft>
                <a:spcPts val="1000"/>
              </a:spcAft>
              <a:defRPr sz="1300">
                <a:latin typeface="Segoe UI"/>
              </a:defRPr>
            </a:pPr>
            <a:r>
              <a:rPr b="1">
                <a:solidFill>
                  <a:srgbClr val="006FE6"/>
                </a:solidFill>
              </a:rPr>
              <a:t>Chamada qualificada — </a:t>
            </a:r>
            <a:r>
              <a:rPr b="0">
                <a:solidFill>
                  <a:srgbClr val="475569"/>
                </a:solidFill>
              </a:rPr>
              <a:t>agente Cline decide consultar a ferramenta search_vault</a:t>
            </a:r>
          </a:p>
          <a:p>
            <a:pPr>
              <a:lnSpc>
                <a:spcPct val="125000"/>
              </a:lnSpc>
              <a:spcBef>
                <a:spcPts val="800"/>
              </a:spcBef>
              <a:spcAft>
                <a:spcPts val="1000"/>
              </a:spcAft>
              <a:defRPr sz="1300">
                <a:latin typeface="Segoe UI"/>
              </a:defRPr>
            </a:pPr>
            <a:r>
              <a:rPr b="1">
                <a:solidFill>
                  <a:srgbClr val="006FE6"/>
                </a:solidFill>
              </a:rPr>
              <a:t>Processamento cirúrgico — </a:t>
            </a:r>
            <a:r>
              <a:rPr b="0">
                <a:solidFill>
                  <a:srgbClr val="475569"/>
                </a:solidFill>
              </a:rPr>
              <a:t>o modelo local recebe apenas os 3 documentos com semântica compatível</a:t>
            </a:r>
          </a:p>
          <a:p>
            <a:pPr>
              <a:lnSpc>
                <a:spcPct val="125000"/>
              </a:lnSpc>
              <a:spcBef>
                <a:spcPts val="800"/>
              </a:spcBef>
              <a:spcAft>
                <a:spcPts val="1000"/>
              </a:spcAft>
              <a:defRPr sz="1300">
                <a:latin typeface="Segoe UI"/>
              </a:defRPr>
            </a:pPr>
            <a:r>
              <a:rPr b="1">
                <a:solidFill>
                  <a:srgbClr val="006FE6"/>
                </a:solidFill>
              </a:rPr>
              <a:t>Custo financeiro absoluto — </a:t>
            </a:r>
            <a:r>
              <a:rPr b="0">
                <a:solidFill>
                  <a:srgbClr val="475569"/>
                </a:solidFill>
              </a:rPr>
              <a:t>zero dólares e zero centavos consumidos rodando de forma local-first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05</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05</a:t>
            </a:r>
          </a:p>
          <a:p>
            <a:pPr>
              <a:spcAft>
                <a:spcPts val="1500"/>
              </a:spcAft>
              <a:defRPr sz="3600" b="1">
                <a:solidFill>
                  <a:srgbClr val="FFFFFF"/>
                </a:solidFill>
                <a:latin typeface="Segoe UI"/>
              </a:defRPr>
            </a:pPr>
            <a:r>
              <a:t>CONCLUINDO A JORNADA</a:t>
            </a:r>
          </a:p>
          <a:p>
            <a:pPr>
              <a:spcBef>
                <a:spcPts val="1500"/>
              </a:spcBef>
              <a:defRPr sz="1500">
                <a:solidFill>
                  <a:srgbClr val="94A3B8"/>
                </a:solidFill>
                <a:latin typeface="Segoe UI"/>
              </a:defRPr>
            </a:pPr>
            <a:r>
              <a:t>Key takeaways, caminhos de escala e o futuro do desenvolvedor Go</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FECHAMENTO DA TALK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Comparativo Consolidado: Cena 1 vs Cena 2</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49 / 50</a:t>
            </a:r>
          </a:p>
        </p:txBody>
      </p:sp>
      <p:graphicFrame>
        <p:nvGraphicFramePr>
          <p:cNvPr id="8" name="Table 7"/>
          <p:cNvGraphicFramePr>
            <a:graphicFrameLocks noGrp="1"/>
          </p:cNvGraphicFramePr>
          <p:nvPr/>
        </p:nvGraphicFramePr>
        <p:xfrm>
          <a:off x="548640" y="1737360"/>
          <a:ext cx="11094415" cy="27432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pPr algn="l"/>
                      <a:r>
                        <a:rPr b="1" sz="1200">
                          <a:solidFill>
                            <a:srgbClr val="00D2FF"/>
                          </a:solidFill>
                          <a:latin typeface="Segoe UI"/>
                        </a:rPr>
                        <a:t>Comparativo</a:t>
                      </a:r>
                    </a:p>
                  </a:txBody>
                  <a:tcPr>
                    <a:solidFill>
                      <a:srgbClr val="0A2540"/>
                    </a:solidFill>
                  </a:tcPr>
                </a:tc>
                <a:tc>
                  <a:txBody>
                    <a:bodyPr wrap="square"/>
                    <a:lstStyle/>
                    <a:p>
                      <a:pPr algn="ctr"/>
                      <a:r>
                        <a:rPr b="1" sz="1200">
                          <a:solidFill>
                            <a:srgbClr val="00D2FF"/>
                          </a:solidFill>
                          <a:latin typeface="Segoe UI"/>
                        </a:rPr>
                        <a:t>Cena 1 (Nuvem + Dumb MCP)</a:t>
                      </a:r>
                    </a:p>
                  </a:txBody>
                  <a:tcPr>
                    <a:solidFill>
                      <a:srgbClr val="0A2540"/>
                    </a:solidFill>
                  </a:tcPr>
                </a:tc>
                <a:tc>
                  <a:txBody>
                    <a:bodyPr wrap="square"/>
                    <a:lstStyle/>
                    <a:p>
                      <a:pPr algn="ctr"/>
                      <a:r>
                        <a:rPr b="1" sz="1200">
                          <a:solidFill>
                            <a:srgbClr val="00D2FF"/>
                          </a:solidFill>
                          <a:latin typeface="Segoe UI"/>
                        </a:rPr>
                        <a:t>Cena 2 (Kronk + Smart MCP)</a:t>
                      </a:r>
                    </a:p>
                  </a:txBody>
                  <a:tcPr>
                    <a:solidFill>
                      <a:srgbClr val="0A2540"/>
                    </a:solidFill>
                  </a:tcPr>
                </a:tc>
              </a:tr>
              <a:tr h="457200">
                <a:tc>
                  <a:txBody>
                    <a:bodyPr wrap="square"/>
                    <a:lstStyle/>
                    <a:p>
                      <a:pPr algn="l"/>
                      <a:r>
                        <a:rPr b="0" sz="1100">
                          <a:solidFill>
                            <a:srgbClr val="0F172A"/>
                          </a:solidFill>
                          <a:latin typeface="Segoe UI"/>
                        </a:rPr>
                        <a:t>Tokens Consumidos</a:t>
                      </a:r>
                    </a:p>
                  </a:txBody>
                  <a:tcPr>
                    <a:solidFill>
                      <a:srgbClr val="F8FAFC"/>
                    </a:solidFill>
                  </a:tcPr>
                </a:tc>
                <a:tc>
                  <a:txBody>
                    <a:bodyPr wrap="square"/>
                    <a:lstStyle/>
                    <a:p>
                      <a:pPr algn="ctr"/>
                      <a:r>
                        <a:rPr b="0" sz="1100">
                          <a:solidFill>
                            <a:srgbClr val="0F172A"/>
                          </a:solidFill>
                          <a:latin typeface="Segoe UI"/>
                        </a:rPr>
                        <a:t>Massivo (~47.000 tokens)</a:t>
                      </a:r>
                    </a:p>
                  </a:txBody>
                  <a:tcPr>
                    <a:solidFill>
                      <a:srgbClr val="F8FAFC"/>
                    </a:solidFill>
                  </a:tcPr>
                </a:tc>
                <a:tc>
                  <a:txBody>
                    <a:bodyPr wrap="square"/>
                    <a:lstStyle/>
                    <a:p>
                      <a:pPr algn="ctr"/>
                      <a:r>
                        <a:rPr b="0" sz="1100">
                          <a:solidFill>
                            <a:srgbClr val="0F172A"/>
                          </a:solidFill>
                          <a:latin typeface="Segoe UI"/>
                        </a:rPr>
                        <a:t>Otimizado (~4.000 tokens)</a:t>
                      </a:r>
                    </a:p>
                  </a:txBody>
                  <a:tcPr>
                    <a:solidFill>
                      <a:srgbClr val="F8FAFC"/>
                    </a:solidFill>
                  </a:tcPr>
                </a:tc>
              </a:tr>
              <a:tr h="457200">
                <a:tc>
                  <a:txBody>
                    <a:bodyPr wrap="square"/>
                    <a:lstStyle/>
                    <a:p>
                      <a:pPr algn="l"/>
                      <a:r>
                        <a:rPr b="0" sz="1100">
                          <a:solidFill>
                            <a:srgbClr val="0F172A"/>
                          </a:solidFill>
                          <a:latin typeface="Segoe UI"/>
                        </a:rPr>
                        <a:t>Custo Financeiro</a:t>
                      </a:r>
                    </a:p>
                  </a:txBody>
                  <a:tcPr>
                    <a:solidFill>
                      <a:srgbClr val="FFFFFF"/>
                    </a:solidFill>
                  </a:tcPr>
                </a:tc>
                <a:tc>
                  <a:txBody>
                    <a:bodyPr wrap="square"/>
                    <a:lstStyle/>
                    <a:p>
                      <a:pPr algn="ctr"/>
                      <a:r>
                        <a:rPr b="0" sz="1100">
                          <a:solidFill>
                            <a:srgbClr val="0F172A"/>
                          </a:solidFill>
                          <a:latin typeface="Segoe UI"/>
                        </a:rPr>
                        <a:t>Cobrança real em dólares</a:t>
                      </a:r>
                    </a:p>
                  </a:txBody>
                  <a:tcPr>
                    <a:solidFill>
                      <a:srgbClr val="FFFFFF"/>
                    </a:solidFill>
                  </a:tcPr>
                </a:tc>
                <a:tc>
                  <a:txBody>
                    <a:bodyPr wrap="square"/>
                    <a:lstStyle/>
                    <a:p>
                      <a:pPr algn="ctr"/>
                      <a:r>
                        <a:rPr b="0" sz="1100">
                          <a:solidFill>
                            <a:srgbClr val="0F172A"/>
                          </a:solidFill>
                          <a:latin typeface="Segoe UI"/>
                        </a:rPr>
                        <a:t>$0.00 (Processamento local)</a:t>
                      </a:r>
                    </a:p>
                  </a:txBody>
                  <a:tcPr>
                    <a:solidFill>
                      <a:srgbClr val="FFFFFF"/>
                    </a:solidFill>
                  </a:tcPr>
                </a:tc>
              </a:tr>
              <a:tr h="457200">
                <a:tc>
                  <a:txBody>
                    <a:bodyPr wrap="square"/>
                    <a:lstStyle/>
                    <a:p>
                      <a:pPr algn="l"/>
                      <a:r>
                        <a:rPr b="0" sz="1100">
                          <a:solidFill>
                            <a:srgbClr val="0F172A"/>
                          </a:solidFill>
                          <a:latin typeface="Segoe UI"/>
                        </a:rPr>
                        <a:t>Privacidade de Dados</a:t>
                      </a:r>
                    </a:p>
                  </a:txBody>
                  <a:tcPr>
                    <a:solidFill>
                      <a:srgbClr val="F8FAFC"/>
                    </a:solidFill>
                  </a:tcPr>
                </a:tc>
                <a:tc>
                  <a:txBody>
                    <a:bodyPr wrap="square"/>
                    <a:lstStyle/>
                    <a:p>
                      <a:pPr algn="ctr"/>
                      <a:r>
                        <a:rPr b="0" sz="1100">
                          <a:solidFill>
                            <a:srgbClr val="0F172A"/>
                          </a:solidFill>
                          <a:latin typeface="Segoe UI"/>
                        </a:rPr>
                        <a:t>Código enviado para servidores externos</a:t>
                      </a:r>
                    </a:p>
                  </a:txBody>
                  <a:tcPr>
                    <a:solidFill>
                      <a:srgbClr val="F8FAFC"/>
                    </a:solidFill>
                  </a:tcPr>
                </a:tc>
                <a:tc>
                  <a:txBody>
                    <a:bodyPr wrap="square"/>
                    <a:lstStyle/>
                    <a:p>
                      <a:pPr algn="ctr"/>
                      <a:r>
                        <a:rPr b="0" sz="1100">
                          <a:solidFill>
                            <a:srgbClr val="0F172A"/>
                          </a:solidFill>
                          <a:latin typeface="Segoe UI"/>
                        </a:rPr>
                        <a:t>100% contido localmente nesta máquina</a:t>
                      </a:r>
                    </a:p>
                  </a:txBody>
                  <a:tcPr>
                    <a:solidFill>
                      <a:srgbClr val="F8FAFC"/>
                    </a:solidFill>
                  </a:tcPr>
                </a:tc>
              </a:tr>
              <a:tr h="457200">
                <a:tc>
                  <a:txBody>
                    <a:bodyPr wrap="square"/>
                    <a:lstStyle/>
                    <a:p>
                      <a:pPr algn="l"/>
                      <a:r>
                        <a:rPr b="0" sz="1100">
                          <a:solidFill>
                            <a:srgbClr val="0F172A"/>
                          </a:solidFill>
                          <a:latin typeface="Segoe UI"/>
                        </a:rPr>
                        <a:t>Necessidade de Rede</a:t>
                      </a:r>
                    </a:p>
                  </a:txBody>
                  <a:tcPr>
                    <a:solidFill>
                      <a:srgbClr val="FFFFFF"/>
                    </a:solidFill>
                  </a:tcPr>
                </a:tc>
                <a:tc>
                  <a:txBody>
                    <a:bodyPr wrap="square"/>
                    <a:lstStyle/>
                    <a:p>
                      <a:pPr algn="ctr"/>
                      <a:r>
                        <a:rPr b="0" sz="1100">
                          <a:solidFill>
                            <a:srgbClr val="0F172A"/>
                          </a:solidFill>
                          <a:latin typeface="Segoe UI"/>
                        </a:rPr>
                        <a:t>Acesso à internet obrigatório</a:t>
                      </a:r>
                    </a:p>
                  </a:txBody>
                  <a:tcPr>
                    <a:solidFill>
                      <a:srgbClr val="FFFFFF"/>
                    </a:solidFill>
                  </a:tcPr>
                </a:tc>
                <a:tc>
                  <a:txBody>
                    <a:bodyPr wrap="square"/>
                    <a:lstStyle/>
                    <a:p>
                      <a:pPr algn="ctr"/>
                      <a:r>
                        <a:rPr b="0" sz="1100">
                          <a:solidFill>
                            <a:srgbClr val="0F172A"/>
                          </a:solidFill>
                          <a:latin typeface="Segoe UI"/>
                        </a:rPr>
                        <a:t>Totalmente offline (Wi-Fi desativado)</a:t>
                      </a:r>
                    </a:p>
                  </a:txBody>
                  <a:tcPr>
                    <a:solidFill>
                      <a:srgbClr val="FFFFFF"/>
                    </a:solidFill>
                  </a:tcPr>
                </a:tc>
              </a:tr>
              <a:tr h="457200">
                <a:tc>
                  <a:txBody>
                    <a:bodyPr wrap="square"/>
                    <a:lstStyle/>
                    <a:p>
                      <a:pPr algn="l"/>
                      <a:r>
                        <a:rPr b="0" sz="1100">
                          <a:solidFill>
                            <a:srgbClr val="0F172A"/>
                          </a:solidFill>
                          <a:latin typeface="Segoe UI"/>
                        </a:rPr>
                        <a:t>Qualidade de Resposta</a:t>
                      </a:r>
                    </a:p>
                  </a:txBody>
                  <a:tcPr>
                    <a:solidFill>
                      <a:srgbClr val="F8FAFC"/>
                    </a:solidFill>
                  </a:tcPr>
                </a:tc>
                <a:tc>
                  <a:txBody>
                    <a:bodyPr wrap="square"/>
                    <a:lstStyle/>
                    <a:p>
                      <a:pPr algn="ctr"/>
                      <a:r>
                        <a:rPr b="0" sz="1100">
                          <a:solidFill>
                            <a:srgbClr val="0F172A"/>
                          </a:solidFill>
                          <a:latin typeface="Segoe UI"/>
                        </a:rPr>
                        <a:t>Modelo pode se dispersar no backlog</a:t>
                      </a:r>
                    </a:p>
                  </a:txBody>
                  <a:tcPr>
                    <a:solidFill>
                      <a:srgbClr val="F8FAFC"/>
                    </a:solidFill>
                  </a:tcPr>
                </a:tc>
                <a:tc>
                  <a:txBody>
                    <a:bodyPr wrap="square"/>
                    <a:lstStyle/>
                    <a:p>
                      <a:pPr algn="ctr"/>
                      <a:r>
                        <a:rPr b="0" sz="1100">
                          <a:solidFill>
                            <a:srgbClr val="0F172A"/>
                          </a:solidFill>
                          <a:latin typeface="Segoe UI"/>
                        </a:rPr>
                        <a:t>Foco absoluto no contexto cirúrgico</a:t>
                      </a:r>
                    </a:p>
                  </a:txBody>
                  <a:tcPr>
                    <a:solidFill>
                      <a:srgbClr val="F8FAFC"/>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FECHAMENTO DA TALK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Fechamento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50 / 50</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Go como infraestrutura — </a:t>
            </a:r>
            <a:r>
              <a:rPr b="0">
                <a:solidFill>
                  <a:srgbClr val="475569"/>
                </a:solidFill>
              </a:rPr>
              <a:t>Go é de longe a linguagem mais recomendada para orquestrar dados de IA locais</a:t>
            </a:r>
          </a:p>
          <a:p>
            <a:pPr>
              <a:lnSpc>
                <a:spcPct val="125000"/>
              </a:lnSpc>
              <a:spcBef>
                <a:spcPts val="800"/>
              </a:spcBef>
              <a:spcAft>
                <a:spcPts val="1000"/>
              </a:spcAft>
              <a:defRPr sz="1300">
                <a:latin typeface="Segoe UI"/>
              </a:defRPr>
            </a:pPr>
            <a:r>
              <a:rPr b="1">
                <a:solidFill>
                  <a:srgbClr val="006FE6"/>
                </a:solidFill>
              </a:rPr>
              <a:t>Independência real — </a:t>
            </a:r>
            <a:r>
              <a:rPr b="0">
                <a:solidFill>
                  <a:srgbClr val="475569"/>
                </a:solidFill>
              </a:rPr>
              <a:t>construímos pipelines, embeddings e bancos vetoriais sem recorrer a pilhas externas</a:t>
            </a:r>
          </a:p>
          <a:p>
            <a:pPr>
              <a:lnSpc>
                <a:spcPct val="125000"/>
              </a:lnSpc>
              <a:spcBef>
                <a:spcPts val="800"/>
              </a:spcBef>
              <a:spcAft>
                <a:spcPts val="1000"/>
              </a:spcAft>
              <a:defRPr sz="1300">
                <a:latin typeface="Segoe UI"/>
              </a:defRPr>
            </a:pPr>
            <a:r>
              <a:rPr b="1">
                <a:solidFill>
                  <a:srgbClr val="006FE6"/>
                </a:solidFill>
              </a:rPr>
              <a:t>Código livre — </a:t>
            </a:r>
            <a:r>
              <a:rPr b="0">
                <a:solidFill>
                  <a:srgbClr val="475569"/>
                </a:solidFill>
              </a:rPr>
              <a:t>todos os testes, MCPs e este deck estão disponíveis em repositório público</a:t>
            </a:r>
          </a:p>
          <a:p>
            <a:pPr>
              <a:lnSpc>
                <a:spcPct val="125000"/>
              </a:lnSpc>
              <a:spcBef>
                <a:spcPts val="800"/>
              </a:spcBef>
              <a:spcAft>
                <a:spcPts val="1000"/>
              </a:spcAft>
              <a:defRPr sz="1300">
                <a:latin typeface="Segoe UI"/>
              </a:defRPr>
            </a:pPr>
            <a:r>
              <a:rPr b="1">
                <a:solidFill>
                  <a:srgbClr val="006FE6"/>
                </a:solidFill>
              </a:rPr>
              <a:t>Repositório da Demo — </a:t>
            </a:r>
            <a:r>
              <a:rPr b="0">
                <a:solidFill>
                  <a:srgbClr val="475569"/>
                </a:solidFill>
              </a:rPr>
              <a:t>github.com/jeffersonferreira/kronk-tech-demo-golangsp</a:t>
            </a:r>
          </a:p>
        </p:txBody>
      </p:sp>
      <p:pic>
        <p:nvPicPr>
          <p:cNvPr id="10" name="Picture 9" descr="gopher_new.png"/>
          <p:cNvPicPr>
            <a:picLocks noChangeAspect="1"/>
          </p:cNvPicPr>
          <p:nvPr/>
        </p:nvPicPr>
        <p:blipFill>
          <a:blip r:embed="rId2"/>
          <a:stretch>
            <a:fillRect/>
          </a:stretch>
        </p:blipFill>
        <p:spPr>
          <a:xfrm>
            <a:off x="8961120" y="2011680"/>
            <a:ext cx="2377440" cy="23130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