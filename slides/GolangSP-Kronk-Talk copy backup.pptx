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3"/>
  </p:normalViewPr>
  <p:slideViewPr>
    <p:cSldViewPr snapToGrid="0" snapToObjects="1">
      <p:cViewPr varScale="1">
        <p:scale>
          <a:sx n="126" d="100"/>
          <a:sy n="126" d="100"/>
        </p:scale>
        <p:origin x="232" y="2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0294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Boa noite, pessoal! É uma honra imensa estar aqui no evento oficial da GolangSP. Hoje vamos falar de um tema fascinante e de altíssimo nível: como criar e rodar inteligência artificial sem depender de serviços em nuvem, usando Go!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Antes de mergulharmos de cabeça no código e na infraestrutura técnica, deixa eu me apresentar rapidamente. Sou o Jefferson, atuo como Engenheiro de Software Sênior e Tech Lead. Ao longo da minha trajetória profissional de mais de 20 anos, liderei arquitetura e engenharia em frentes de alta complexidade: atualmente estou na 1Global, focando em sistemas escaláveis de alto desempenho em Go; como consultor independente e em empresas como Tino e Tractian, projetei pipelines de IA local, RAG e orquestração de servidores MCP; tive uma longa passagem de 6 anos pela IBM e XP como Arquiteto de Big Data; e desenvolvi sistemas financeiros e de segurança de missão crítica para a B3 e o Itaú. É essa bagagem de sistemas distribuídos e IA prática que trago consolidada para vocês hoje!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Boa noite, pessoal! É um prazer enorme estar aqui no palco oficial da GolangSP. A nossa talk de hoje aborda a IA sem Cloud. Vamos focalizar 100% em engenharia de sistemas de IA e infraestrutura local-first. O nosso objetivo hoje é entender as engrenagens por dentro e provar como Go é a linguagem ideal para construir esse motor local de alta resiliência e baixíssimo custo.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Quero começar com uma provocação. Quantos de vocês já usaram um agente de IA pra programar? Quantos sabem exatamente quanto cada interação custa, em tokens, em dinheiro? É essa lacuna que essa talk ataca. Não é sobre 'IA é mágica'. É sobre entender o motor por dentro.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 interação com um modelo de linguagem tem um custo proporcional a uma coisa: quanto texto você manda pra ele, o contexto. Quanto mais contexto irrelevante, mais caro, mais lento, e às vezes pior a qualidade da resposta.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MCP é um protocolo aberto que padroniza como um agente de IA pede informação e executa ações fora de si mesmo. Antes do MCP, cada ferramenta tinha sua forma proprietária de se conectar a dados. O pulo do gato pra essa comunidade Go: escrever um servidor MCP é escrever um servidor, coisa que Go faz muito bem há muito tempo.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 mostrar dois jeito de construir um servidor MCP que resolve o MESMO problema. Um é ingênuo: pega tudo, manda tudo. O outro usa busca semântica de verdade, rodando localmente, sem custar nuvem.</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Esse é o mapa de hoje. Vamos primeiro entender o motor — o Kronk. Depois abrir o código dos dois servidores MCP. E só no final, com tudo entendido, ver os dois rodando ao vivo, com o contador de tokens e custo do Cline na tela. Bora?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Kronk é um SDK em Go, da Ardan Labs, que envolve o llama.cpp. A grande sacada: ele expõe uma API compatível com a da OpenAI. Kronk não é 'mais um wrapper de chatbot'. É infraestrutura, pensada pra produção.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Kronk fica no meio. De um lado, qualquer cliente que fale o protocolo da OpenAI. Do outro, ele escolhe automaticamente o melhor backend de hardware disponível. O modelo é um arquivo .gguf, formato do ecossistema llama.cpp.</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open the black box from Slide 2 using a real log from today. When you run 'kronk server start', at least four things start: the API router, debug router, auth service, and a native MCP server from Kronk. It is not a thin wrapper — it is a server process with real operational surface.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Kronk não trata modelo como 'um arquivo que você abre uma vez'. Ele tem um pool de modelos — orçamento de memória, múltiplos modelos simultâneos, TTL de ociosidade. Foi esse mecanismo de segurança que travou a configuração original dessa talk no Linux com GPU de 12GB.</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Uma conversa com o Cline reenvia todo o histórico anterior a cada turno. O cache incremental de mensagens guarda o estado da conversa e só processa os tokens novos no turno seguinte. Vem ligado por padrão pra clientes agênticos.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Quantização é comprimir os números de ponto flutuante do modelo pra ocupar menos memória. Q8_0 usa 8 bits — praticamente sem perda. Q4_K_M usa 4 bits — mais compacto, perdinha quase imperceptível em código.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MoE: para cada token, um roteador decide quais especialistas ativar — só uma fração do total. O gpt-oss-20b tem 20B parâmetros mas custo computacional de um modelo bem menor. Nota de bastidor: no Linux com GPU de 12GB, o gpt-oss-20b não cabia com contexto grande — usamos um modelo denso menor. No Mac, com memória unificada, o MoE de 20B cabe com folga.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entender Mixture of Experts, pensem em um hospital: em vez de consultar todos os médicos da instituição para cada dor de cabeça (que seria um modelo denso tradicional acendendo todos os seus bilhões de neurônios), um roteador na recepção direciona você diretamente para os dois ou três especialistas ideais. No gpt-oss-20b que usamos hoje, o modelo possui 20 bilhões de parâmetros na memória, mas para cada token processado, ele ativa apenas 4 especialistas. Isso garante a acurácia de um cérebro gigante com a velocidade e o consumo computacional de um modelo pequeno de 4B. E o Kronk nos dá políticas para colocar esses especialistas na CPU ou GPU de forma transparente, permitindo que MoEs massivos rodem localmente em hardware comum.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Pegadinha real que vivemos: a convenção do Kronk é invertida do que se imagina — 0 significa todas as camadas na GPU. Numa GPU dedicada isso é um dial real entre velocidade e memória; no Mac com memória unificada, o gargalo simplesmente não existe da mesma forma.</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MacBook M4 Pro, 48GB de memória unificada. Metal full offload é uns 9-10x mais rápido que CPU pura. E nenhuma linha falha por falta de memória — vantagem real da memória unificada. Mas teve uma pegadinha, e ela ensina uma lição melhor que qualquer slide teórico.</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Vendo o TTFT de ~12s, nosso instinto foi 'aumentar o batch'. Resultado: 6% de ganho, quase nada. A lição real: pra esse modelo MoE no Metal, o prefill é limitado por compute (roteamento de especialistas), não por throughput de batch. Só descobriu porque mediu antes de assumir.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gpt-oss-20b tem um modo de raciocínio que melhora a qualidade da decisão, mas cada token de pensamento custa tempo. O Kronk deixa controlar isso por requisição, com reasoning_effort — não é configuração fixa do modelo.</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Detalhe que confunde quem vem de outras stacks: você não escolhe o modelo no boot do servidor. O pool decide por requisição, igual a API da OpenAI. Pra trocar: confere com model list --local, baixa com model pull se precisar, e só aponta o cliente pro novo nome — sem reiniciar o kronk server start.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Tamanho de modelo também é um dial, não decisão travada em pedra. Mesma API, só muda o nome no campo model (e baixar antes, se for novo). Já tenho tuning pronto pra dois modelos bem maiores que o de hoje e um menor (4B) pra hardware mais limitado — a config já existe no model_config.yaml desta máquina, só falta o pull.</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É exatamente essa flexibilidade — CPU, GPU, híbrido, MoE, raciocínio ligado ou desligado — que torna o Kronk uma peça de infraestrutura séria pra rodar IA local em produção, não só em demo de palco.</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 nossa demonstração, o Obsidian possui 25 tarefas antigas e apenas uma tarefa relevante com o bug real, a TASK-001. Por que fizemos isso? Porque em um cenário corporativo real, o repositório do time tem centenas de páginas de documentação. Se usarmos a abordagem ingênua da Cena 1 de carregar tudo e mandar pro modelo de uma vez, estamos enviando 47 mil tokens de puro ruído. O modelo sofre de diluição de atenção — um fenômeno conhecido na literatura onde LLMs esquecem detalhes no meio do prompt — e a velocidade despenca de forma inviável. Precisamos filtrar antes de enviar.</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Como resolvemos o problema do ruído? Usamos busca semântica de verdade. Antes do agente fazer qualquer pergunta, um modelo de embedding local lê os 26 markdown do Obsidian e transforma cada um em um vetor matemático de 768 coordenadas. Quando o agente Cline faz a pergunta, nós convertemos essa pergunta no mesmo espaço de coordenadas. Através da matemática de vetores, calculamos quais documentos estão geometricamente mais próximos da pergunta. O resultado é cirúrgico: o Smart MCP envia apenas os 3 documentos mais relevantes. Saímos de 47 mil tokens para meros 4 mil tokens de contexto, eliminando o ruído e mantendo a velocidade máxima de resposta.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 como implementamos essa busca em Go sem complexidade de infraestrutura de banco de dados corporativa externa? Usamos o DuckDB rodando em memória direto no processo Go do MCP! Com a extensão de Busca de Similaridade Vetorial (VSS), conseguimos criar um índice HNSW — que é uma estrutura de grafos extremamente rápida para vizinhos mais próximos. A busca vira uma query SQL relacional simples que calcula a similaridade de cosseno entre o vetor da pergunta e os vetores indexados das tarefas do Obsidian. Isso acontece em milissegundos e nos dá o top-3 de forma extremamente eficiente.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LoadAll anda pela pasta do vault, pega todo .md, lê o conteúdo bruto e devolve uma lista de documentos. Simples, sem mágica. A diferença entre as duas cenas não está em COMO os dados são lidos.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agente pediu 'me ajuda com a TASK-001' e essa ferramenta devolve as 26 tasks completas. É proposital: representa o jeito ingênuo de integrar LLM com dados. É exatamente essa simplicidade que custa caro.</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Antes de aceitar qualquer pergunta, a Cena 2 carrega um modelo de embedding e transforma cada documento num vetor — 'coordenadas de significado' num espaço matemático. Isso vai pro DuckDB com índice HNSW.</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search_vault transforma a pergunta no mesmo tipo de vetor e busca os 3 documentos mais similares por cosseno. É por isso que perguntar sobre 'dinheiro e pagamentos' acha a task de cupom mesmo sem a palavra 'dinheiro' aparecer.</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Cena 1 é 4x mais simples de código, mas custa 10x mais tokens. Cena 2 exige infraestrutura extra, mas paga isso de volta multiplicado em economia de contexto — e tudo local, via Kronk, sem custar um centavo.</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Lembram do gancho do começo — 'tem um jeito ingênuo e um jeito inteligente'? Vou rodar exatamente a mesma tarefa duas vezes, mudando só o MCP ativo e o modelo por trás.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Cena 1 representa o jeito mais comum hoje: modelo na nuvem, pago por token, conectado a um MCP que não filtra nada. Olhem os números antes de eu começar: zero.</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Reparem: o Cline está decidindo chamar read_vault — só tem essa ferramenta disponível. Contingência: se a geração de nuvem travar num tool-call depois, o ponto já foi feito no instante em que read_vault devolve a resposta — pode pausar aí e seguir pra Cena 2.</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Aqui está o resultado da Cena 1: [ler os números reais capturados]. Token e dinheiro de verdade, gastos só porque a ferramenta de busca não soube filtrar nada. Guardem esse número.</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Troquei o provider do Cline pra apontar pro Kronk, rodando aqui, agora, sem internet envolvida. E troquei o MCP ativo pra vault_smart.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Reparem que a ferramenta disponível agora é outra: search_vault. Contingência: o modelo local com raciocínio pode demorar mais que a nuvem pra terminar o fix completo — o ponto da demo é o contraste de tokens/custo na chamada da ferramenta, que aparece rápido.</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Essa é a imagem que eu queria que vocês levassem pra casa. Mesma tarefa, mesmo agente. A diferença está em como a informação chega até o modelo, e onde o modelo roda.</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Tudo que vocês viram hoje — servidor MCP, motor de inferência, busca vetorial — é Go, de ponta a ponta. Não precisamos de Python, não precisamos de nuvem. Obrigado!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777240" y="1188720"/>
            <a:ext cx="10637215" cy="448056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77240" y="1188720"/>
            <a:ext cx="137160" cy="4480560"/>
          </a:xfrm>
          <a:prstGeom prst="rect">
            <a:avLst/>
          </a:prstGeom>
          <a:solidFill>
            <a:srgbClr val="006FE6"/>
          </a:solidFill>
          <a:ln>
            <a:solidFill>
              <a:srgbClr val="006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0160" y="1645920"/>
            <a:ext cx="6400800" cy="274320"/>
          </a:xfrm>
          <a:prstGeom prst="rect">
            <a:avLst/>
          </a:prstGeom>
          <a:noFill/>
        </p:spPr>
        <p:txBody>
          <a:bodyPr wrap="none" lIns="0" tIns="0" rIns="0" bIns="0">
            <a:spAutoFit/>
          </a:bodyPr>
          <a:lstStyle/>
          <a:p>
            <a:pPr>
              <a:defRPr sz="1050" b="1">
                <a:solidFill>
                  <a:srgbClr val="006FE6"/>
                </a:solidFill>
                <a:latin typeface="Segoe UI"/>
              </a:defRPr>
            </a:pPr>
            <a:r>
              <a:t>GOLANGSP SPECIAL PRESENTATION  ·  PALCO PRINCIPAL</a:t>
            </a:r>
          </a:p>
        </p:txBody>
      </p:sp>
      <p:sp>
        <p:nvSpPr>
          <p:cNvPr id="5" name="TextBox 4"/>
          <p:cNvSpPr txBox="1"/>
          <p:nvPr/>
        </p:nvSpPr>
        <p:spPr>
          <a:xfrm>
            <a:off x="1280160" y="2011680"/>
            <a:ext cx="6583680" cy="1097280"/>
          </a:xfrm>
          <a:prstGeom prst="rect">
            <a:avLst/>
          </a:prstGeom>
          <a:noFill/>
        </p:spPr>
        <p:txBody>
          <a:bodyPr wrap="square" lIns="0" tIns="0" rIns="0" bIns="0">
            <a:spAutoFit/>
          </a:bodyPr>
          <a:lstStyle/>
          <a:p>
            <a:pPr>
              <a:defRPr sz="4400" b="1">
                <a:solidFill>
                  <a:srgbClr val="0F172A"/>
                </a:solidFill>
                <a:latin typeface="Segoe UI"/>
              </a:defRPr>
            </a:pPr>
            <a:r>
              <a:rPr dirty="0"/>
              <a:t>AI </a:t>
            </a:r>
            <a:r>
              <a:rPr dirty="0" err="1"/>
              <a:t>sem</a:t>
            </a:r>
            <a:r>
              <a:t> Cloud com Golang!</a:t>
            </a:r>
          </a:p>
        </p:txBody>
      </p:sp>
      <p:sp>
        <p:nvSpPr>
          <p:cNvPr id="6" name="TextBox 5"/>
          <p:cNvSpPr txBox="1"/>
          <p:nvPr/>
        </p:nvSpPr>
        <p:spPr>
          <a:xfrm>
            <a:off x="1280160" y="3373120"/>
            <a:ext cx="6583680" cy="731520"/>
          </a:xfrm>
          <a:prstGeom prst="rect">
            <a:avLst/>
          </a:prstGeom>
          <a:noFill/>
        </p:spPr>
        <p:txBody>
          <a:bodyPr wrap="square" lIns="0" tIns="0" rIns="0" bIns="0">
            <a:spAutoFit/>
          </a:bodyPr>
          <a:lstStyle/>
          <a:p>
            <a:pPr>
              <a:defRPr sz="1700">
                <a:solidFill>
                  <a:srgbClr val="475569"/>
                </a:solidFill>
                <a:latin typeface="Segoe UI"/>
              </a:defRPr>
            </a:pPr>
            <a:r>
              <a:rPr dirty="0"/>
              <a:t>Golang + AI + MCP — </a:t>
            </a:r>
            <a:r>
              <a:rPr dirty="0" err="1"/>
              <a:t>Evento</a:t>
            </a:r>
            <a:r>
              <a:rPr dirty="0"/>
              <a:t> </a:t>
            </a:r>
            <a:r>
              <a:rPr dirty="0" err="1"/>
              <a:t>Oficial</a:t>
            </a:r>
            <a:r>
              <a:rPr dirty="0"/>
              <a:t> </a:t>
            </a:r>
            <a:r>
              <a:rPr dirty="0" err="1"/>
              <a:t>GolangSP</a:t>
            </a:r>
            <a:endParaRPr dirty="0"/>
          </a:p>
        </p:txBody>
      </p:sp>
      <p:sp>
        <p:nvSpPr>
          <p:cNvPr id="7" name="TextBox 6"/>
          <p:cNvSpPr txBox="1"/>
          <p:nvPr/>
        </p:nvSpPr>
        <p:spPr>
          <a:xfrm>
            <a:off x="1280160" y="4343400"/>
            <a:ext cx="6400800" cy="548640"/>
          </a:xfrm>
          <a:prstGeom prst="rect">
            <a:avLst/>
          </a:prstGeom>
          <a:noFill/>
        </p:spPr>
        <p:txBody>
          <a:bodyPr wrap="none" lIns="0" tIns="0" rIns="0" bIns="0">
            <a:spAutoFit/>
          </a:bodyPr>
          <a:lstStyle/>
          <a:p>
            <a:pPr>
              <a:defRPr sz="1400" b="1">
                <a:solidFill>
                  <a:srgbClr val="0F172A"/>
                </a:solidFill>
                <a:latin typeface="Segoe UI"/>
              </a:defRPr>
            </a:pPr>
            <a:r>
              <a:t>Apresentado por Jefferson Ferreira</a:t>
            </a:r>
          </a:p>
          <a:p>
            <a:pPr>
              <a:defRPr sz="1100">
                <a:solidFill>
                  <a:srgbClr val="006FE6"/>
                </a:solidFill>
                <a:latin typeface="Segoe UI"/>
              </a:defRPr>
            </a:pPr>
            <a:r>
              <a:t>IA sem Nuvem, Local-First, Alta Performance em Go</a:t>
            </a:r>
          </a:p>
        </p:txBody>
      </p:sp>
      <p:pic>
        <p:nvPicPr>
          <p:cNvPr id="8" name="Picture 7" descr="gopher_new.png"/>
          <p:cNvPicPr>
            <a:picLocks noChangeAspect="1"/>
          </p:cNvPicPr>
          <p:nvPr/>
        </p:nvPicPr>
        <p:blipFill>
          <a:blip r:embed="rId3"/>
          <a:stretch>
            <a:fillRect/>
          </a:stretch>
        </p:blipFill>
        <p:spPr>
          <a:xfrm>
            <a:off x="8321040" y="1691640"/>
            <a:ext cx="2560320" cy="24909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852160" y="731520"/>
            <a:ext cx="5943600" cy="5029200"/>
          </a:xfrm>
          <a:prstGeom prst="rect">
            <a:avLst/>
          </a:prstGeom>
          <a:noFill/>
        </p:spPr>
        <p:txBody>
          <a:bodyPr wrap="square" lIns="0" tIns="0" rIns="0" bIns="0">
            <a:spAutoFit/>
          </a:bodyPr>
          <a:lstStyle/>
          <a:p>
            <a:pPr algn="r">
              <a:defRPr sz="18000" b="1">
                <a:solidFill>
                  <a:srgbClr val="133459"/>
                </a:solidFill>
                <a:latin typeface="Segoe UI"/>
              </a:defRPr>
            </a:pPr>
            <a:r>
              <a:t>01</a:t>
            </a:r>
          </a:p>
        </p:txBody>
      </p:sp>
      <p:sp>
        <p:nvSpPr>
          <p:cNvPr id="3" name="TextBox 2"/>
          <p:cNvSpPr txBox="1"/>
          <p:nvPr/>
        </p:nvSpPr>
        <p:spPr>
          <a:xfrm>
            <a:off x="1005840" y="2011680"/>
            <a:ext cx="6858000" cy="3657600"/>
          </a:xfrm>
          <a:prstGeom prst="rect">
            <a:avLst/>
          </a:prstGeom>
          <a:noFill/>
        </p:spPr>
        <p:txBody>
          <a:bodyPr wrap="square" lIns="0" tIns="0" rIns="0" bIns="0">
            <a:spAutoFit/>
          </a:bodyPr>
          <a:lstStyle/>
          <a:p>
            <a:pPr>
              <a:spcAft>
                <a:spcPts val="1200"/>
              </a:spcAft>
              <a:defRPr sz="1100" b="1">
                <a:solidFill>
                  <a:srgbClr val="00D2FF"/>
                </a:solidFill>
                <a:latin typeface="Segoe UI"/>
              </a:defRPr>
            </a:pPr>
            <a:r>
              <a:t>CONTEÚDO DA APRESENTAÇÃO  ·  CAPÍTULO 01</a:t>
            </a:r>
          </a:p>
          <a:p>
            <a:pPr>
              <a:spcAft>
                <a:spcPts val="1500"/>
              </a:spcAft>
              <a:defRPr sz="3600" b="1">
                <a:solidFill>
                  <a:srgbClr val="FFFFFF"/>
                </a:solidFill>
                <a:latin typeface="Segoe UI"/>
              </a:defRPr>
            </a:pPr>
            <a:r>
              <a:t>CONCEITO &amp; CONTEXTO</a:t>
            </a:r>
          </a:p>
          <a:p>
            <a:pPr>
              <a:spcBef>
                <a:spcPts val="1500"/>
              </a:spcBef>
              <a:defRPr sz="1500">
                <a:solidFill>
                  <a:srgbClr val="94A3B8"/>
                </a:solidFill>
                <a:latin typeface="Segoe UI"/>
              </a:defRPr>
            </a:pPr>
            <a:r>
              <a:t>O desafio dos custos na nuvem e a revolução da IA local-first</a:t>
            </a:r>
          </a:p>
        </p:txBody>
      </p:sp>
      <p:sp>
        <p:nvSpPr>
          <p:cNvPr id="4" name="Rectangle 3"/>
          <p:cNvSpPr/>
          <p:nvPr/>
        </p:nvSpPr>
        <p:spPr>
          <a:xfrm>
            <a:off x="1005840" y="3977639"/>
            <a:ext cx="1645920" cy="36576"/>
          </a:xfrm>
          <a:prstGeom prst="rect">
            <a:avLst/>
          </a:prstGeom>
          <a:solidFill>
            <a:srgbClr val="00D2FF"/>
          </a:solidFill>
          <a:ln>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PALESTRANTE</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Jefferson Ferreira</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 / 38</a:t>
            </a:r>
          </a:p>
        </p:txBody>
      </p:sp>
      <p:sp>
        <p:nvSpPr>
          <p:cNvPr id="8" name="Rectangle 7"/>
          <p:cNvSpPr/>
          <p:nvPr/>
        </p:nvSpPr>
        <p:spPr>
          <a:xfrm>
            <a:off x="548640" y="1280160"/>
            <a:ext cx="4114800" cy="4846320"/>
          </a:xfrm>
          <a:prstGeom prst="rect">
            <a:avLst/>
          </a:prstGeom>
          <a:solidFill>
            <a:srgbClr val="0F172A"/>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325880" y="1645920"/>
            <a:ext cx="2560320" cy="2560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me.jpeg"/>
          <p:cNvPicPr>
            <a:picLocks noChangeAspect="1"/>
          </p:cNvPicPr>
          <p:nvPr/>
        </p:nvPicPr>
        <p:blipFill>
          <a:blip r:embed="rId3"/>
          <a:stretch>
            <a:fillRect/>
          </a:stretch>
        </p:blipFill>
        <p:spPr>
          <a:xfrm>
            <a:off x="1435608" y="1755648"/>
            <a:ext cx="2340864" cy="2340864"/>
          </a:xfrm>
          <a:prstGeom prst="rect">
            <a:avLst/>
          </a:prstGeom>
        </p:spPr>
      </p:pic>
      <p:sp>
        <p:nvSpPr>
          <p:cNvPr id="11" name="TextBox 10"/>
          <p:cNvSpPr txBox="1"/>
          <p:nvPr/>
        </p:nvSpPr>
        <p:spPr>
          <a:xfrm>
            <a:off x="731520" y="4434840"/>
            <a:ext cx="3749040" cy="1371600"/>
          </a:xfrm>
          <a:prstGeom prst="rect">
            <a:avLst/>
          </a:prstGeom>
          <a:noFill/>
        </p:spPr>
        <p:txBody>
          <a:bodyPr wrap="square" lIns="0" tIns="0" rIns="0" bIns="0">
            <a:spAutoFit/>
          </a:bodyPr>
          <a:lstStyle/>
          <a:p>
            <a:pPr algn="ctr">
              <a:defRPr sz="1300" b="1">
                <a:solidFill>
                  <a:srgbClr val="FFFFFF"/>
                </a:solidFill>
                <a:latin typeface="Segoe UI"/>
              </a:defRPr>
            </a:pPr>
            <a:r>
              <a:t>Jefferson Ferreira</a:t>
            </a:r>
          </a:p>
          <a:p>
            <a:pPr algn="ctr">
              <a:spcBef>
                <a:spcPts val="500"/>
              </a:spcBef>
              <a:defRPr sz="850">
                <a:solidFill>
                  <a:srgbClr val="94A3B8"/>
                </a:solidFill>
                <a:latin typeface="Consolas"/>
              </a:defRPr>
            </a:pPr>
            <a:r>
              <a:t>GitHub: github.com/jeffersonferreira</a:t>
            </a:r>
          </a:p>
          <a:p>
            <a:pPr algn="ctr">
              <a:spcBef>
                <a:spcPts val="300"/>
              </a:spcBef>
              <a:defRPr sz="850">
                <a:solidFill>
                  <a:srgbClr val="94A3B8"/>
                </a:solidFill>
                <a:latin typeface="Consolas"/>
              </a:defRPr>
            </a:pPr>
            <a:r>
              <a:t>LinkedIn: linkedin.com/in/jefferson-f</a:t>
            </a:r>
          </a:p>
        </p:txBody>
      </p:sp>
      <p:sp>
        <p:nvSpPr>
          <p:cNvPr id="12" name="TextBox 11"/>
          <p:cNvSpPr txBox="1"/>
          <p:nvPr/>
        </p:nvSpPr>
        <p:spPr>
          <a:xfrm>
            <a:off x="4937760" y="1280160"/>
            <a:ext cx="6705295" cy="914400"/>
          </a:xfrm>
          <a:prstGeom prst="rect">
            <a:avLst/>
          </a:prstGeom>
          <a:noFill/>
        </p:spPr>
        <p:txBody>
          <a:bodyPr wrap="square" lIns="0" tIns="0" rIns="0" bIns="0">
            <a:spAutoFit/>
          </a:bodyPr>
          <a:lstStyle/>
          <a:p>
            <a:pPr>
              <a:defRPr sz="3000" b="1">
                <a:solidFill>
                  <a:srgbClr val="0F172A"/>
                </a:solidFill>
                <a:latin typeface="Segoe UI"/>
              </a:defRPr>
            </a:pPr>
            <a:r>
              <a:t>Jefferson Ferreira</a:t>
            </a:r>
          </a:p>
          <a:p>
            <a:pPr>
              <a:spcBef>
                <a:spcPts val="400"/>
              </a:spcBef>
              <a:defRPr sz="1400" b="1">
                <a:solidFill>
                  <a:srgbClr val="006FE6"/>
                </a:solidFill>
                <a:latin typeface="Segoe UI"/>
              </a:defRPr>
            </a:pPr>
            <a:r>
              <a:t>Tech Lead &amp; Staff Software Engineer</a:t>
            </a:r>
          </a:p>
        </p:txBody>
      </p:sp>
      <p:sp>
        <p:nvSpPr>
          <p:cNvPr id="13" name="TextBox 12"/>
          <p:cNvSpPr txBox="1"/>
          <p:nvPr/>
        </p:nvSpPr>
        <p:spPr>
          <a:xfrm>
            <a:off x="4937760" y="2286000"/>
            <a:ext cx="6705295" cy="274320"/>
          </a:xfrm>
          <a:prstGeom prst="rect">
            <a:avLst/>
          </a:prstGeom>
          <a:noFill/>
        </p:spPr>
        <p:txBody>
          <a:bodyPr wrap="none" lIns="0" tIns="0" rIns="0" bIns="0">
            <a:spAutoFit/>
          </a:bodyPr>
          <a:lstStyle/>
          <a:p>
            <a:pPr>
              <a:defRPr sz="950" b="1">
                <a:solidFill>
                  <a:srgbClr val="475569"/>
                </a:solidFill>
                <a:latin typeface="Segoe UI"/>
              </a:defRPr>
            </a:pPr>
            <a:r>
              <a:t>TRAJETÓRIA PROFISSIONAL RELEVANTE</a:t>
            </a:r>
          </a:p>
        </p:txBody>
      </p:sp>
      <p:sp>
        <p:nvSpPr>
          <p:cNvPr id="14" name="Rectangle 13"/>
          <p:cNvSpPr/>
          <p:nvPr/>
        </p:nvSpPr>
        <p:spPr>
          <a:xfrm>
            <a:off x="4937760" y="2606040"/>
            <a:ext cx="6705295"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937760" y="2606040"/>
            <a:ext cx="73152" cy="914400"/>
          </a:xfrm>
          <a:prstGeom prst="rect">
            <a:avLst/>
          </a:prstGeom>
          <a:solidFill>
            <a:srgbClr val="006FE6"/>
          </a:solidFill>
          <a:ln>
            <a:solidFill>
              <a:srgbClr val="006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66360" y="2715768"/>
            <a:ext cx="6339535" cy="731520"/>
          </a:xfrm>
          <a:prstGeom prst="rect">
            <a:avLst/>
          </a:prstGeom>
          <a:noFill/>
        </p:spPr>
        <p:txBody>
          <a:bodyPr wrap="square" lIns="0" tIns="0" rIns="0" bIns="0">
            <a:spAutoFit/>
          </a:bodyPr>
          <a:lstStyle/>
          <a:p>
            <a:pPr>
              <a:defRPr sz="1200" b="1">
                <a:solidFill>
                  <a:srgbClr val="006FE6"/>
                </a:solidFill>
                <a:latin typeface="Segoe UI"/>
              </a:defRPr>
            </a:pPr>
            <a:r>
              <a:t>1Global (Atual)</a:t>
            </a:r>
          </a:p>
          <a:p>
            <a:pPr>
              <a:spcBef>
                <a:spcPts val="400"/>
              </a:spcBef>
              <a:defRPr sz="1050">
                <a:solidFill>
                  <a:srgbClr val="0F172A"/>
                </a:solidFill>
                <a:latin typeface="Segoe UI"/>
              </a:defRPr>
            </a:pPr>
            <a:r>
              <a:t>Senior Software Engineer — Liderando arquitetura, escalabilidade e infraestrutura de sistemas modernos.</a:t>
            </a:r>
          </a:p>
        </p:txBody>
      </p:sp>
      <p:sp>
        <p:nvSpPr>
          <p:cNvPr id="17" name="Rectangle 16"/>
          <p:cNvSpPr/>
          <p:nvPr/>
        </p:nvSpPr>
        <p:spPr>
          <a:xfrm>
            <a:off x="4937760" y="3685032"/>
            <a:ext cx="6705295"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937760" y="3685032"/>
            <a:ext cx="73152" cy="91440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60" y="3794760"/>
            <a:ext cx="6339535" cy="731520"/>
          </a:xfrm>
          <a:prstGeom prst="rect">
            <a:avLst/>
          </a:prstGeom>
          <a:noFill/>
        </p:spPr>
        <p:txBody>
          <a:bodyPr wrap="square" lIns="0" tIns="0" rIns="0" bIns="0">
            <a:spAutoFit/>
          </a:bodyPr>
          <a:lstStyle/>
          <a:p>
            <a:pPr>
              <a:defRPr sz="1200" b="1">
                <a:solidFill>
                  <a:srgbClr val="0F172A"/>
                </a:solidFill>
                <a:latin typeface="Segoe UI"/>
              </a:defRPr>
            </a:pPr>
            <a:r>
              <a:t>Trampoline / Tino / Tractian</a:t>
            </a:r>
          </a:p>
          <a:p>
            <a:pPr>
              <a:spcBef>
                <a:spcPts val="400"/>
              </a:spcBef>
              <a:defRPr sz="1050">
                <a:solidFill>
                  <a:srgbClr val="475569"/>
                </a:solidFill>
                <a:latin typeface="Segoe UI"/>
              </a:defRPr>
            </a:pPr>
            <a:r>
              <a:t>Staff &amp; Principal Engineer — Arquitetura de IA (RAG/MCP), alto throughput e pipelines distribuídos em Go/Rust.</a:t>
            </a:r>
          </a:p>
        </p:txBody>
      </p:sp>
      <p:sp>
        <p:nvSpPr>
          <p:cNvPr id="20" name="Rectangle 19"/>
          <p:cNvSpPr/>
          <p:nvPr/>
        </p:nvSpPr>
        <p:spPr>
          <a:xfrm>
            <a:off x="4937760" y="4764024"/>
            <a:ext cx="6705295"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937760" y="4764024"/>
            <a:ext cx="73152" cy="91440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66360" y="4873752"/>
            <a:ext cx="6339535" cy="731520"/>
          </a:xfrm>
          <a:prstGeom prst="rect">
            <a:avLst/>
          </a:prstGeom>
          <a:noFill/>
        </p:spPr>
        <p:txBody>
          <a:bodyPr wrap="square" lIns="0" tIns="0" rIns="0" bIns="0">
            <a:spAutoFit/>
          </a:bodyPr>
          <a:lstStyle/>
          <a:p>
            <a:pPr>
              <a:defRPr sz="1200" b="1">
                <a:solidFill>
                  <a:srgbClr val="0F172A"/>
                </a:solidFill>
                <a:latin typeface="Segoe UI"/>
              </a:defRPr>
            </a:pPr>
            <a:r>
              <a:t>IBM / XP Inc. / Truphone</a:t>
            </a:r>
          </a:p>
          <a:p>
            <a:pPr>
              <a:spcBef>
                <a:spcPts val="400"/>
              </a:spcBef>
              <a:defRPr sz="1050">
                <a:solidFill>
                  <a:srgbClr val="475569"/>
                </a:solidFill>
                <a:latin typeface="Segoe UI"/>
              </a:defRPr>
            </a:pPr>
            <a:r>
              <a:t>Senior Systems Architect — Resiliência, Big Data, infraestrutura de nuvem e engenharia enterprise.</a:t>
            </a:r>
          </a:p>
        </p:txBody>
      </p:sp>
      <p:sp>
        <p:nvSpPr>
          <p:cNvPr id="23" name="Rectangle 22"/>
          <p:cNvSpPr/>
          <p:nvPr/>
        </p:nvSpPr>
        <p:spPr>
          <a:xfrm>
            <a:off x="4937760" y="5843016"/>
            <a:ext cx="6705295" cy="914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937760" y="5843016"/>
            <a:ext cx="73152" cy="91440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66360" y="5952744"/>
            <a:ext cx="6339535" cy="731520"/>
          </a:xfrm>
          <a:prstGeom prst="rect">
            <a:avLst/>
          </a:prstGeom>
          <a:noFill/>
        </p:spPr>
        <p:txBody>
          <a:bodyPr wrap="square" lIns="0" tIns="0" rIns="0" bIns="0">
            <a:spAutoFit/>
          </a:bodyPr>
          <a:lstStyle/>
          <a:p>
            <a:pPr>
              <a:defRPr sz="1200" b="1">
                <a:solidFill>
                  <a:srgbClr val="0F172A"/>
                </a:solidFill>
                <a:latin typeface="Segoe UI"/>
              </a:defRPr>
            </a:pPr>
            <a:r>
              <a:t>B3 / Itaú / Xerox</a:t>
            </a:r>
          </a:p>
          <a:p>
            <a:pPr>
              <a:spcBef>
                <a:spcPts val="400"/>
              </a:spcBef>
              <a:defRPr sz="1050">
                <a:solidFill>
                  <a:srgbClr val="475569"/>
                </a:solidFill>
                <a:latin typeface="Segoe UI"/>
              </a:defRPr>
            </a:pPr>
            <a:r>
              <a:t>Systems &amp; Security Architect — Sistemas financeiros pós-trade de missão crítica, mobile banking e criptografia.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INTRODUÇÃO &amp; CONTEXTO</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AI sem Cloud com Golang!</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Foco em engenharia de sistemas de IA — </a:t>
            </a:r>
            <a:r>
              <a:rPr b="0">
                <a:solidFill>
                  <a:srgbClr val="475569"/>
                </a:solidFill>
              </a:rPr>
              <a:t>Projetando e otimizando orquestração de modelos no próprio hardware</a:t>
            </a:r>
          </a:p>
          <a:p>
            <a:pPr>
              <a:lnSpc>
                <a:spcPct val="125000"/>
              </a:lnSpc>
              <a:spcBef>
                <a:spcPts val="800"/>
              </a:spcBef>
              <a:spcAft>
                <a:spcPts val="1000"/>
              </a:spcAft>
              <a:defRPr sz="1300">
                <a:latin typeface="Segoe UI"/>
              </a:defRPr>
            </a:pPr>
            <a:r>
              <a:rPr b="1">
                <a:solidFill>
                  <a:srgbClr val="006FE6"/>
                </a:solidFill>
              </a:rPr>
              <a:t>Independência real — </a:t>
            </a:r>
            <a:r>
              <a:rPr b="0">
                <a:solidFill>
                  <a:srgbClr val="475569"/>
                </a:solidFill>
              </a:rPr>
              <a:t>Como construir soluções robustas, seguras e de baixo custo fugindo de APIs proprietárias</a:t>
            </a:r>
          </a:p>
          <a:p>
            <a:pPr>
              <a:lnSpc>
                <a:spcPct val="125000"/>
              </a:lnSpc>
              <a:spcBef>
                <a:spcPts val="800"/>
              </a:spcBef>
              <a:spcAft>
                <a:spcPts val="1000"/>
              </a:spcAft>
              <a:defRPr sz="1300">
                <a:latin typeface="Segoe UI"/>
              </a:defRPr>
            </a:pPr>
            <a:r>
              <a:rPr b="1">
                <a:solidFill>
                  <a:srgbClr val="006FE6"/>
                </a:solidFill>
              </a:rPr>
              <a:t>Infraestrutura local — </a:t>
            </a:r>
            <a:r>
              <a:rPr b="0">
                <a:solidFill>
                  <a:srgbClr val="475569"/>
                </a:solidFill>
              </a:rPr>
              <a:t>O papel do desenvolvedor Go na consolidação de IA e dados locais com alta vazão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INTRODUÇÃO &amp; CONTEXTO</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O problema que ninguém fala em voz alta</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O ecossistema atual de agentes — </a:t>
            </a:r>
            <a:r>
              <a:rPr b="0">
                <a:solidFill>
                  <a:srgbClr val="475569"/>
                </a:solidFill>
              </a:rPr>
              <a:t>cursor, cline, copilot: todos rodam em nuvem externa</a:t>
            </a:r>
          </a:p>
          <a:p>
            <a:pPr>
              <a:lnSpc>
                <a:spcPct val="125000"/>
              </a:lnSpc>
              <a:spcBef>
                <a:spcPts val="800"/>
              </a:spcBef>
              <a:spcAft>
                <a:spcPts val="1000"/>
              </a:spcAft>
              <a:defRPr sz="1300">
                <a:latin typeface="Segoe UI"/>
              </a:defRPr>
            </a:pPr>
            <a:r>
              <a:rPr b="1">
                <a:solidFill>
                  <a:srgbClr val="006FE6"/>
                </a:solidFill>
              </a:rPr>
              <a:t>Custo oculto por clique — </a:t>
            </a:r>
            <a:r>
              <a:rPr b="0">
                <a:solidFill>
                  <a:srgbClr val="475569"/>
                </a:solidFill>
              </a:rPr>
              <a:t>cada requisição consome tokens, enviando histórico acumulado</a:t>
            </a:r>
          </a:p>
          <a:p>
            <a:pPr>
              <a:lnSpc>
                <a:spcPct val="125000"/>
              </a:lnSpc>
              <a:spcBef>
                <a:spcPts val="800"/>
              </a:spcBef>
              <a:spcAft>
                <a:spcPts val="1000"/>
              </a:spcAft>
              <a:defRPr sz="1300">
                <a:latin typeface="Segoe UI"/>
              </a:defRPr>
            </a:pPr>
            <a:r>
              <a:rPr b="1">
                <a:solidFill>
                  <a:srgbClr val="006FE6"/>
                </a:solidFill>
              </a:rPr>
              <a:t>Dependência de conectividade — </a:t>
            </a:r>
            <a:r>
              <a:rPr b="0">
                <a:solidFill>
                  <a:srgbClr val="475569"/>
                </a:solidFill>
              </a:rPr>
              <a:t>se o Wi-Fi do evento ou do escritório falhar, o dev para</a:t>
            </a:r>
          </a:p>
          <a:p>
            <a:pPr>
              <a:lnSpc>
                <a:spcPct val="125000"/>
              </a:lnSpc>
              <a:spcBef>
                <a:spcPts val="800"/>
              </a:spcBef>
              <a:spcAft>
                <a:spcPts val="1000"/>
              </a:spcAft>
              <a:defRPr sz="1300">
                <a:latin typeface="Segoe UI"/>
              </a:defRPr>
            </a:pPr>
            <a:r>
              <a:rPr b="1">
                <a:solidFill>
                  <a:srgbClr val="006FE6"/>
                </a:solidFill>
              </a:rPr>
              <a:t>Segurança de dados — </a:t>
            </a:r>
            <a:r>
              <a:rPr b="0">
                <a:solidFill>
                  <a:srgbClr val="475569"/>
                </a:solidFill>
              </a:rPr>
              <a:t>código sensível trafegando para APIs de terceiros sem controle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INTRODUÇÃO &amp; CONTEXTO</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CONTEXTO</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4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O custo do contexto — </a:t>
            </a:r>
            <a:r>
              <a:rPr b="0">
                <a:solidFill>
                  <a:srgbClr val="475569"/>
                </a:solidFill>
              </a:rPr>
              <a:t>o tamanho do texto que você envia dita a velocidade e o preço</a:t>
            </a:r>
          </a:p>
          <a:p>
            <a:pPr>
              <a:lnSpc>
                <a:spcPct val="125000"/>
              </a:lnSpc>
              <a:spcBef>
                <a:spcPts val="800"/>
              </a:spcBef>
              <a:spcAft>
                <a:spcPts val="1000"/>
              </a:spcAft>
              <a:defRPr sz="1300">
                <a:latin typeface="Segoe UI"/>
              </a:defRPr>
            </a:pPr>
            <a:r>
              <a:rPr b="1">
                <a:solidFill>
                  <a:srgbClr val="006FE6"/>
                </a:solidFill>
              </a:rPr>
              <a:t>O risco do ruído — </a:t>
            </a:r>
            <a:r>
              <a:rPr b="0">
                <a:solidFill>
                  <a:srgbClr val="475569"/>
                </a:solidFill>
              </a:rPr>
              <a:t>contexto excessivo ou irrelevante confunde o raciocínio do modelo</a:t>
            </a:r>
          </a:p>
          <a:p>
            <a:pPr>
              <a:lnSpc>
                <a:spcPct val="125000"/>
              </a:lnSpc>
              <a:spcBef>
                <a:spcPts val="800"/>
              </a:spcBef>
              <a:spcAft>
                <a:spcPts val="1000"/>
              </a:spcAft>
              <a:defRPr sz="1300">
                <a:latin typeface="Segoe UI"/>
              </a:defRPr>
            </a:pPr>
            <a:r>
              <a:rPr b="1">
                <a:solidFill>
                  <a:srgbClr val="006FE6"/>
                </a:solidFill>
              </a:rPr>
              <a:t>A grande pergunta de engenharia — </a:t>
            </a:r>
            <a:r>
              <a:rPr b="0">
                <a:solidFill>
                  <a:srgbClr val="475569"/>
                </a:solidFill>
              </a:rPr>
              <a:t>como prover ao modelo exatamente o que ele precisa?</a:t>
            </a:r>
          </a:p>
          <a:p>
            <a:pPr>
              <a:lnSpc>
                <a:spcPct val="125000"/>
              </a:lnSpc>
              <a:spcBef>
                <a:spcPts val="800"/>
              </a:spcBef>
              <a:spcAft>
                <a:spcPts val="1000"/>
              </a:spcAft>
              <a:defRPr sz="1300">
                <a:latin typeface="Segoe UI"/>
              </a:defRPr>
            </a:pPr>
            <a:r>
              <a:rPr b="1">
                <a:solidFill>
                  <a:srgbClr val="006FE6"/>
                </a:solidFill>
              </a:rPr>
              <a:t>A resposta moderna — </a:t>
            </a:r>
            <a:r>
              <a:rPr b="0">
                <a:solidFill>
                  <a:srgbClr val="475569"/>
                </a:solidFill>
              </a:rPr>
              <a:t>MCP (Model Context Protocol) resolve a conexão padronizada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INTRODUÇÃO &amp; CONTEXTO</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O que é o Protocolo MCP?</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5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Model Context Protocol — </a:t>
            </a:r>
            <a:r>
              <a:rPr b="0">
                <a:solidFill>
                  <a:srgbClr val="475569"/>
                </a:solidFill>
              </a:rPr>
              <a:t>protocolo de comunicação aberto e padronizado criado pela Anthropic</a:t>
            </a:r>
          </a:p>
          <a:p>
            <a:pPr>
              <a:lnSpc>
                <a:spcPct val="125000"/>
              </a:lnSpc>
              <a:spcBef>
                <a:spcPts val="800"/>
              </a:spcBef>
              <a:spcAft>
                <a:spcPts val="1000"/>
              </a:spcAft>
              <a:defRPr sz="1300">
                <a:latin typeface="Segoe UI"/>
              </a:defRPr>
            </a:pPr>
            <a:r>
              <a:rPr b="1">
                <a:solidFill>
                  <a:srgbClr val="006FE6"/>
                </a:solidFill>
              </a:rPr>
              <a:t>A analogia do USB da IA — </a:t>
            </a:r>
            <a:r>
              <a:rPr b="0">
                <a:solidFill>
                  <a:srgbClr val="475569"/>
                </a:solidFill>
              </a:rPr>
              <a:t>você desenvolve um servidor MCP uma vez, qualquer agente o consome</a:t>
            </a:r>
          </a:p>
          <a:p>
            <a:pPr>
              <a:lnSpc>
                <a:spcPct val="125000"/>
              </a:lnSpc>
              <a:spcBef>
                <a:spcPts val="800"/>
              </a:spcBef>
              <a:spcAft>
                <a:spcPts val="1000"/>
              </a:spcAft>
              <a:defRPr sz="1300">
                <a:latin typeface="Segoe UI"/>
              </a:defRPr>
            </a:pPr>
            <a:r>
              <a:rPr b="1">
                <a:solidFill>
                  <a:srgbClr val="006FE6"/>
                </a:solidFill>
              </a:rPr>
              <a:t>Padronização de ferramentas — </a:t>
            </a:r>
            <a:r>
              <a:rPr b="0">
                <a:solidFill>
                  <a:srgbClr val="475569"/>
                </a:solidFill>
              </a:rPr>
              <a:t>define de forma unificada chamadas de ferramentas, prompts e recursos</a:t>
            </a:r>
          </a:p>
          <a:p>
            <a:pPr>
              <a:lnSpc>
                <a:spcPct val="125000"/>
              </a:lnSpc>
              <a:spcBef>
                <a:spcPts val="800"/>
              </a:spcBef>
              <a:spcAft>
                <a:spcPts val="1000"/>
              </a:spcAft>
              <a:defRPr sz="1300">
                <a:latin typeface="Segoe UI"/>
              </a:defRPr>
            </a:pPr>
            <a:r>
              <a:rPr b="1">
                <a:solidFill>
                  <a:srgbClr val="006FE6"/>
                </a:solidFill>
              </a:rPr>
              <a:t>Go como porto seguro — </a:t>
            </a:r>
            <a:r>
              <a:rPr b="0">
                <a:solidFill>
                  <a:srgbClr val="475569"/>
                </a:solidFill>
              </a:rPr>
              <a:t>escrever um servidor MCP é escrever um servidor HTTP/JSON estável e rápido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INTRODUÇÃO &amp; CONTEXTO</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Existe um jeito certo e um jeito ingênuo de fazer isso</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6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Jeito ingênuo (Cena 1) — </a:t>
            </a:r>
            <a:r>
              <a:rPr b="0">
                <a:solidFill>
                  <a:srgbClr val="475569"/>
                </a:solidFill>
              </a:rPr>
              <a:t>carregar todo o repositório de dados de uma vez e enviar cru para a API</a:t>
            </a:r>
          </a:p>
          <a:p>
            <a:pPr>
              <a:lnSpc>
                <a:spcPct val="125000"/>
              </a:lnSpc>
              <a:spcBef>
                <a:spcPts val="800"/>
              </a:spcBef>
              <a:spcAft>
                <a:spcPts val="1000"/>
              </a:spcAft>
              <a:defRPr sz="1300">
                <a:latin typeface="Segoe UI"/>
              </a:defRPr>
            </a:pPr>
            <a:r>
              <a:rPr b="1">
                <a:solidFill>
                  <a:srgbClr val="006FE6"/>
                </a:solidFill>
              </a:rPr>
              <a:t>Jeito inteligente (Cena 2) — </a:t>
            </a:r>
            <a:r>
              <a:rPr b="0">
                <a:solidFill>
                  <a:srgbClr val="475569"/>
                </a:solidFill>
              </a:rPr>
              <a:t>realizar busca semântica local, enviando apenas o contexto ideal</a:t>
            </a:r>
          </a:p>
          <a:p>
            <a:pPr>
              <a:lnSpc>
                <a:spcPct val="125000"/>
              </a:lnSpc>
              <a:spcBef>
                <a:spcPts val="800"/>
              </a:spcBef>
              <a:spcAft>
                <a:spcPts val="1000"/>
              </a:spcAft>
              <a:defRPr sz="1300">
                <a:latin typeface="Segoe UI"/>
              </a:defRPr>
            </a:pPr>
            <a:r>
              <a:rPr b="1">
                <a:solidFill>
                  <a:srgbClr val="006FE6"/>
                </a:solidFill>
              </a:rPr>
              <a:t>A infraestrutura necessária — </a:t>
            </a:r>
            <a:r>
              <a:rPr b="0">
                <a:solidFill>
                  <a:srgbClr val="475569"/>
                </a:solidFill>
              </a:rPr>
              <a:t>rodar modelos de embeddings e inferência localmente via Kronk</a:t>
            </a:r>
          </a:p>
          <a:p>
            <a:pPr>
              <a:lnSpc>
                <a:spcPct val="125000"/>
              </a:lnSpc>
              <a:spcBef>
                <a:spcPts val="800"/>
              </a:spcBef>
              <a:spcAft>
                <a:spcPts val="1000"/>
              </a:spcAft>
              <a:defRPr sz="1300">
                <a:latin typeface="Segoe UI"/>
              </a:defRPr>
            </a:pPr>
            <a:r>
              <a:rPr b="1">
                <a:solidFill>
                  <a:srgbClr val="006FE6"/>
                </a:solidFill>
              </a:rPr>
              <a:t>Conclusão empírica — </a:t>
            </a:r>
            <a:r>
              <a:rPr b="0">
                <a:solidFill>
                  <a:srgbClr val="475569"/>
                </a:solidFill>
              </a:rPr>
              <a:t>comparativo real de custos e performance exibidos ao vivo no palco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INTRODUÇÃO &amp; CONTEXTO</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Roteiro de hoje</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7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1. O motor local — </a:t>
            </a:r>
            <a:r>
              <a:rPr b="0">
                <a:solidFill>
                  <a:srgbClr val="475569"/>
                </a:solidFill>
              </a:rPr>
              <a:t>mergulho técnico no Kronk (quantização, MoE, offload de CPU/GPU)</a:t>
            </a:r>
          </a:p>
          <a:p>
            <a:pPr>
              <a:lnSpc>
                <a:spcPct val="125000"/>
              </a:lnSpc>
              <a:spcBef>
                <a:spcPts val="800"/>
              </a:spcBef>
              <a:spcAft>
                <a:spcPts val="1000"/>
              </a:spcAft>
              <a:defRPr sz="1300">
                <a:latin typeface="Segoe UI"/>
              </a:defRPr>
            </a:pPr>
            <a:r>
              <a:rPr b="1">
                <a:solidFill>
                  <a:srgbClr val="006FE6"/>
                </a:solidFill>
              </a:rPr>
              <a:t>2. Benchmarks reais — </a:t>
            </a:r>
            <a:r>
              <a:rPr b="0">
                <a:solidFill>
                  <a:srgbClr val="475569"/>
                </a:solidFill>
              </a:rPr>
              <a:t>números de vazão, TTFT e latência medidos localmente</a:t>
            </a:r>
          </a:p>
          <a:p>
            <a:pPr>
              <a:lnSpc>
                <a:spcPct val="125000"/>
              </a:lnSpc>
              <a:spcBef>
                <a:spcPts val="800"/>
              </a:spcBef>
              <a:spcAft>
                <a:spcPts val="1000"/>
              </a:spcAft>
              <a:defRPr sz="1300">
                <a:latin typeface="Segoe UI"/>
              </a:defRPr>
            </a:pPr>
            <a:r>
              <a:rPr b="1">
                <a:solidFill>
                  <a:srgbClr val="006FE6"/>
                </a:solidFill>
              </a:rPr>
              <a:t>3. Por dentro do código — </a:t>
            </a:r>
            <a:r>
              <a:rPr b="0">
                <a:solidFill>
                  <a:srgbClr val="475569"/>
                </a:solidFill>
              </a:rPr>
              <a:t>walkthrough nos códigos Go dos dois servidores MCP</a:t>
            </a:r>
          </a:p>
          <a:p>
            <a:pPr>
              <a:lnSpc>
                <a:spcPct val="125000"/>
              </a:lnSpc>
              <a:spcBef>
                <a:spcPts val="800"/>
              </a:spcBef>
              <a:spcAft>
                <a:spcPts val="1000"/>
              </a:spcAft>
              <a:defRPr sz="1300">
                <a:latin typeface="Segoe UI"/>
              </a:defRPr>
            </a:pPr>
            <a:r>
              <a:rPr b="1">
                <a:solidFill>
                  <a:srgbClr val="006FE6"/>
                </a:solidFill>
              </a:rPr>
              <a:t>4. Demonstração prática ao vivo — </a:t>
            </a:r>
            <a:r>
              <a:rPr b="0">
                <a:solidFill>
                  <a:srgbClr val="475569"/>
                </a:solidFill>
              </a:rPr>
              <a:t>Cena 1 e Cena 2 duelando na tela com contadores ativos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852160" y="731520"/>
            <a:ext cx="5943600" cy="5029200"/>
          </a:xfrm>
          <a:prstGeom prst="rect">
            <a:avLst/>
          </a:prstGeom>
          <a:noFill/>
        </p:spPr>
        <p:txBody>
          <a:bodyPr wrap="square" lIns="0" tIns="0" rIns="0" bIns="0">
            <a:spAutoFit/>
          </a:bodyPr>
          <a:lstStyle/>
          <a:p>
            <a:pPr algn="r">
              <a:defRPr sz="18000" b="1">
                <a:solidFill>
                  <a:srgbClr val="133459"/>
                </a:solidFill>
                <a:latin typeface="Segoe UI"/>
              </a:defRPr>
            </a:pPr>
            <a:r>
              <a:t>02</a:t>
            </a:r>
          </a:p>
        </p:txBody>
      </p:sp>
      <p:sp>
        <p:nvSpPr>
          <p:cNvPr id="3" name="TextBox 2"/>
          <p:cNvSpPr txBox="1"/>
          <p:nvPr/>
        </p:nvSpPr>
        <p:spPr>
          <a:xfrm>
            <a:off x="1005840" y="2011680"/>
            <a:ext cx="6858000" cy="3657600"/>
          </a:xfrm>
          <a:prstGeom prst="rect">
            <a:avLst/>
          </a:prstGeom>
          <a:noFill/>
        </p:spPr>
        <p:txBody>
          <a:bodyPr wrap="square" lIns="0" tIns="0" rIns="0" bIns="0">
            <a:spAutoFit/>
          </a:bodyPr>
          <a:lstStyle/>
          <a:p>
            <a:pPr>
              <a:spcAft>
                <a:spcPts val="1200"/>
              </a:spcAft>
              <a:defRPr sz="1100" b="1">
                <a:solidFill>
                  <a:srgbClr val="00D2FF"/>
                </a:solidFill>
                <a:latin typeface="Segoe UI"/>
              </a:defRPr>
            </a:pPr>
            <a:r>
              <a:t>CONTEÚDO DA APRESENTAÇÃO  ·  CAPÍTULO 02</a:t>
            </a:r>
          </a:p>
          <a:p>
            <a:pPr>
              <a:spcAft>
                <a:spcPts val="1500"/>
              </a:spcAft>
              <a:defRPr sz="3600" b="1">
                <a:solidFill>
                  <a:srgbClr val="FFFFFF"/>
                </a:solidFill>
                <a:latin typeface="Segoe UI"/>
              </a:defRPr>
            </a:pPr>
            <a:r>
              <a:t>DEEP DIVE: KRONK SDK</a:t>
            </a:r>
          </a:p>
          <a:p>
            <a:pPr>
              <a:spcBef>
                <a:spcPts val="1500"/>
              </a:spcBef>
              <a:defRPr sz="1500">
                <a:solidFill>
                  <a:srgbClr val="94A3B8"/>
                </a:solidFill>
                <a:latin typeface="Segoe UI"/>
              </a:defRPr>
            </a:pPr>
            <a:r>
              <a:t>Orquestrando quantização, cache de contexto, MoE e hardware híbrido em Go</a:t>
            </a:r>
          </a:p>
        </p:txBody>
      </p:sp>
      <p:sp>
        <p:nvSpPr>
          <p:cNvPr id="4" name="Rectangle 3"/>
          <p:cNvSpPr/>
          <p:nvPr/>
        </p:nvSpPr>
        <p:spPr>
          <a:xfrm>
            <a:off x="1005840" y="3977639"/>
            <a:ext cx="1645920" cy="36576"/>
          </a:xfrm>
          <a:prstGeom prst="rect">
            <a:avLst/>
          </a:prstGeom>
          <a:solidFill>
            <a:srgbClr val="00D2FF"/>
          </a:solidFill>
          <a:ln>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O que é o Kronk?</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8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Ardan Labs SDK — </a:t>
            </a:r>
            <a:r>
              <a:rPr b="0">
                <a:solidFill>
                  <a:srgbClr val="475569"/>
                </a:solidFill>
              </a:rPr>
              <a:t>biblioteca e servidor nativo em Go projetado para envolver o motor llama.cpp</a:t>
            </a:r>
          </a:p>
          <a:p>
            <a:pPr>
              <a:lnSpc>
                <a:spcPct val="125000"/>
              </a:lnSpc>
              <a:spcBef>
                <a:spcPts val="800"/>
              </a:spcBef>
              <a:spcAft>
                <a:spcPts val="1000"/>
              </a:spcAft>
              <a:defRPr sz="1300">
                <a:latin typeface="Segoe UI"/>
              </a:defRPr>
            </a:pPr>
            <a:r>
              <a:rPr b="1">
                <a:solidFill>
                  <a:srgbClr val="006FE6"/>
                </a:solidFill>
              </a:rPr>
              <a:t>Independência do Python — </a:t>
            </a:r>
            <a:r>
              <a:rPr b="0">
                <a:solidFill>
                  <a:srgbClr val="475569"/>
                </a:solidFill>
              </a:rPr>
              <a:t>execute inferência e embeddings locais sem runtime pesado ou docker extra</a:t>
            </a:r>
          </a:p>
          <a:p>
            <a:pPr>
              <a:lnSpc>
                <a:spcPct val="125000"/>
              </a:lnSpc>
              <a:spcBef>
                <a:spcPts val="800"/>
              </a:spcBef>
              <a:spcAft>
                <a:spcPts val="1000"/>
              </a:spcAft>
              <a:defRPr sz="1300">
                <a:latin typeface="Segoe UI"/>
              </a:defRPr>
            </a:pPr>
            <a:r>
              <a:rPr b="1">
                <a:solidFill>
                  <a:srgbClr val="006FE6"/>
                </a:solidFill>
              </a:rPr>
              <a:t>Compatibilidade OpenAI v1 — </a:t>
            </a:r>
            <a:r>
              <a:rPr b="0">
                <a:solidFill>
                  <a:srgbClr val="475569"/>
                </a:solidFill>
              </a:rPr>
              <a:t>expõe endpoints padronizados permitindo troca de URL instantânea</a:t>
            </a:r>
          </a:p>
          <a:p>
            <a:pPr>
              <a:lnSpc>
                <a:spcPct val="125000"/>
              </a:lnSpc>
              <a:spcBef>
                <a:spcPts val="800"/>
              </a:spcBef>
              <a:spcAft>
                <a:spcPts val="1000"/>
              </a:spcAft>
              <a:defRPr sz="1300">
                <a:latin typeface="Segoe UI"/>
              </a:defRPr>
            </a:pPr>
            <a:r>
              <a:rPr b="1">
                <a:solidFill>
                  <a:srgbClr val="006FE6"/>
                </a:solidFill>
              </a:rPr>
              <a:t>Robustez de infraestrutura — </a:t>
            </a:r>
            <a:r>
              <a:rPr b="0">
                <a:solidFill>
                  <a:srgbClr val="475569"/>
                </a:solidFill>
              </a:rPr>
              <a:t>fornece pool de modelos ativos, cache incremental e monitoramento de logs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Arquitetura: onde o Kronk entra</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9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Camada do Agente (Cliente) — </a:t>
            </a:r>
            <a:r>
              <a:rPr b="0">
                <a:solidFill>
                  <a:srgbClr val="475569"/>
                </a:solidFill>
              </a:rPr>
              <a:t>Cline, Cursor, Zed ou scripts Go conversando via HTTP OpenAI API</a:t>
            </a:r>
          </a:p>
          <a:p>
            <a:pPr>
              <a:lnSpc>
                <a:spcPct val="125000"/>
              </a:lnSpc>
              <a:spcBef>
                <a:spcPts val="800"/>
              </a:spcBef>
              <a:spcAft>
                <a:spcPts val="1000"/>
              </a:spcAft>
              <a:defRPr sz="1300">
                <a:latin typeface="Segoe UI"/>
              </a:defRPr>
            </a:pPr>
            <a:r>
              <a:rPr b="1">
                <a:solidFill>
                  <a:srgbClr val="006FE6"/>
                </a:solidFill>
              </a:rPr>
              <a:t>Roteador Kronk Server — </a:t>
            </a:r>
            <a:r>
              <a:rPr b="0">
                <a:solidFill>
                  <a:srgbClr val="475569"/>
                </a:solidFill>
              </a:rPr>
              <a:t>intercepta requisições, gerencia autenticação e gerencia o pool de modelos</a:t>
            </a:r>
          </a:p>
          <a:p>
            <a:pPr>
              <a:lnSpc>
                <a:spcPct val="125000"/>
              </a:lnSpc>
              <a:spcBef>
                <a:spcPts val="800"/>
              </a:spcBef>
              <a:spcAft>
                <a:spcPts val="1000"/>
              </a:spcAft>
              <a:defRPr sz="1300">
                <a:latin typeface="Segoe UI"/>
              </a:defRPr>
            </a:pPr>
            <a:r>
              <a:rPr b="1">
                <a:solidFill>
                  <a:srgbClr val="006FE6"/>
                </a:solidFill>
              </a:rPr>
              <a:t>Motor Core llama.cpp — </a:t>
            </a:r>
            <a:r>
              <a:rPr b="0">
                <a:solidFill>
                  <a:srgbClr val="475569"/>
                </a:solidFill>
              </a:rPr>
              <a:t>ponte CGo de alto desempenho para backends de hardware otimizados</a:t>
            </a:r>
          </a:p>
          <a:p>
            <a:pPr>
              <a:lnSpc>
                <a:spcPct val="125000"/>
              </a:lnSpc>
              <a:spcBef>
                <a:spcPts val="800"/>
              </a:spcBef>
              <a:spcAft>
                <a:spcPts val="1000"/>
              </a:spcAft>
              <a:defRPr sz="1300">
                <a:latin typeface="Segoe UI"/>
              </a:defRPr>
            </a:pPr>
            <a:r>
              <a:rPr b="1">
                <a:solidFill>
                  <a:srgbClr val="006FE6"/>
                </a:solidFill>
              </a:rPr>
              <a:t>Aceleração de hardware nativa — </a:t>
            </a:r>
            <a:r>
              <a:rPr b="0">
                <a:solidFill>
                  <a:srgbClr val="475569"/>
                </a:solidFill>
              </a:rPr>
              <a:t>seleciona automaticamente Metal (Mac), CUDA (Nvidia), ROCm ou CPU</a:t>
            </a:r>
          </a:p>
          <a:p>
            <a:pPr>
              <a:lnSpc>
                <a:spcPct val="125000"/>
              </a:lnSpc>
              <a:spcBef>
                <a:spcPts val="800"/>
              </a:spcBef>
              <a:spcAft>
                <a:spcPts val="1000"/>
              </a:spcAft>
              <a:defRPr sz="1300">
                <a:latin typeface="Segoe UI"/>
              </a:defRPr>
            </a:pPr>
            <a:r>
              <a:rPr b="1">
                <a:solidFill>
                  <a:srgbClr val="006FE6"/>
                </a:solidFill>
              </a:rPr>
              <a:t>Formato unificado GGUF — </a:t>
            </a:r>
            <a:r>
              <a:rPr b="0">
                <a:solidFill>
                  <a:srgbClr val="475569"/>
                </a:solidFill>
              </a:rPr>
              <a:t>modelos quantizados carregados de forma ultra-eficiente em disco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Por dentro do Kronk Server</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10 / 38</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Roteador API principal — </a:t>
            </a:r>
            <a:r>
              <a:rPr b="0">
                <a:solidFill>
                  <a:srgbClr val="475569"/>
                </a:solidFill>
              </a:rPr>
              <a:t>endpoint na porta :11435 para Chat Completions e Embeddings compatíveis</a:t>
            </a:r>
          </a:p>
          <a:p>
            <a:pPr>
              <a:lnSpc>
                <a:spcPct val="125000"/>
              </a:lnSpc>
              <a:spcBef>
                <a:spcPts val="800"/>
              </a:spcBef>
              <a:spcAft>
                <a:spcPts val="1000"/>
              </a:spcAft>
              <a:defRPr sz="1300">
                <a:latin typeface="Segoe UI"/>
              </a:defRPr>
            </a:pPr>
            <a:r>
              <a:rPr b="1">
                <a:solidFill>
                  <a:srgbClr val="006FE6"/>
                </a:solidFill>
              </a:rPr>
              <a:t>Painel de inspeção de debug — </a:t>
            </a:r>
            <a:r>
              <a:rPr b="0">
                <a:solidFill>
                  <a:srgbClr val="475569"/>
                </a:solidFill>
              </a:rPr>
              <a:t>monitoramento de métricas em tempo real e logs na porta :11445</a:t>
            </a:r>
          </a:p>
          <a:p>
            <a:pPr>
              <a:lnSpc>
                <a:spcPct val="125000"/>
              </a:lnSpc>
              <a:spcBef>
                <a:spcPts val="800"/>
              </a:spcBef>
              <a:spcAft>
                <a:spcPts val="1000"/>
              </a:spcAft>
              <a:defRPr sz="1300">
                <a:latin typeface="Segoe UI"/>
              </a:defRPr>
            </a:pPr>
            <a:r>
              <a:rPr b="1">
                <a:solidFill>
                  <a:srgbClr val="006FE6"/>
                </a:solidFill>
              </a:rPr>
              <a:t>Mecanismo de Auth em produção — </a:t>
            </a:r>
            <a:r>
              <a:rPr b="0">
                <a:solidFill>
                  <a:srgbClr val="475569"/>
                </a:solidFill>
              </a:rPr>
              <a:t>suporte integrado a JWT e chaves de API desativados para ambiente local</a:t>
            </a:r>
          </a:p>
          <a:p>
            <a:pPr>
              <a:lnSpc>
                <a:spcPct val="125000"/>
              </a:lnSpc>
              <a:spcBef>
                <a:spcPts val="800"/>
              </a:spcBef>
              <a:spcAft>
                <a:spcPts val="1000"/>
              </a:spcAft>
              <a:defRPr sz="1300">
                <a:latin typeface="Segoe UI"/>
              </a:defRPr>
            </a:pPr>
            <a:r>
              <a:rPr b="1">
                <a:solidFill>
                  <a:srgbClr val="006FE6"/>
                </a:solidFill>
              </a:rPr>
              <a:t>Servidor MCP embutido — </a:t>
            </a:r>
            <a:r>
              <a:rPr b="0">
                <a:solidFill>
                  <a:srgbClr val="475569"/>
                </a:solidFill>
              </a:rPr>
              <a:t>porta :9000 permitindo que agentes interajam diretamente com o orquestrador</a:t>
            </a:r>
          </a:p>
        </p:txBody>
      </p:sp>
      <p:sp>
        <p:nvSpPr>
          <p:cNvPr id="10" name="Rectangle 9"/>
          <p:cNvSpPr/>
          <p:nvPr/>
        </p:nvSpPr>
        <p:spPr>
          <a:xfrm>
            <a:off x="6248095" y="1280160"/>
            <a:ext cx="5394960" cy="4846320"/>
          </a:xfrm>
          <a:prstGeom prst="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8095" y="1280160"/>
            <a:ext cx="5394960" cy="32004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85255" y="1399032"/>
            <a:ext cx="82296" cy="82296"/>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513271" y="1399032"/>
            <a:ext cx="82296" cy="82296"/>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641287" y="1399032"/>
            <a:ext cx="82296" cy="82296"/>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62495" y="1316736"/>
            <a:ext cx="3566160" cy="228600"/>
          </a:xfrm>
          <a:prstGeom prst="rect">
            <a:avLst/>
          </a:prstGeom>
          <a:noFill/>
        </p:spPr>
        <p:txBody>
          <a:bodyPr wrap="none" lIns="0" tIns="0" rIns="0" bIns="0">
            <a:spAutoFit/>
          </a:bodyPr>
          <a:lstStyle/>
          <a:p>
            <a:pPr algn="ctr">
              <a:defRPr sz="950" b="1">
                <a:solidFill>
                  <a:srgbClr val="475569"/>
                </a:solidFill>
                <a:latin typeface="Consolas"/>
              </a:defRPr>
            </a:pPr>
            <a:r>
              <a:t>response.json</a:t>
            </a:r>
          </a:p>
        </p:txBody>
      </p:sp>
      <p:sp>
        <p:nvSpPr>
          <p:cNvPr id="16" name="TextBox 15"/>
          <p:cNvSpPr txBox="1"/>
          <p:nvPr/>
        </p:nvSpPr>
        <p:spPr>
          <a:xfrm>
            <a:off x="6412687" y="1737360"/>
            <a:ext cx="5065776" cy="4297680"/>
          </a:xfrm>
          <a:prstGeom prst="rect">
            <a:avLst/>
          </a:prstGeom>
          <a:noFill/>
        </p:spPr>
        <p:txBody>
          <a:bodyPr wrap="square" lIns="0" tIns="0" rIns="0" bIns="0">
            <a:spAutoFit/>
          </a:bodyPr>
          <a:lstStyle/>
          <a:p>
            <a:pPr>
              <a:defRPr sz="950">
                <a:solidFill>
                  <a:srgbClr val="0F172A"/>
                </a:solidFill>
                <a:latin typeface="Consolas"/>
              </a:defRPr>
            </a:pPr>
            <a:r>
              <a:t>"status":"api router started","host":"0.0.0.0:11435"</a:t>
            </a:r>
          </a:p>
          <a:p>
            <a:pPr>
              <a:spcAft>
                <a:spcPts val="200"/>
              </a:spcAft>
              <a:defRPr sz="950">
                <a:solidFill>
                  <a:srgbClr val="0F172A"/>
                </a:solidFill>
                <a:latin typeface="Consolas"/>
              </a:defRPr>
            </a:pPr>
            <a:r>
              <a:t>"status":"debug v1 router started","host":"0.0.0.0:11445"</a:t>
            </a:r>
          </a:p>
          <a:p>
            <a:pPr>
              <a:spcAft>
                <a:spcPts val="200"/>
              </a:spcAft>
              <a:defRPr sz="950">
                <a:solidFill>
                  <a:srgbClr val="0F172A"/>
                </a:solidFill>
                <a:latin typeface="Consolas"/>
              </a:defRPr>
            </a:pPr>
            <a:r>
              <a:t>"status":"local mcp server started","host":"127.0.0.1:9000"</a:t>
            </a:r>
          </a:p>
          <a:p>
            <a:pPr>
              <a:spcAft>
                <a:spcPts val="200"/>
              </a:spcAft>
              <a:defRPr sz="950">
                <a:solidFill>
                  <a:srgbClr val="0F172A"/>
                </a:solidFill>
                <a:latin typeface="Consolas"/>
              </a:defRPr>
            </a:pPr>
            <a:r>
              <a:t>"status":"start auth server"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Pool de modelos</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11 / 38</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Controle de orçamento de RAM/VRAM — </a:t>
            </a:r>
            <a:r>
              <a:rPr b="0">
                <a:solidFill>
                  <a:srgbClr val="475569"/>
                </a:solidFill>
              </a:rPr>
              <a:t>limita por segurança o consumo para modelos (padrão: 80%)</a:t>
            </a:r>
          </a:p>
          <a:p>
            <a:pPr>
              <a:lnSpc>
                <a:spcPct val="125000"/>
              </a:lnSpc>
              <a:spcBef>
                <a:spcPts val="800"/>
              </a:spcBef>
              <a:spcAft>
                <a:spcPts val="1000"/>
              </a:spcAft>
              <a:defRPr sz="1300">
                <a:latin typeface="Segoe UI"/>
              </a:defRPr>
            </a:pPr>
            <a:r>
              <a:rPr b="1">
                <a:solidFill>
                  <a:srgbClr val="006FE6"/>
                </a:solidFill>
              </a:rPr>
              <a:t>Proteção de OOM — </a:t>
            </a:r>
            <a:r>
              <a:rPr b="0">
                <a:solidFill>
                  <a:srgbClr val="475569"/>
                </a:solidFill>
              </a:rPr>
              <a:t>recusa o carregamento se a estimativa estourar o orçamento, prevenindo quebras</a:t>
            </a:r>
          </a:p>
          <a:p>
            <a:pPr>
              <a:lnSpc>
                <a:spcPct val="125000"/>
              </a:lnSpc>
              <a:spcBef>
                <a:spcPts val="800"/>
              </a:spcBef>
              <a:spcAft>
                <a:spcPts val="1000"/>
              </a:spcAft>
              <a:defRPr sz="1300">
                <a:latin typeface="Segoe UI"/>
              </a:defRPr>
            </a:pPr>
            <a:r>
              <a:rPr b="1">
                <a:solidFill>
                  <a:srgbClr val="006FE6"/>
                </a:solidFill>
              </a:rPr>
              <a:t>Multi-tenancy de modelos — </a:t>
            </a:r>
            <a:r>
              <a:rPr b="0">
                <a:solidFill>
                  <a:srgbClr val="475569"/>
                </a:solidFill>
              </a:rPr>
              <a:t>suporta até 10 modelos residentes na memória simultaneamente</a:t>
            </a:r>
          </a:p>
          <a:p>
            <a:pPr>
              <a:lnSpc>
                <a:spcPct val="125000"/>
              </a:lnSpc>
              <a:spcBef>
                <a:spcPts val="800"/>
              </a:spcBef>
              <a:spcAft>
                <a:spcPts val="1000"/>
              </a:spcAft>
              <a:defRPr sz="1300">
                <a:latin typeface="Segoe UI"/>
              </a:defRPr>
            </a:pPr>
            <a:r>
              <a:rPr b="1">
                <a:solidFill>
                  <a:srgbClr val="006FE6"/>
                </a:solidFill>
              </a:rPr>
              <a:t>Uso híbrido simultâneo — </a:t>
            </a:r>
            <a:r>
              <a:rPr b="0">
                <a:solidFill>
                  <a:srgbClr val="475569"/>
                </a:solidFill>
              </a:rPr>
              <a:t>chat (ex: gpt-oss-20b) e embeddings (ex: embeddinggemma) ativos ao mesmo tempo</a:t>
            </a:r>
          </a:p>
          <a:p>
            <a:pPr>
              <a:lnSpc>
                <a:spcPct val="125000"/>
              </a:lnSpc>
              <a:spcBef>
                <a:spcPts val="800"/>
              </a:spcBef>
              <a:spcAft>
                <a:spcPts val="1000"/>
              </a:spcAft>
              <a:defRPr sz="1300">
                <a:latin typeface="Segoe UI"/>
              </a:defRPr>
            </a:pPr>
            <a:r>
              <a:rPr b="1">
                <a:solidFill>
                  <a:srgbClr val="006FE6"/>
                </a:solidFill>
              </a:rPr>
              <a:t>TTL de desalocação — </a:t>
            </a:r>
            <a:r>
              <a:rPr b="0">
                <a:solidFill>
                  <a:srgbClr val="475569"/>
                </a:solidFill>
              </a:rPr>
              <a:t>modelos ociosos são descarregados automaticamente para liberar memória do sistema</a:t>
            </a:r>
          </a:p>
        </p:txBody>
      </p:sp>
      <p:sp>
        <p:nvSpPr>
          <p:cNvPr id="10" name="Rectangle 9"/>
          <p:cNvSpPr/>
          <p:nvPr/>
        </p:nvSpPr>
        <p:spPr>
          <a:xfrm>
            <a:off x="6248095" y="1280160"/>
            <a:ext cx="5394960" cy="4846320"/>
          </a:xfrm>
          <a:prstGeom prst="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8095" y="1280160"/>
            <a:ext cx="5394960" cy="32004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85255" y="1399032"/>
            <a:ext cx="82296" cy="82296"/>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513271" y="1399032"/>
            <a:ext cx="82296" cy="82296"/>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641287" y="1399032"/>
            <a:ext cx="82296" cy="82296"/>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62495" y="1316736"/>
            <a:ext cx="3566160" cy="228600"/>
          </a:xfrm>
          <a:prstGeom prst="rect">
            <a:avLst/>
          </a:prstGeom>
          <a:noFill/>
        </p:spPr>
        <p:txBody>
          <a:bodyPr wrap="none" lIns="0" tIns="0" rIns="0" bIns="0">
            <a:spAutoFit/>
          </a:bodyPr>
          <a:lstStyle/>
          <a:p>
            <a:pPr algn="ctr">
              <a:defRPr sz="950" b="1">
                <a:solidFill>
                  <a:srgbClr val="475569"/>
                </a:solidFill>
                <a:latin typeface="Consolas"/>
              </a:defRPr>
            </a:pPr>
            <a:r>
              <a:t>response.json</a:t>
            </a:r>
          </a:p>
        </p:txBody>
      </p:sp>
      <p:sp>
        <p:nvSpPr>
          <p:cNvPr id="16" name="TextBox 15"/>
          <p:cNvSpPr txBox="1"/>
          <p:nvPr/>
        </p:nvSpPr>
        <p:spPr>
          <a:xfrm>
            <a:off x="6412687" y="1737360"/>
            <a:ext cx="5065776" cy="4297680"/>
          </a:xfrm>
          <a:prstGeom prst="rect">
            <a:avLst/>
          </a:prstGeom>
          <a:noFill/>
        </p:spPr>
        <p:txBody>
          <a:bodyPr wrap="square" lIns="0" tIns="0" rIns="0" bIns="0">
            <a:spAutoFit/>
          </a:bodyPr>
          <a:lstStyle/>
          <a:p>
            <a:pPr>
              <a:defRPr sz="950">
                <a:solidFill>
                  <a:srgbClr val="0F172A"/>
                </a:solidFill>
                <a:latin typeface="Consolas"/>
              </a:defRPr>
            </a:pPr>
            <a:r>
              <a:t>"status":"resman-init","budget-percent":80,</a:t>
            </a:r>
          </a:p>
          <a:p>
            <a:pPr>
              <a:spcAft>
                <a:spcPts val="200"/>
              </a:spcAft>
              <a:defRPr sz="950">
                <a:solidFill>
                  <a:srgbClr val="0F172A"/>
                </a:solidFill>
                <a:latin typeface="Consolas"/>
              </a:defRPr>
            </a:pPr>
            <a:r>
              <a:t>"ram-budget":"38.7GB","max-models-in-pool":10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Cache incremental (IMC)</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12 / 38</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O padrão de agentes de IA — </a:t>
            </a:r>
            <a:r>
              <a:rPr b="0">
                <a:solidFill>
                  <a:srgbClr val="475569"/>
                </a:solidFill>
              </a:rPr>
              <a:t>conversas longas reenviando todo o histórico acumulado a cada turno</a:t>
            </a:r>
          </a:p>
          <a:p>
            <a:pPr>
              <a:lnSpc>
                <a:spcPct val="125000"/>
              </a:lnSpc>
              <a:spcBef>
                <a:spcPts val="800"/>
              </a:spcBef>
              <a:spcAft>
                <a:spcPts val="1000"/>
              </a:spcAft>
              <a:defRPr sz="1300">
                <a:latin typeface="Segoe UI"/>
              </a:defRPr>
            </a:pPr>
            <a:r>
              <a:rPr b="1">
                <a:solidFill>
                  <a:srgbClr val="006FE6"/>
                </a:solidFill>
              </a:rPr>
              <a:t>Gargalo sem cache — </a:t>
            </a:r>
            <a:r>
              <a:rPr b="0">
                <a:solidFill>
                  <a:srgbClr val="475569"/>
                </a:solidFill>
              </a:rPr>
              <a:t>reprocessar o prompt inteiro consome ciclos e atrasa o tempo de resposta</a:t>
            </a:r>
          </a:p>
          <a:p>
            <a:pPr>
              <a:lnSpc>
                <a:spcPct val="125000"/>
              </a:lnSpc>
              <a:spcBef>
                <a:spcPts val="800"/>
              </a:spcBef>
              <a:spcAft>
                <a:spcPts val="1000"/>
              </a:spcAft>
              <a:defRPr sz="1300">
                <a:latin typeface="Segoe UI"/>
              </a:defRPr>
            </a:pPr>
            <a:r>
              <a:rPr b="1">
                <a:solidFill>
                  <a:srgbClr val="006FE6"/>
                </a:solidFill>
              </a:rPr>
              <a:t>Cache Incremental de Mensagens (IMC) — </a:t>
            </a:r>
            <a:r>
              <a:rPr b="0">
                <a:solidFill>
                  <a:srgbClr val="475569"/>
                </a:solidFill>
              </a:rPr>
              <a:t>retém o KV-cache internamente na memória entre chamadas</a:t>
            </a:r>
          </a:p>
          <a:p>
            <a:pPr>
              <a:lnSpc>
                <a:spcPct val="125000"/>
              </a:lnSpc>
              <a:spcBef>
                <a:spcPts val="800"/>
              </a:spcBef>
              <a:spcAft>
                <a:spcPts val="1000"/>
              </a:spcAft>
              <a:defRPr sz="1300">
                <a:latin typeface="Segoe UI"/>
              </a:defRPr>
            </a:pPr>
            <a:r>
              <a:rPr b="1">
                <a:solidFill>
                  <a:srgbClr val="006FE6"/>
                </a:solidFill>
              </a:rPr>
              <a:t>Aceleração instantânea — </a:t>
            </a:r>
            <a:r>
              <a:rPr b="0">
                <a:solidFill>
                  <a:srgbClr val="475569"/>
                </a:solidFill>
              </a:rPr>
              <a:t>processa apenas os tokens de fato novos, reduzindo drasticamente o TTFT</a:t>
            </a:r>
          </a:p>
        </p:txBody>
      </p:sp>
      <p:sp>
        <p:nvSpPr>
          <p:cNvPr id="10" name="Rectangle 9"/>
          <p:cNvSpPr/>
          <p:nvPr/>
        </p:nvSpPr>
        <p:spPr>
          <a:xfrm>
            <a:off x="6248095" y="1280160"/>
            <a:ext cx="5394960" cy="4846320"/>
          </a:xfrm>
          <a:prstGeom prst="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8095" y="1280160"/>
            <a:ext cx="5394960" cy="32004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85255" y="1399032"/>
            <a:ext cx="82296" cy="82296"/>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513271" y="1399032"/>
            <a:ext cx="82296" cy="82296"/>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641287" y="1399032"/>
            <a:ext cx="82296" cy="82296"/>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62495" y="1316736"/>
            <a:ext cx="3566160" cy="228600"/>
          </a:xfrm>
          <a:prstGeom prst="rect">
            <a:avLst/>
          </a:prstGeom>
          <a:noFill/>
        </p:spPr>
        <p:txBody>
          <a:bodyPr wrap="none" lIns="0" tIns="0" rIns="0" bIns="0">
            <a:spAutoFit/>
          </a:bodyPr>
          <a:lstStyle/>
          <a:p>
            <a:pPr algn="ctr">
              <a:defRPr sz="950" b="1">
                <a:solidFill>
                  <a:srgbClr val="475569"/>
                </a:solidFill>
                <a:latin typeface="Consolas"/>
              </a:defRPr>
            </a:pPr>
            <a:r>
              <a:t>model_config.yaml</a:t>
            </a:r>
          </a:p>
        </p:txBody>
      </p:sp>
      <p:sp>
        <p:nvSpPr>
          <p:cNvPr id="16" name="TextBox 15"/>
          <p:cNvSpPr txBox="1"/>
          <p:nvPr/>
        </p:nvSpPr>
        <p:spPr>
          <a:xfrm>
            <a:off x="6412687" y="1737360"/>
            <a:ext cx="5065776" cy="4297680"/>
          </a:xfrm>
          <a:prstGeom prst="rect">
            <a:avLst/>
          </a:prstGeom>
          <a:noFill/>
        </p:spPr>
        <p:txBody>
          <a:bodyPr wrap="square" lIns="0" tIns="0" rIns="0" bIns="0">
            <a:spAutoFit/>
          </a:bodyPr>
          <a:lstStyle/>
          <a:p>
            <a:pPr>
              <a:defRPr sz="950">
                <a:solidFill>
                  <a:srgbClr val="0F172A"/>
                </a:solidFill>
                <a:latin typeface="Consolas"/>
              </a:defRPr>
            </a:pPr>
            <a:r>
              <a:t>incremental-cache: false   # Incremental message caching</a:t>
            </a:r>
          </a:p>
          <a:p>
            <a:pPr>
              <a:spcAft>
                <a:spcPts val="200"/>
              </a:spcAft>
              <a:defRPr sz="950">
                <a:solidFill>
                  <a:srgbClr val="0F172A"/>
                </a:solidFill>
                <a:latin typeface="Consolas"/>
              </a:defRPr>
            </a:pPr>
            <a:r>
              <a:t>                           # for agentic workflows</a:t>
            </a:r>
          </a:p>
          <a:p>
            <a:pPr>
              <a:spcAft>
                <a:spcPts val="200"/>
              </a:spcAft>
              <a:defRPr sz="950">
                <a:solidFill>
                  <a:srgbClr val="0F172A"/>
                </a:solidFill>
                <a:latin typeface="Consolas"/>
              </a:defRPr>
            </a:pPr>
            <a:r>
              <a:t>                           # (Cline, OpenCode)</a:t>
            </a:r>
          </a:p>
          <a:p>
            <a:pPr>
              <a:spcAft>
                <a:spcPts val="200"/>
              </a:spcAft>
              <a:defRPr sz="950">
                <a:solidFill>
                  <a:srgbClr val="0F172A"/>
                </a:solidFill>
                <a:latin typeface="Consolas"/>
              </a:defRPr>
            </a:pPr>
            <a:r>
              <a:t># valor real hoje, confirmado no log: IncrementalCache[true]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Quantização (a base de tudo)</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13 / 38</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Nosso setup hoje — </a:t>
            </a:r>
            <a:r>
              <a:rPr b="0">
                <a:solidFill>
                  <a:srgbClr val="475569"/>
                </a:solidFill>
              </a:rPr>
              <a:t>modelo gpt-oss-20b quantizado em Q8_0, ocupando ~12GB estáveis em disco</a:t>
            </a:r>
          </a:p>
          <a:p>
            <a:pPr>
              <a:lnSpc>
                <a:spcPct val="125000"/>
              </a:lnSpc>
              <a:spcBef>
                <a:spcPts val="800"/>
              </a:spcBef>
              <a:spcAft>
                <a:spcPts val="1000"/>
              </a:spcAft>
              <a:defRPr sz="1300">
                <a:latin typeface="Segoe UI"/>
              </a:defRPr>
            </a:pPr>
            <a:r>
              <a:rPr b="1">
                <a:solidFill>
                  <a:srgbClr val="006FE6"/>
                </a:solidFill>
              </a:rPr>
              <a:t>O ganho prático — </a:t>
            </a:r>
            <a:r>
              <a:rPr b="0">
                <a:solidFill>
                  <a:srgbClr val="475569"/>
                </a:solidFill>
              </a:rPr>
              <a:t>redução de mais de 50% de RAM sem impactos na acurácia lógica dos testes</a:t>
            </a:r>
          </a:p>
        </p:txBody>
      </p:sp>
      <p:graphicFrame>
        <p:nvGraphicFramePr>
          <p:cNvPr id="10" name="Table 9"/>
          <p:cNvGraphicFramePr>
            <a:graphicFrameLocks noGrp="1"/>
          </p:cNvGraphicFramePr>
          <p:nvPr/>
        </p:nvGraphicFramePr>
        <p:xfrm>
          <a:off x="6248095" y="1463040"/>
          <a:ext cx="5394960" cy="1706880"/>
        </p:xfrm>
        <a:graphic>
          <a:graphicData uri="http://schemas.openxmlformats.org/drawingml/2006/table">
            <a:tbl>
              <a:tblPr firstRow="1" bandRow="1">
                <a:tableStyleId>{5C22544A-7EE6-4342-B048-85BDC9FD1C3A}</a:tableStyleId>
              </a:tblPr>
              <a:tblGrid>
                <a:gridCol w="1348740">
                  <a:extLst>
                    <a:ext uri="{9D8B030D-6E8A-4147-A177-3AD203B41FA5}">
                      <a16:colId xmlns:a16="http://schemas.microsoft.com/office/drawing/2014/main" val="20000"/>
                    </a:ext>
                  </a:extLst>
                </a:gridCol>
                <a:gridCol w="1348740">
                  <a:extLst>
                    <a:ext uri="{9D8B030D-6E8A-4147-A177-3AD203B41FA5}">
                      <a16:colId xmlns:a16="http://schemas.microsoft.com/office/drawing/2014/main" val="20001"/>
                    </a:ext>
                  </a:extLst>
                </a:gridCol>
                <a:gridCol w="1348740">
                  <a:extLst>
                    <a:ext uri="{9D8B030D-6E8A-4147-A177-3AD203B41FA5}">
                      <a16:colId xmlns:a16="http://schemas.microsoft.com/office/drawing/2014/main" val="20002"/>
                    </a:ext>
                  </a:extLst>
                </a:gridCol>
                <a:gridCol w="1348740">
                  <a:extLst>
                    <a:ext uri="{9D8B030D-6E8A-4147-A177-3AD203B41FA5}">
                      <a16:colId xmlns:a16="http://schemas.microsoft.com/office/drawing/2014/main" val="20003"/>
                    </a:ext>
                  </a:extLst>
                </a:gridCol>
              </a:tblGrid>
              <a:tr h="365760">
                <a:tc>
                  <a:txBody>
                    <a:bodyPr/>
                    <a:lstStyle/>
                    <a:p>
                      <a:pPr algn="l"/>
                      <a:r>
                        <a:rPr sz="1100" b="1">
                          <a:solidFill>
                            <a:srgbClr val="00D2FF"/>
                          </a:solidFill>
                          <a:latin typeface="Segoe UI"/>
                        </a:rPr>
                        <a:t>Formato</a:t>
                      </a:r>
                    </a:p>
                  </a:txBody>
                  <a:tcPr>
                    <a:solidFill>
                      <a:srgbClr val="0A2540"/>
                    </a:solidFill>
                  </a:tcPr>
                </a:tc>
                <a:tc>
                  <a:txBody>
                    <a:bodyPr/>
                    <a:lstStyle/>
                    <a:p>
                      <a:pPr algn="ctr"/>
                      <a:r>
                        <a:rPr sz="1100" b="1">
                          <a:solidFill>
                            <a:srgbClr val="00D2FF"/>
                          </a:solidFill>
                          <a:latin typeface="Segoe UI"/>
                        </a:rPr>
                        <a:t>Bits</a:t>
                      </a:r>
                    </a:p>
                  </a:txBody>
                  <a:tcPr>
                    <a:solidFill>
                      <a:srgbClr val="0A2540"/>
                    </a:solidFill>
                  </a:tcPr>
                </a:tc>
                <a:tc>
                  <a:txBody>
                    <a:bodyPr/>
                    <a:lstStyle/>
                    <a:p>
                      <a:pPr algn="ctr"/>
                      <a:r>
                        <a:rPr sz="1100" b="1">
                          <a:solidFill>
                            <a:srgbClr val="00D2FF"/>
                          </a:solidFill>
                          <a:latin typeface="Segoe UI"/>
                        </a:rPr>
                        <a:t>Consumo RAM</a:t>
                      </a:r>
                    </a:p>
                  </a:txBody>
                  <a:tcPr>
                    <a:solidFill>
                      <a:srgbClr val="0A2540"/>
                    </a:solidFill>
                  </a:tcPr>
                </a:tc>
                <a:tc>
                  <a:txBody>
                    <a:bodyPr/>
                    <a:lstStyle/>
                    <a:p>
                      <a:pPr algn="ctr"/>
                      <a:r>
                        <a:rPr sz="1100" b="1">
                          <a:solidFill>
                            <a:srgbClr val="00D2FF"/>
                          </a:solidFill>
                          <a:latin typeface="Segoe UI"/>
                        </a:rPr>
                        <a:t>Perda de Precisão</a:t>
                      </a:r>
                    </a:p>
                  </a:txBody>
                  <a:tcPr>
                    <a:solidFill>
                      <a:srgbClr val="0A2540"/>
                    </a:solidFill>
                  </a:tcPr>
                </a:tc>
                <a:extLst>
                  <a:ext uri="{0D108BD9-81ED-4DB2-BD59-A6C34878D82A}">
                    <a16:rowId xmlns:a16="http://schemas.microsoft.com/office/drawing/2014/main" val="10000"/>
                  </a:ext>
                </a:extLst>
              </a:tr>
              <a:tr h="365760">
                <a:tc>
                  <a:txBody>
                    <a:bodyPr/>
                    <a:lstStyle/>
                    <a:p>
                      <a:pPr algn="l"/>
                      <a:r>
                        <a:rPr sz="1000" b="0">
                          <a:solidFill>
                            <a:srgbClr val="0F172A"/>
                          </a:solidFill>
                          <a:latin typeface="Segoe UI"/>
                        </a:rPr>
                        <a:t>F16</a:t>
                      </a:r>
                    </a:p>
                  </a:txBody>
                  <a:tcPr>
                    <a:solidFill>
                      <a:srgbClr val="F8FAFC"/>
                    </a:solidFill>
                  </a:tcPr>
                </a:tc>
                <a:tc>
                  <a:txBody>
                    <a:bodyPr/>
                    <a:lstStyle/>
                    <a:p>
                      <a:pPr algn="ctr"/>
                      <a:r>
                        <a:rPr sz="1000" b="0">
                          <a:solidFill>
                            <a:srgbClr val="0F172A"/>
                          </a:solidFill>
                          <a:latin typeface="Segoe UI"/>
                        </a:rPr>
                        <a:t>16</a:t>
                      </a:r>
                    </a:p>
                  </a:txBody>
                  <a:tcPr>
                    <a:solidFill>
                      <a:srgbClr val="F8FAFC"/>
                    </a:solidFill>
                  </a:tcPr>
                </a:tc>
                <a:tc>
                  <a:txBody>
                    <a:bodyPr/>
                    <a:lstStyle/>
                    <a:p>
                      <a:pPr algn="ctr"/>
                      <a:r>
                        <a:rPr sz="1000" b="0">
                          <a:solidFill>
                            <a:srgbClr val="0F172A"/>
                          </a:solidFill>
                          <a:latin typeface="Segoe UI"/>
                        </a:rPr>
                        <a:t>Muito Alto (~24GB)</a:t>
                      </a:r>
                    </a:p>
                  </a:txBody>
                  <a:tcPr>
                    <a:solidFill>
                      <a:srgbClr val="F8FAFC"/>
                    </a:solidFill>
                  </a:tcPr>
                </a:tc>
                <a:tc>
                  <a:txBody>
                    <a:bodyPr/>
                    <a:lstStyle/>
                    <a:p>
                      <a:pPr algn="ctr"/>
                      <a:r>
                        <a:rPr sz="1000" b="0">
                          <a:solidFill>
                            <a:srgbClr val="0F172A"/>
                          </a:solidFill>
                          <a:latin typeface="Segoe UI"/>
                        </a:rPr>
                        <a:t>Nenhuma (Precisão nativa)</a:t>
                      </a:r>
                    </a:p>
                  </a:txBody>
                  <a:tcPr>
                    <a:solidFill>
                      <a:srgbClr val="F8FAFC"/>
                    </a:solidFill>
                  </a:tcPr>
                </a:tc>
                <a:extLst>
                  <a:ext uri="{0D108BD9-81ED-4DB2-BD59-A6C34878D82A}">
                    <a16:rowId xmlns:a16="http://schemas.microsoft.com/office/drawing/2014/main" val="10001"/>
                  </a:ext>
                </a:extLst>
              </a:tr>
              <a:tr h="365760">
                <a:tc>
                  <a:txBody>
                    <a:bodyPr/>
                    <a:lstStyle/>
                    <a:p>
                      <a:pPr algn="l"/>
                      <a:r>
                        <a:rPr sz="1000" b="0">
                          <a:solidFill>
                            <a:srgbClr val="0F172A"/>
                          </a:solidFill>
                          <a:latin typeface="Segoe UI"/>
                        </a:rPr>
                        <a:t>Q8_0</a:t>
                      </a:r>
                    </a:p>
                  </a:txBody>
                  <a:tcPr>
                    <a:solidFill>
                      <a:srgbClr val="FFFFFF"/>
                    </a:solidFill>
                  </a:tcPr>
                </a:tc>
                <a:tc>
                  <a:txBody>
                    <a:bodyPr/>
                    <a:lstStyle/>
                    <a:p>
                      <a:pPr algn="ctr"/>
                      <a:r>
                        <a:rPr sz="1000" b="0">
                          <a:solidFill>
                            <a:srgbClr val="0F172A"/>
                          </a:solidFill>
                          <a:latin typeface="Segoe UI"/>
                        </a:rPr>
                        <a:t>8</a:t>
                      </a:r>
                    </a:p>
                  </a:txBody>
                  <a:tcPr>
                    <a:solidFill>
                      <a:srgbClr val="FFFFFF"/>
                    </a:solidFill>
                  </a:tcPr>
                </a:tc>
                <a:tc>
                  <a:txBody>
                    <a:bodyPr/>
                    <a:lstStyle/>
                    <a:p>
                      <a:pPr algn="ctr"/>
                      <a:r>
                        <a:rPr sz="1000" b="0">
                          <a:solidFill>
                            <a:srgbClr val="0F172A"/>
                          </a:solidFill>
                          <a:latin typeface="Segoe UI"/>
                        </a:rPr>
                        <a:t>Médio (~12GB)</a:t>
                      </a:r>
                    </a:p>
                  </a:txBody>
                  <a:tcPr>
                    <a:solidFill>
                      <a:srgbClr val="FFFFFF"/>
                    </a:solidFill>
                  </a:tcPr>
                </a:tc>
                <a:tc>
                  <a:txBody>
                    <a:bodyPr/>
                    <a:lstStyle/>
                    <a:p>
                      <a:pPr algn="ctr"/>
                      <a:r>
                        <a:rPr sz="1000" b="0">
                          <a:solidFill>
                            <a:srgbClr val="0F172A"/>
                          </a:solidFill>
                          <a:latin typeface="Segoe UI"/>
                        </a:rPr>
                        <a:t>Quase Nula (Excelente p/ código)</a:t>
                      </a:r>
                    </a:p>
                  </a:txBody>
                  <a:tcPr>
                    <a:solidFill>
                      <a:srgbClr val="FFFFFF"/>
                    </a:solidFill>
                  </a:tcPr>
                </a:tc>
                <a:extLst>
                  <a:ext uri="{0D108BD9-81ED-4DB2-BD59-A6C34878D82A}">
                    <a16:rowId xmlns:a16="http://schemas.microsoft.com/office/drawing/2014/main" val="10002"/>
                  </a:ext>
                </a:extLst>
              </a:tr>
              <a:tr h="365760">
                <a:tc>
                  <a:txBody>
                    <a:bodyPr/>
                    <a:lstStyle/>
                    <a:p>
                      <a:pPr algn="l"/>
                      <a:r>
                        <a:rPr sz="1000" b="0">
                          <a:solidFill>
                            <a:srgbClr val="0F172A"/>
                          </a:solidFill>
                          <a:latin typeface="Segoe UI"/>
                        </a:rPr>
                        <a:t>Q4_K_M</a:t>
                      </a:r>
                    </a:p>
                  </a:txBody>
                  <a:tcPr>
                    <a:solidFill>
                      <a:srgbClr val="F8FAFC"/>
                    </a:solidFill>
                  </a:tcPr>
                </a:tc>
                <a:tc>
                  <a:txBody>
                    <a:bodyPr/>
                    <a:lstStyle/>
                    <a:p>
                      <a:pPr algn="ctr"/>
                      <a:r>
                        <a:rPr sz="1000" b="0">
                          <a:solidFill>
                            <a:srgbClr val="0F172A"/>
                          </a:solidFill>
                          <a:latin typeface="Segoe UI"/>
                        </a:rPr>
                        <a:t>4</a:t>
                      </a:r>
                    </a:p>
                  </a:txBody>
                  <a:tcPr>
                    <a:solidFill>
                      <a:srgbClr val="F8FAFC"/>
                    </a:solidFill>
                  </a:tcPr>
                </a:tc>
                <a:tc>
                  <a:txBody>
                    <a:bodyPr/>
                    <a:lstStyle/>
                    <a:p>
                      <a:pPr algn="ctr"/>
                      <a:r>
                        <a:rPr sz="1000" b="0">
                          <a:solidFill>
                            <a:srgbClr val="0F172A"/>
                          </a:solidFill>
                          <a:latin typeface="Segoe UI"/>
                        </a:rPr>
                        <a:t>Baixo (~6.5GB)</a:t>
                      </a:r>
                    </a:p>
                  </a:txBody>
                  <a:tcPr>
                    <a:solidFill>
                      <a:srgbClr val="F8FAFC"/>
                    </a:solidFill>
                  </a:tcPr>
                </a:tc>
                <a:tc>
                  <a:txBody>
                    <a:bodyPr/>
                    <a:lstStyle/>
                    <a:p>
                      <a:pPr algn="ctr"/>
                      <a:r>
                        <a:rPr sz="1000" b="0">
                          <a:solidFill>
                            <a:srgbClr val="0F172A"/>
                          </a:solidFill>
                          <a:latin typeface="Segoe UI"/>
                        </a:rPr>
                        <a:t>Pequena (Leve perda semântica)</a:t>
                      </a:r>
                    </a:p>
                  </a:txBody>
                  <a:tcPr>
                    <a:solidFill>
                      <a:srgbClr val="F8FAF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MoE (Mixture of Experts)</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14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Arquitetura modular MoE — </a:t>
            </a:r>
            <a:r>
              <a:rPr b="0">
                <a:solidFill>
                  <a:srgbClr val="475569"/>
                </a:solidFill>
              </a:rPr>
              <a:t>modelo fatiado em sub-redes especialistas em vez de um bloco monolítico</a:t>
            </a:r>
          </a:p>
          <a:p>
            <a:pPr>
              <a:lnSpc>
                <a:spcPct val="125000"/>
              </a:lnSpc>
              <a:spcBef>
                <a:spcPts val="800"/>
              </a:spcBef>
              <a:spcAft>
                <a:spcPts val="1000"/>
              </a:spcAft>
              <a:defRPr sz="1300">
                <a:latin typeface="Segoe UI"/>
              </a:defRPr>
            </a:pPr>
            <a:r>
              <a:rPr b="1">
                <a:solidFill>
                  <a:srgbClr val="006FE6"/>
                </a:solidFill>
              </a:rPr>
              <a:t>Ativação dinâmica — </a:t>
            </a:r>
            <a:r>
              <a:rPr b="0">
                <a:solidFill>
                  <a:srgbClr val="475569"/>
                </a:solidFill>
              </a:rPr>
              <a:t>gpt-oss-20b possui 20B parâmetros e 32 especialistas, mas ativa apenas 4 por token</a:t>
            </a:r>
          </a:p>
          <a:p>
            <a:pPr>
              <a:lnSpc>
                <a:spcPct val="125000"/>
              </a:lnSpc>
              <a:spcBef>
                <a:spcPts val="800"/>
              </a:spcBef>
              <a:spcAft>
                <a:spcPts val="1000"/>
              </a:spcAft>
              <a:defRPr sz="1300">
                <a:latin typeface="Segoe UI"/>
              </a:defRPr>
            </a:pPr>
            <a:r>
              <a:rPr b="1">
                <a:solidFill>
                  <a:srgbClr val="006FE6"/>
                </a:solidFill>
              </a:rPr>
              <a:t>Suporte nativo do Kronk — </a:t>
            </a:r>
            <a:r>
              <a:rPr b="0">
                <a:solidFill>
                  <a:srgbClr val="475569"/>
                </a:solidFill>
              </a:rPr>
              <a:t>moe.mode permite alocar roteador e especialistas de forma inteligente</a:t>
            </a:r>
          </a:p>
          <a:p>
            <a:pPr>
              <a:lnSpc>
                <a:spcPct val="125000"/>
              </a:lnSpc>
              <a:spcBef>
                <a:spcPts val="800"/>
              </a:spcBef>
              <a:spcAft>
                <a:spcPts val="1000"/>
              </a:spcAft>
              <a:defRPr sz="1300">
                <a:latin typeface="Segoe UI"/>
              </a:defRPr>
            </a:pPr>
            <a:r>
              <a:rPr b="1">
                <a:solidFill>
                  <a:srgbClr val="006FE6"/>
                </a:solidFill>
              </a:rPr>
              <a:t>Políticas de distribuição — </a:t>
            </a:r>
            <a:r>
              <a:rPr b="0">
                <a:solidFill>
                  <a:srgbClr val="475569"/>
                </a:solidFill>
              </a:rPr>
              <a:t>auto, experts_cpu (expert na CPU, roteador na GPU), experts_gpu e keep_top_n</a:t>
            </a:r>
          </a:p>
          <a:p>
            <a:pPr>
              <a:lnSpc>
                <a:spcPct val="125000"/>
              </a:lnSpc>
              <a:spcBef>
                <a:spcPts val="800"/>
              </a:spcBef>
              <a:spcAft>
                <a:spcPts val="1000"/>
              </a:spcAft>
              <a:defRPr sz="1300">
                <a:latin typeface="Segoe UI"/>
              </a:defRPr>
            </a:pPr>
            <a:r>
              <a:rPr b="1">
                <a:solidFill>
                  <a:srgbClr val="006FE6"/>
                </a:solidFill>
              </a:rPr>
              <a:t>Relação de hardware — </a:t>
            </a:r>
            <a:r>
              <a:rPr b="0">
                <a:solidFill>
                  <a:srgbClr val="475569"/>
                </a:solidFill>
              </a:rPr>
              <a:t>no Linux com GPU de 12GB estourávamos a VRAM; no Mac M4 Pro roda suave unificado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Por dentro da Arquitetura MoE (Mixture of Experts)</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15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Fatiamento de Rede (FFNs) — </a:t>
            </a:r>
            <a:r>
              <a:rPr b="0">
                <a:solidFill>
                  <a:srgbClr val="475569"/>
                </a:solidFill>
              </a:rPr>
              <a:t>Camadas neurais tradicionais divididas em sub-redes especialistas independentes</a:t>
            </a:r>
          </a:p>
          <a:p>
            <a:pPr>
              <a:lnSpc>
                <a:spcPct val="125000"/>
              </a:lnSpc>
              <a:spcBef>
                <a:spcPts val="800"/>
              </a:spcBef>
              <a:spcAft>
                <a:spcPts val="1000"/>
              </a:spcAft>
              <a:defRPr sz="1300">
                <a:latin typeface="Segoe UI"/>
              </a:defRPr>
            </a:pPr>
            <a:r>
              <a:rPr b="1">
                <a:solidFill>
                  <a:srgbClr val="006FE6"/>
                </a:solidFill>
              </a:rPr>
              <a:t>Portão de Roteamento (Gating Network) — </a:t>
            </a:r>
            <a:r>
              <a:rPr b="0">
                <a:solidFill>
                  <a:srgbClr val="475569"/>
                </a:solidFill>
              </a:rPr>
              <a:t>Classificador ultra leve calcula e ordena afinidades de cada token</a:t>
            </a:r>
          </a:p>
          <a:p>
            <a:pPr>
              <a:lnSpc>
                <a:spcPct val="125000"/>
              </a:lnSpc>
              <a:spcBef>
                <a:spcPts val="800"/>
              </a:spcBef>
              <a:spcAft>
                <a:spcPts val="1000"/>
              </a:spcAft>
              <a:defRPr sz="1300">
                <a:latin typeface="Segoe UI"/>
              </a:defRPr>
            </a:pPr>
            <a:r>
              <a:rPr b="1">
                <a:solidFill>
                  <a:srgbClr val="006FE6"/>
                </a:solidFill>
              </a:rPr>
              <a:t>Inferência Top-K — </a:t>
            </a:r>
            <a:r>
              <a:rPr b="0">
                <a:solidFill>
                  <a:srgbClr val="475569"/>
                </a:solidFill>
              </a:rPr>
              <a:t>Apenas os N melhores especialistas (ex: 4 de 32) são acionados na computação por token</a:t>
            </a:r>
          </a:p>
          <a:p>
            <a:pPr>
              <a:lnSpc>
                <a:spcPct val="125000"/>
              </a:lnSpc>
              <a:spcBef>
                <a:spcPts val="800"/>
              </a:spcBef>
              <a:spcAft>
                <a:spcPts val="1000"/>
              </a:spcAft>
              <a:defRPr sz="1300">
                <a:latin typeface="Segoe UI"/>
              </a:defRPr>
            </a:pPr>
            <a:r>
              <a:rPr b="1">
                <a:solidFill>
                  <a:srgbClr val="006FE6"/>
                </a:solidFill>
              </a:rPr>
              <a:t>Computação vs Memória — </a:t>
            </a:r>
            <a:r>
              <a:rPr b="0">
                <a:solidFill>
                  <a:srgbClr val="475569"/>
                </a:solidFill>
              </a:rPr>
              <a:t>20B parâmetros residentes na RAM, mas com custo computacional (FLOPs) de apenas 4B</a:t>
            </a:r>
          </a:p>
          <a:p>
            <a:pPr>
              <a:lnSpc>
                <a:spcPct val="125000"/>
              </a:lnSpc>
              <a:spcBef>
                <a:spcPts val="800"/>
              </a:spcBef>
              <a:spcAft>
                <a:spcPts val="1000"/>
              </a:spcAft>
              <a:defRPr sz="1300">
                <a:latin typeface="Segoe UI"/>
              </a:defRPr>
            </a:pPr>
            <a:r>
              <a:rPr b="1">
                <a:solidFill>
                  <a:srgbClr val="006FE6"/>
                </a:solidFill>
              </a:rPr>
              <a:t>Vantagem Local-First — </a:t>
            </a:r>
            <a:r>
              <a:rPr b="0">
                <a:solidFill>
                  <a:srgbClr val="475569"/>
                </a:solidFill>
              </a:rPr>
              <a:t>Kronk moe.mode distribui especialistas entre CPU/GPU se VRAM for gargalo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Hybrid CPU/GPU (offload de camadas)</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16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Configuração ngpu-layers — </a:t>
            </a:r>
            <a:r>
              <a:rPr b="0">
                <a:solidFill>
                  <a:srgbClr val="475569"/>
                </a:solidFill>
              </a:rPr>
              <a:t>controla rigorosamente a quantidade de camadas de transformer na GPU</a:t>
            </a:r>
          </a:p>
          <a:p>
            <a:pPr>
              <a:lnSpc>
                <a:spcPct val="125000"/>
              </a:lnSpc>
              <a:spcBef>
                <a:spcPts val="800"/>
              </a:spcBef>
              <a:spcAft>
                <a:spcPts val="1000"/>
              </a:spcAft>
              <a:defRPr sz="1300">
                <a:latin typeface="Segoe UI"/>
              </a:defRPr>
            </a:pPr>
            <a:r>
              <a:rPr b="1">
                <a:solidFill>
                  <a:srgbClr val="006FE6"/>
                </a:solidFill>
              </a:rPr>
              <a:t>Pegadinha de convenção do Kronk — </a:t>
            </a:r>
            <a:r>
              <a:rPr b="0">
                <a:solidFill>
                  <a:srgbClr val="475569"/>
                </a:solidFill>
              </a:rPr>
              <a:t>valor 0 significa TODAS na GPU, -1 força CPU pura, N move N camadas</a:t>
            </a:r>
          </a:p>
          <a:p>
            <a:pPr>
              <a:lnSpc>
                <a:spcPct val="125000"/>
              </a:lnSpc>
              <a:spcBef>
                <a:spcPts val="800"/>
              </a:spcBef>
              <a:spcAft>
                <a:spcPts val="1000"/>
              </a:spcAft>
              <a:defRPr sz="1300">
                <a:latin typeface="Segoe UI"/>
              </a:defRPr>
            </a:pPr>
            <a:r>
              <a:rPr b="1">
                <a:solidFill>
                  <a:srgbClr val="006FE6"/>
                </a:solidFill>
              </a:rPr>
              <a:t>Gerenciamento fino de VRAM — </a:t>
            </a:r>
            <a:r>
              <a:rPr b="0">
                <a:solidFill>
                  <a:srgbClr val="475569"/>
                </a:solidFill>
              </a:rPr>
              <a:t>dial essencial em GPUs dedicadas para balancear o cache de contexto</a:t>
            </a:r>
          </a:p>
          <a:p>
            <a:pPr>
              <a:lnSpc>
                <a:spcPct val="125000"/>
              </a:lnSpc>
              <a:spcBef>
                <a:spcPts val="800"/>
              </a:spcBef>
              <a:spcAft>
                <a:spcPts val="1000"/>
              </a:spcAft>
              <a:defRPr sz="1300">
                <a:latin typeface="Segoe UI"/>
              </a:defRPr>
            </a:pPr>
            <a:r>
              <a:rPr b="1">
                <a:solidFill>
                  <a:srgbClr val="006FE6"/>
                </a:solidFill>
              </a:rPr>
              <a:t>O cenário da unificada — </a:t>
            </a:r>
            <a:r>
              <a:rPr b="0">
                <a:solidFill>
                  <a:srgbClr val="475569"/>
                </a:solidFill>
              </a:rPr>
              <a:t>no Apple Silicon a RAM é compartilhada, operamos ngpu-layers:0 sem gargalos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Nossos números reais (hoje, nesta máquina)</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17 / 38</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Vantagem do hardware local — </a:t>
            </a:r>
            <a:r>
              <a:rPr b="0">
                <a:solidFill>
                  <a:srgbClr val="475569"/>
                </a:solidFill>
              </a:rPr>
              <a:t>aceleração do Metal chega a ser de 9x a 10x mais rápida que CPU pura</a:t>
            </a:r>
          </a:p>
          <a:p>
            <a:pPr>
              <a:lnSpc>
                <a:spcPct val="125000"/>
              </a:lnSpc>
              <a:spcBef>
                <a:spcPts val="800"/>
              </a:spcBef>
              <a:spcAft>
                <a:spcPts val="1000"/>
              </a:spcAft>
              <a:defRPr sz="1300">
                <a:latin typeface="Segoe UI"/>
              </a:defRPr>
            </a:pPr>
            <a:r>
              <a:rPr b="1">
                <a:solidFill>
                  <a:srgbClr val="006FE6"/>
                </a:solidFill>
              </a:rPr>
              <a:t>Estabilidade sob estresse — </a:t>
            </a:r>
            <a:r>
              <a:rPr b="0">
                <a:solidFill>
                  <a:srgbClr val="475569"/>
                </a:solidFill>
              </a:rPr>
              <a:t>contextos massivos de ~9k tokens não provocam estouros ou falhas</a:t>
            </a:r>
          </a:p>
        </p:txBody>
      </p:sp>
      <p:graphicFrame>
        <p:nvGraphicFramePr>
          <p:cNvPr id="10" name="Table 9"/>
          <p:cNvGraphicFramePr>
            <a:graphicFrameLocks noGrp="1"/>
          </p:cNvGraphicFramePr>
          <p:nvPr/>
        </p:nvGraphicFramePr>
        <p:xfrm>
          <a:off x="6248095" y="1463040"/>
          <a:ext cx="5394960" cy="2133600"/>
        </p:xfrm>
        <a:graphic>
          <a:graphicData uri="http://schemas.openxmlformats.org/drawingml/2006/table">
            <a:tbl>
              <a:tblPr firstRow="1" bandRow="1">
                <a:tableStyleId>{5C22544A-7EE6-4342-B048-85BDC9FD1C3A}</a:tableStyleId>
              </a:tblPr>
              <a:tblGrid>
                <a:gridCol w="1348740">
                  <a:extLst>
                    <a:ext uri="{9D8B030D-6E8A-4147-A177-3AD203B41FA5}">
                      <a16:colId xmlns:a16="http://schemas.microsoft.com/office/drawing/2014/main" val="20000"/>
                    </a:ext>
                  </a:extLst>
                </a:gridCol>
                <a:gridCol w="1348740">
                  <a:extLst>
                    <a:ext uri="{9D8B030D-6E8A-4147-A177-3AD203B41FA5}">
                      <a16:colId xmlns:a16="http://schemas.microsoft.com/office/drawing/2014/main" val="20001"/>
                    </a:ext>
                  </a:extLst>
                </a:gridCol>
                <a:gridCol w="1348740">
                  <a:extLst>
                    <a:ext uri="{9D8B030D-6E8A-4147-A177-3AD203B41FA5}">
                      <a16:colId xmlns:a16="http://schemas.microsoft.com/office/drawing/2014/main" val="20002"/>
                    </a:ext>
                  </a:extLst>
                </a:gridCol>
                <a:gridCol w="1348740">
                  <a:extLst>
                    <a:ext uri="{9D8B030D-6E8A-4147-A177-3AD203B41FA5}">
                      <a16:colId xmlns:a16="http://schemas.microsoft.com/office/drawing/2014/main" val="20003"/>
                    </a:ext>
                  </a:extLst>
                </a:gridCol>
              </a:tblGrid>
              <a:tr h="365760">
                <a:tc>
                  <a:txBody>
                    <a:bodyPr/>
                    <a:lstStyle/>
                    <a:p>
                      <a:pPr algn="l"/>
                      <a:r>
                        <a:rPr sz="1100" b="1">
                          <a:solidFill>
                            <a:srgbClr val="00D2FF"/>
                          </a:solidFill>
                          <a:latin typeface="Segoe UI"/>
                        </a:rPr>
                        <a:t>Configuração</a:t>
                      </a:r>
                    </a:p>
                  </a:txBody>
                  <a:tcPr>
                    <a:solidFill>
                      <a:srgbClr val="0A2540"/>
                    </a:solidFill>
                  </a:tcPr>
                </a:tc>
                <a:tc>
                  <a:txBody>
                    <a:bodyPr/>
                    <a:lstStyle/>
                    <a:p>
                      <a:pPr algn="ctr"/>
                      <a:r>
                        <a:rPr sz="1100" b="1">
                          <a:solidFill>
                            <a:srgbClr val="00D2FF"/>
                          </a:solidFill>
                          <a:latin typeface="Segoe UI"/>
                        </a:rPr>
                        <a:t>Prompt tokens</a:t>
                      </a:r>
                    </a:p>
                  </a:txBody>
                  <a:tcPr>
                    <a:solidFill>
                      <a:srgbClr val="0A2540"/>
                    </a:solidFill>
                  </a:tcPr>
                </a:tc>
                <a:tc>
                  <a:txBody>
                    <a:bodyPr/>
                    <a:lstStyle/>
                    <a:p>
                      <a:pPr algn="ctr"/>
                      <a:r>
                        <a:rPr sz="1100" b="1">
                          <a:solidFill>
                            <a:srgbClr val="00D2FF"/>
                          </a:solidFill>
                          <a:latin typeface="Segoe UI"/>
                        </a:rPr>
                        <a:t>TTFT (Time-to-first-token)</a:t>
                      </a:r>
                    </a:p>
                  </a:txBody>
                  <a:tcPr>
                    <a:solidFill>
                      <a:srgbClr val="0A2540"/>
                    </a:solidFill>
                  </a:tcPr>
                </a:tc>
                <a:tc>
                  <a:txBody>
                    <a:bodyPr/>
                    <a:lstStyle/>
                    <a:p>
                      <a:pPr algn="ctr"/>
                      <a:r>
                        <a:rPr sz="1100" b="1">
                          <a:solidFill>
                            <a:srgbClr val="00D2FF"/>
                          </a:solidFill>
                          <a:latin typeface="Segoe UI"/>
                        </a:rPr>
                        <a:t>Tokens/s</a:t>
                      </a:r>
                    </a:p>
                  </a:txBody>
                  <a:tcPr>
                    <a:solidFill>
                      <a:srgbClr val="0A2540"/>
                    </a:solidFill>
                  </a:tcPr>
                </a:tc>
                <a:extLst>
                  <a:ext uri="{0D108BD9-81ED-4DB2-BD59-A6C34878D82A}">
                    <a16:rowId xmlns:a16="http://schemas.microsoft.com/office/drawing/2014/main" val="10000"/>
                  </a:ext>
                </a:extLst>
              </a:tr>
              <a:tr h="365760">
                <a:tc>
                  <a:txBody>
                    <a:bodyPr/>
                    <a:lstStyle/>
                    <a:p>
                      <a:pPr algn="l"/>
                      <a:r>
                        <a:rPr sz="1000" b="0">
                          <a:solidFill>
                            <a:srgbClr val="0F172A"/>
                          </a:solidFill>
                          <a:latin typeface="Segoe UI"/>
                        </a:rPr>
                        <a:t>CPU only</a:t>
                      </a:r>
                    </a:p>
                  </a:txBody>
                  <a:tcPr>
                    <a:solidFill>
                      <a:srgbClr val="F8FAFC"/>
                    </a:solidFill>
                  </a:tcPr>
                </a:tc>
                <a:tc>
                  <a:txBody>
                    <a:bodyPr/>
                    <a:lstStyle/>
                    <a:p>
                      <a:pPr algn="ctr"/>
                      <a:r>
                        <a:rPr sz="1000" b="0">
                          <a:solidFill>
                            <a:srgbClr val="0F172A"/>
                          </a:solidFill>
                          <a:latin typeface="Segoe UI"/>
                        </a:rPr>
                        <a:t>pequeno (~100)</a:t>
                      </a:r>
                    </a:p>
                  </a:txBody>
                  <a:tcPr>
                    <a:solidFill>
                      <a:srgbClr val="F8FAFC"/>
                    </a:solidFill>
                  </a:tcPr>
                </a:tc>
                <a:tc>
                  <a:txBody>
                    <a:bodyPr/>
                    <a:lstStyle/>
                    <a:p>
                      <a:pPr algn="ctr"/>
                      <a:r>
                        <a:rPr sz="1000" b="0">
                          <a:solidFill>
                            <a:srgbClr val="0F172A"/>
                          </a:solidFill>
                          <a:latin typeface="Segoe UI"/>
                        </a:rPr>
                        <a:t>—</a:t>
                      </a:r>
                    </a:p>
                  </a:txBody>
                  <a:tcPr>
                    <a:solidFill>
                      <a:srgbClr val="F8FAFC"/>
                    </a:solidFill>
                  </a:tcPr>
                </a:tc>
                <a:tc>
                  <a:txBody>
                    <a:bodyPr/>
                    <a:lstStyle/>
                    <a:p>
                      <a:pPr algn="ctr"/>
                      <a:r>
                        <a:rPr sz="1000" b="0">
                          <a:solidFill>
                            <a:srgbClr val="0F172A"/>
                          </a:solidFill>
                          <a:latin typeface="Segoe UI"/>
                        </a:rPr>
                        <a:t>~6-8 tok/s</a:t>
                      </a:r>
                    </a:p>
                  </a:txBody>
                  <a:tcPr>
                    <a:solidFill>
                      <a:srgbClr val="F8FAFC"/>
                    </a:solidFill>
                  </a:tcPr>
                </a:tc>
                <a:extLst>
                  <a:ext uri="{0D108BD9-81ED-4DB2-BD59-A6C34878D82A}">
                    <a16:rowId xmlns:a16="http://schemas.microsoft.com/office/drawing/2014/main" val="10001"/>
                  </a:ext>
                </a:extLst>
              </a:tr>
              <a:tr h="365760">
                <a:tc>
                  <a:txBody>
                    <a:bodyPr/>
                    <a:lstStyle/>
                    <a:p>
                      <a:pPr algn="l"/>
                      <a:r>
                        <a:rPr sz="1000" b="0">
                          <a:solidFill>
                            <a:srgbClr val="0F172A"/>
                          </a:solidFill>
                          <a:latin typeface="Segoe UI"/>
                        </a:rPr>
                        <a:t>Metal full offload — curto</a:t>
                      </a:r>
                    </a:p>
                  </a:txBody>
                  <a:tcPr>
                    <a:solidFill>
                      <a:srgbClr val="FFFFFF"/>
                    </a:solidFill>
                  </a:tcPr>
                </a:tc>
                <a:tc>
                  <a:txBody>
                    <a:bodyPr/>
                    <a:lstStyle/>
                    <a:p>
                      <a:pPr algn="ctr"/>
                      <a:r>
                        <a:rPr sz="1000" b="0">
                          <a:solidFill>
                            <a:srgbClr val="0F172A"/>
                          </a:solidFill>
                          <a:latin typeface="Segoe UI"/>
                        </a:rPr>
                        <a:t>81</a:t>
                      </a:r>
                    </a:p>
                  </a:txBody>
                  <a:tcPr>
                    <a:solidFill>
                      <a:srgbClr val="FFFFFF"/>
                    </a:solidFill>
                  </a:tcPr>
                </a:tc>
                <a:tc>
                  <a:txBody>
                    <a:bodyPr/>
                    <a:lstStyle/>
                    <a:p>
                      <a:pPr algn="ctr"/>
                      <a:r>
                        <a:rPr sz="1000" b="0">
                          <a:solidFill>
                            <a:srgbClr val="0F172A"/>
                          </a:solidFill>
                          <a:latin typeface="Segoe UI"/>
                        </a:rPr>
                        <a:t>~0.2 - 0.4s</a:t>
                      </a:r>
                    </a:p>
                  </a:txBody>
                  <a:tcPr>
                    <a:solidFill>
                      <a:srgbClr val="FFFFFF"/>
                    </a:solidFill>
                  </a:tcPr>
                </a:tc>
                <a:tc>
                  <a:txBody>
                    <a:bodyPr/>
                    <a:lstStyle/>
                    <a:p>
                      <a:pPr algn="ctr"/>
                      <a:r>
                        <a:rPr sz="1000" b="0">
                          <a:solidFill>
                            <a:srgbClr val="0F172A"/>
                          </a:solidFill>
                          <a:latin typeface="Segoe UI"/>
                        </a:rPr>
                        <a:t>~70 tok/s</a:t>
                      </a:r>
                    </a:p>
                  </a:txBody>
                  <a:tcPr>
                    <a:solidFill>
                      <a:srgbClr val="FFFFFF"/>
                    </a:solidFill>
                  </a:tcPr>
                </a:tc>
                <a:extLst>
                  <a:ext uri="{0D108BD9-81ED-4DB2-BD59-A6C34878D82A}">
                    <a16:rowId xmlns:a16="http://schemas.microsoft.com/office/drawing/2014/main" val="10002"/>
                  </a:ext>
                </a:extLst>
              </a:tr>
              <a:tr h="365760">
                <a:tc>
                  <a:txBody>
                    <a:bodyPr/>
                    <a:lstStyle/>
                    <a:p>
                      <a:pPr algn="l"/>
                      <a:r>
                        <a:rPr sz="1000" b="0">
                          <a:solidFill>
                            <a:srgbClr val="0F172A"/>
                          </a:solidFill>
                          <a:latin typeface="Segoe UI"/>
                        </a:rPr>
                        <a:t>Metal full offload — médio (Cline real)</a:t>
                      </a:r>
                    </a:p>
                  </a:txBody>
                  <a:tcPr>
                    <a:solidFill>
                      <a:srgbClr val="F8FAFC"/>
                    </a:solidFill>
                  </a:tcPr>
                </a:tc>
                <a:tc>
                  <a:txBody>
                    <a:bodyPr/>
                    <a:lstStyle/>
                    <a:p>
                      <a:pPr algn="ctr"/>
                      <a:r>
                        <a:rPr sz="1000" b="0">
                          <a:solidFill>
                            <a:srgbClr val="0F172A"/>
                          </a:solidFill>
                          <a:latin typeface="Segoe UI"/>
                        </a:rPr>
                        <a:t>2.034</a:t>
                      </a:r>
                    </a:p>
                  </a:txBody>
                  <a:tcPr>
                    <a:solidFill>
                      <a:srgbClr val="F8FAFC"/>
                    </a:solidFill>
                  </a:tcPr>
                </a:tc>
                <a:tc>
                  <a:txBody>
                    <a:bodyPr/>
                    <a:lstStyle/>
                    <a:p>
                      <a:pPr algn="ctr"/>
                      <a:r>
                        <a:rPr sz="1000" b="0">
                          <a:solidFill>
                            <a:srgbClr val="0F172A"/>
                          </a:solidFill>
                          <a:latin typeface="Segoe UI"/>
                        </a:rPr>
                        <a:t>~2.2s</a:t>
                      </a:r>
                    </a:p>
                  </a:txBody>
                  <a:tcPr>
                    <a:solidFill>
                      <a:srgbClr val="F8FAFC"/>
                    </a:solidFill>
                  </a:tcPr>
                </a:tc>
                <a:tc>
                  <a:txBody>
                    <a:bodyPr/>
                    <a:lstStyle/>
                    <a:p>
                      <a:pPr algn="ctr"/>
                      <a:r>
                        <a:rPr sz="1000" b="0">
                          <a:solidFill>
                            <a:srgbClr val="0F172A"/>
                          </a:solidFill>
                          <a:latin typeface="Segoe UI"/>
                        </a:rPr>
                        <a:t>~65-68 tok/s</a:t>
                      </a:r>
                    </a:p>
                  </a:txBody>
                  <a:tcPr>
                    <a:solidFill>
                      <a:srgbClr val="F8FAFC"/>
                    </a:solidFill>
                  </a:tcPr>
                </a:tc>
                <a:extLst>
                  <a:ext uri="{0D108BD9-81ED-4DB2-BD59-A6C34878D82A}">
                    <a16:rowId xmlns:a16="http://schemas.microsoft.com/office/drawing/2014/main" val="10003"/>
                  </a:ext>
                </a:extLst>
              </a:tr>
              <a:tr h="365760">
                <a:tc>
                  <a:txBody>
                    <a:bodyPr/>
                    <a:lstStyle/>
                    <a:p>
                      <a:pPr algn="l"/>
                      <a:r>
                        <a:rPr sz="1000" b="0">
                          <a:solidFill>
                            <a:srgbClr val="0F172A"/>
                          </a:solidFill>
                          <a:latin typeface="Segoe UI"/>
                        </a:rPr>
                        <a:t>Metal full offload — stress (MCPs grandes)</a:t>
                      </a:r>
                    </a:p>
                  </a:txBody>
                  <a:tcPr>
                    <a:solidFill>
                      <a:srgbClr val="FFFFFF"/>
                    </a:solidFill>
                  </a:tcPr>
                </a:tc>
                <a:tc>
                  <a:txBody>
                    <a:bodyPr/>
                    <a:lstStyle/>
                    <a:p>
                      <a:pPr algn="ctr"/>
                      <a:r>
                        <a:rPr sz="1000" b="0">
                          <a:solidFill>
                            <a:srgbClr val="0F172A"/>
                          </a:solidFill>
                          <a:latin typeface="Segoe UI"/>
                        </a:rPr>
                        <a:t>9.084</a:t>
                      </a:r>
                    </a:p>
                  </a:txBody>
                  <a:tcPr>
                    <a:solidFill>
                      <a:srgbClr val="FFFFFF"/>
                    </a:solidFill>
                  </a:tcPr>
                </a:tc>
                <a:tc>
                  <a:txBody>
                    <a:bodyPr/>
                    <a:lstStyle/>
                    <a:p>
                      <a:pPr algn="ctr"/>
                      <a:r>
                        <a:rPr sz="1000" b="0">
                          <a:solidFill>
                            <a:srgbClr val="0F172A"/>
                          </a:solidFill>
                          <a:latin typeface="Segoe UI"/>
                        </a:rPr>
                        <a:t>~11.2 - 12.4s</a:t>
                      </a:r>
                    </a:p>
                  </a:txBody>
                  <a:tcPr>
                    <a:solidFill>
                      <a:srgbClr val="FFFFFF"/>
                    </a:solidFill>
                  </a:tcPr>
                </a:tc>
                <a:tc>
                  <a:txBody>
                    <a:bodyPr/>
                    <a:lstStyle/>
                    <a:p>
                      <a:pPr algn="ctr"/>
                      <a:r>
                        <a:rPr sz="1000" b="0">
                          <a:solidFill>
                            <a:srgbClr val="0F172A"/>
                          </a:solidFill>
                          <a:latin typeface="Segoe UI"/>
                        </a:rPr>
                        <a:t>~63 tok/s</a:t>
                      </a:r>
                    </a:p>
                  </a:txBody>
                  <a:tcP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Estudo de Caso: Análise de Gargalos de Prefill</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18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Identificação da latência — </a:t>
            </a:r>
            <a:r>
              <a:rPr b="0">
                <a:solidFill>
                  <a:srgbClr val="475569"/>
                </a:solidFill>
              </a:rPr>
              <a:t>observamos TTFT de ~12s no prompt longo de estresse e assumimos gargalo de IO</a:t>
            </a:r>
          </a:p>
          <a:p>
            <a:pPr>
              <a:lnSpc>
                <a:spcPct val="125000"/>
              </a:lnSpc>
              <a:spcBef>
                <a:spcPts val="800"/>
              </a:spcBef>
              <a:spcAft>
                <a:spcPts val="1000"/>
              </a:spcAft>
              <a:defRPr sz="1300">
                <a:latin typeface="Segoe UI"/>
              </a:defRPr>
            </a:pPr>
            <a:r>
              <a:rPr b="1">
                <a:solidFill>
                  <a:srgbClr val="006FE6"/>
                </a:solidFill>
              </a:rPr>
              <a:t>Hipótese inicial — </a:t>
            </a:r>
            <a:r>
              <a:rPr b="0">
                <a:solidFill>
                  <a:srgbClr val="475569"/>
                </a:solidFill>
              </a:rPr>
              <a:t>presumimos que o tamanho de batch padrão (nbatch/nubatch) estava estrangulando o Metal</a:t>
            </a:r>
          </a:p>
          <a:p>
            <a:pPr>
              <a:lnSpc>
                <a:spcPct val="125000"/>
              </a:lnSpc>
              <a:spcBef>
                <a:spcPts val="800"/>
              </a:spcBef>
              <a:spcAft>
                <a:spcPts val="1000"/>
              </a:spcAft>
              <a:defRPr sz="1300">
                <a:latin typeface="Segoe UI"/>
              </a:defRPr>
            </a:pPr>
            <a:r>
              <a:rPr b="1">
                <a:solidFill>
                  <a:srgbClr val="006FE6"/>
                </a:solidFill>
              </a:rPr>
              <a:t>Tentativa de otimização — </a:t>
            </a:r>
            <a:r>
              <a:rPr b="0">
                <a:solidFill>
                  <a:srgbClr val="475569"/>
                </a:solidFill>
              </a:rPr>
              <a:t>aumentamos e quadruplicamos os buffers na configuração do YAML do Kronk</a:t>
            </a:r>
          </a:p>
          <a:p>
            <a:pPr>
              <a:lnSpc>
                <a:spcPct val="125000"/>
              </a:lnSpc>
              <a:spcBef>
                <a:spcPts val="800"/>
              </a:spcBef>
              <a:spcAft>
                <a:spcPts val="1000"/>
              </a:spcAft>
              <a:defRPr sz="1300">
                <a:latin typeface="Segoe UI"/>
              </a:defRPr>
            </a:pPr>
            <a:r>
              <a:rPr b="1">
                <a:solidFill>
                  <a:srgbClr val="006FE6"/>
                </a:solidFill>
              </a:rPr>
              <a:t>Resultado surpreendente — </a:t>
            </a:r>
            <a:r>
              <a:rPr b="0">
                <a:solidFill>
                  <a:srgbClr val="475569"/>
                </a:solidFill>
              </a:rPr>
              <a:t>ganho irrisório de 6% (latência caindo minimamente de 12.36s para 11.58s)</a:t>
            </a:r>
          </a:p>
          <a:p>
            <a:pPr>
              <a:lnSpc>
                <a:spcPct val="125000"/>
              </a:lnSpc>
              <a:spcBef>
                <a:spcPts val="800"/>
              </a:spcBef>
              <a:spcAft>
                <a:spcPts val="1000"/>
              </a:spcAft>
              <a:defRPr sz="1300">
                <a:latin typeface="Segoe UI"/>
              </a:defRPr>
            </a:pPr>
            <a:r>
              <a:rPr b="1">
                <a:solidFill>
                  <a:srgbClr val="006FE6"/>
                </a:solidFill>
              </a:rPr>
              <a:t>Lição de engenharia — </a:t>
            </a:r>
            <a:r>
              <a:rPr b="0">
                <a:solidFill>
                  <a:srgbClr val="475569"/>
                </a:solidFill>
              </a:rPr>
              <a:t>o gargalo era computacional (roteamento de especialistas MoE), não transferência de dados. Meça!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"Thinking mode" e o custo do raciocínio</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19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Modo de raciocínio lógico — </a:t>
            </a:r>
            <a:r>
              <a:rPr b="0">
                <a:solidFill>
                  <a:srgbClr val="475569"/>
                </a:solidFill>
              </a:rPr>
              <a:t>gpt-oss-20b emite blocos extensos de cadeia de pensamento antes da resposta</a:t>
            </a:r>
          </a:p>
          <a:p>
            <a:pPr>
              <a:lnSpc>
                <a:spcPct val="125000"/>
              </a:lnSpc>
              <a:spcBef>
                <a:spcPts val="800"/>
              </a:spcBef>
              <a:spcAft>
                <a:spcPts val="1000"/>
              </a:spcAft>
              <a:defRPr sz="1300">
                <a:latin typeface="Segoe UI"/>
              </a:defRPr>
            </a:pPr>
            <a:r>
              <a:rPr b="1">
                <a:solidFill>
                  <a:srgbClr val="006FE6"/>
                </a:solidFill>
              </a:rPr>
              <a:t>Exemplo do oi — </a:t>
            </a:r>
            <a:r>
              <a:rPr b="0">
                <a:solidFill>
                  <a:srgbClr val="475569"/>
                </a:solidFill>
              </a:rPr>
              <a:t>uma simples saudação de teste consumiu 40 tokens de pensamento oculto antes de responder</a:t>
            </a:r>
          </a:p>
          <a:p>
            <a:pPr>
              <a:lnSpc>
                <a:spcPct val="125000"/>
              </a:lnSpc>
              <a:spcBef>
                <a:spcPts val="800"/>
              </a:spcBef>
              <a:spcAft>
                <a:spcPts val="1000"/>
              </a:spcAft>
              <a:defRPr sz="1300">
                <a:latin typeface="Segoe UI"/>
              </a:defRPr>
            </a:pPr>
            <a:r>
              <a:rPr b="1">
                <a:solidFill>
                  <a:srgbClr val="006FE6"/>
                </a:solidFill>
              </a:rPr>
              <a:t>Parâmetro de requisição — </a:t>
            </a:r>
            <a:r>
              <a:rPr b="0">
                <a:solidFill>
                  <a:srgbClr val="475569"/>
                </a:solidFill>
              </a:rPr>
              <a:t>controlado em tempo de execução via reasoning_effort (low / medium / high)</a:t>
            </a:r>
          </a:p>
          <a:p>
            <a:pPr>
              <a:lnSpc>
                <a:spcPct val="125000"/>
              </a:lnSpc>
              <a:spcBef>
                <a:spcPts val="800"/>
              </a:spcBef>
              <a:spcAft>
                <a:spcPts val="1000"/>
              </a:spcAft>
              <a:defRPr sz="1300">
                <a:latin typeface="Segoe UI"/>
              </a:defRPr>
            </a:pPr>
            <a:r>
              <a:rPr b="1">
                <a:solidFill>
                  <a:srgbClr val="006FE6"/>
                </a:solidFill>
              </a:rPr>
              <a:t>Tradeoff clássico de IA — </a:t>
            </a:r>
            <a:r>
              <a:rPr b="0">
                <a:solidFill>
                  <a:srgbClr val="475569"/>
                </a:solidFill>
              </a:rPr>
              <a:t>esforço alto garante correção precisa de algoritmos, mas penaliza a latência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Trocar de modelo é runtime, não startup</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20 / 38</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O funcionamento do pool — </a:t>
            </a:r>
            <a:r>
              <a:rPr b="0">
                <a:solidFill>
                  <a:srgbClr val="475569"/>
                </a:solidFill>
              </a:rPr>
              <a:t>o boot do servidor apenas prepara o orquestrador, mantendo o pool vazio</a:t>
            </a:r>
          </a:p>
          <a:p>
            <a:pPr>
              <a:lnSpc>
                <a:spcPct val="125000"/>
              </a:lnSpc>
              <a:spcBef>
                <a:spcPts val="800"/>
              </a:spcBef>
              <a:spcAft>
                <a:spcPts val="1000"/>
              </a:spcAft>
              <a:defRPr sz="1300">
                <a:latin typeface="Segoe UI"/>
              </a:defRPr>
            </a:pPr>
            <a:r>
              <a:rPr b="1">
                <a:solidFill>
                  <a:srgbClr val="006FE6"/>
                </a:solidFill>
              </a:rPr>
              <a:t>Escolha dinâmica por chamada — </a:t>
            </a:r>
            <a:r>
              <a:rPr b="0">
                <a:solidFill>
                  <a:srgbClr val="475569"/>
                </a:solidFill>
              </a:rPr>
              <a:t>o modelo é lido sob demanda com base no campo 'model' no JSON</a:t>
            </a:r>
          </a:p>
          <a:p>
            <a:pPr>
              <a:lnSpc>
                <a:spcPct val="125000"/>
              </a:lnSpc>
              <a:spcBef>
                <a:spcPts val="800"/>
              </a:spcBef>
              <a:spcAft>
                <a:spcPts val="1000"/>
              </a:spcAft>
              <a:defRPr sz="1300">
                <a:latin typeface="Segoe UI"/>
              </a:defRPr>
            </a:pPr>
            <a:r>
              <a:rPr b="1">
                <a:solidFill>
                  <a:srgbClr val="006FE6"/>
                </a:solidFill>
              </a:rPr>
              <a:t>Carregamento lazy-load — </a:t>
            </a:r>
            <a:r>
              <a:rPr b="0">
                <a:solidFill>
                  <a:srgbClr val="475569"/>
                </a:solidFill>
              </a:rPr>
              <a:t>se o modelo não estiver quente, o Kronk o monta e descarrega quando ocioso</a:t>
            </a:r>
          </a:p>
          <a:p>
            <a:pPr>
              <a:lnSpc>
                <a:spcPct val="125000"/>
              </a:lnSpc>
              <a:spcBef>
                <a:spcPts val="800"/>
              </a:spcBef>
              <a:spcAft>
                <a:spcPts val="1000"/>
              </a:spcAft>
              <a:defRPr sz="1300">
                <a:latin typeface="Segoe UI"/>
              </a:defRPr>
            </a:pPr>
            <a:r>
              <a:rPr b="1">
                <a:solidFill>
                  <a:srgbClr val="006FE6"/>
                </a:solidFill>
              </a:rPr>
              <a:t>Sem restarts de infra — </a:t>
            </a:r>
            <a:r>
              <a:rPr b="0">
                <a:solidFill>
                  <a:srgbClr val="475569"/>
                </a:solidFill>
              </a:rPr>
              <a:t>altere de Qwen para Gemma em tempo real de execução mudando apenas as chamadas</a:t>
            </a:r>
          </a:p>
        </p:txBody>
      </p:sp>
      <p:sp>
        <p:nvSpPr>
          <p:cNvPr id="10" name="Rectangle 9"/>
          <p:cNvSpPr/>
          <p:nvPr/>
        </p:nvSpPr>
        <p:spPr>
          <a:xfrm>
            <a:off x="6248095" y="1280160"/>
            <a:ext cx="5394960" cy="4846320"/>
          </a:xfrm>
          <a:prstGeom prst="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8095" y="1280160"/>
            <a:ext cx="5394960" cy="32004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85255" y="1399032"/>
            <a:ext cx="82296" cy="82296"/>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513271" y="1399032"/>
            <a:ext cx="82296" cy="82296"/>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641287" y="1399032"/>
            <a:ext cx="82296" cy="82296"/>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62495" y="1316736"/>
            <a:ext cx="3566160" cy="228600"/>
          </a:xfrm>
          <a:prstGeom prst="rect">
            <a:avLst/>
          </a:prstGeom>
          <a:noFill/>
        </p:spPr>
        <p:txBody>
          <a:bodyPr wrap="none" lIns="0" tIns="0" rIns="0" bIns="0">
            <a:spAutoFit/>
          </a:bodyPr>
          <a:lstStyle/>
          <a:p>
            <a:pPr algn="ctr">
              <a:defRPr sz="950" b="1">
                <a:solidFill>
                  <a:srgbClr val="475569"/>
                </a:solidFill>
                <a:latin typeface="Consolas"/>
              </a:defRPr>
            </a:pPr>
            <a:r>
              <a:t>terminal</a:t>
            </a:r>
          </a:p>
        </p:txBody>
      </p:sp>
      <p:sp>
        <p:nvSpPr>
          <p:cNvPr id="16" name="TextBox 15"/>
          <p:cNvSpPr txBox="1"/>
          <p:nvPr/>
        </p:nvSpPr>
        <p:spPr>
          <a:xfrm>
            <a:off x="6412687" y="1737360"/>
            <a:ext cx="5065776" cy="4297680"/>
          </a:xfrm>
          <a:prstGeom prst="rect">
            <a:avLst/>
          </a:prstGeom>
          <a:noFill/>
        </p:spPr>
        <p:txBody>
          <a:bodyPr wrap="square" lIns="0" tIns="0" rIns="0" bIns="0">
            <a:spAutoFit/>
          </a:bodyPr>
          <a:lstStyle/>
          <a:p>
            <a:pPr>
              <a:defRPr sz="950">
                <a:solidFill>
                  <a:srgbClr val="0F172A"/>
                </a:solidFill>
                <a:latin typeface="Consolas"/>
              </a:defRPr>
            </a:pPr>
            <a:r>
              <a:t>kronk model list --local</a:t>
            </a:r>
          </a:p>
          <a:p>
            <a:pPr>
              <a:spcAft>
                <a:spcPts val="200"/>
              </a:spcAft>
              <a:defRPr sz="950">
                <a:solidFill>
                  <a:srgbClr val="0F172A"/>
                </a:solidFill>
                <a:latin typeface="Consolas"/>
              </a:defRPr>
            </a:pPr>
            <a:r>
              <a:t>kronk model pull &lt;nome&gt;</a:t>
            </a:r>
          </a:p>
          <a:p>
            <a:pPr>
              <a:spcAft>
                <a:spcPts val="200"/>
              </a:spcAft>
              <a:defRPr sz="950">
                <a:solidFill>
                  <a:srgbClr val="0F172A"/>
                </a:solidFill>
                <a:latin typeface="Consolas"/>
              </a:defRPr>
            </a:pPr>
            <a:endParaRPr/>
          </a:p>
          <a:p>
            <a:pPr>
              <a:spcAft>
                <a:spcPts val="200"/>
              </a:spcAft>
              <a:defRPr sz="950">
                <a:solidFill>
                  <a:srgbClr val="0F172A"/>
                </a:solidFill>
                <a:latin typeface="Consolas"/>
              </a:defRPr>
            </a:pPr>
            <a:r>
              <a:t># depois, só aponta o cliente pro novo nome:</a:t>
            </a:r>
          </a:p>
          <a:p>
            <a:pPr>
              <a:spcAft>
                <a:spcPts val="200"/>
              </a:spcAft>
              <a:defRPr sz="950">
                <a:solidFill>
                  <a:srgbClr val="0F172A"/>
                </a:solidFill>
                <a:latin typeface="Consolas"/>
              </a:defRPr>
            </a:pPr>
            <a:r>
              <a:t># Cline -&gt; Settings -&gt; Model ID</a:t>
            </a:r>
          </a:p>
          <a:p>
            <a:pPr>
              <a:spcAft>
                <a:spcPts val="200"/>
              </a:spcAft>
              <a:defRPr sz="950">
                <a:solidFill>
                  <a:srgbClr val="0F172A"/>
                </a:solidFill>
                <a:latin typeface="Consolas"/>
              </a:defRPr>
            </a:pPr>
            <a:r>
              <a:t># curl  -&gt; campo "model" no JSON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Maior ou menor? O dial de tamanho no model_config.yaml</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21 / 38</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Flexibilidade por hardware — </a:t>
            </a:r>
            <a:r>
              <a:rPr b="0">
                <a:solidFill>
                  <a:srgbClr val="475569"/>
                </a:solidFill>
              </a:rPr>
              <a:t>dial de modelos prontos pré-configurados no arquivo local do usuário</a:t>
            </a:r>
          </a:p>
          <a:p>
            <a:pPr>
              <a:lnSpc>
                <a:spcPct val="125000"/>
              </a:lnSpc>
              <a:spcBef>
                <a:spcPts val="800"/>
              </a:spcBef>
              <a:spcAft>
                <a:spcPts val="1000"/>
              </a:spcAft>
              <a:defRPr sz="1300">
                <a:latin typeface="Segoe UI"/>
              </a:defRPr>
            </a:pPr>
            <a:r>
              <a:rPr b="1">
                <a:solidFill>
                  <a:srgbClr val="006FE6"/>
                </a:solidFill>
              </a:rPr>
              <a:t>Ajuste fino de escopo — </a:t>
            </a:r>
            <a:r>
              <a:rPr b="0">
                <a:solidFill>
                  <a:srgbClr val="475569"/>
                </a:solidFill>
              </a:rPr>
              <a:t>modelos de 4B operam rápido em notebooks modestos, MoEs maiores escalam robustez</a:t>
            </a:r>
          </a:p>
        </p:txBody>
      </p:sp>
      <p:graphicFrame>
        <p:nvGraphicFramePr>
          <p:cNvPr id="10" name="Table 9"/>
          <p:cNvGraphicFramePr>
            <a:graphicFrameLocks noGrp="1"/>
          </p:cNvGraphicFramePr>
          <p:nvPr/>
        </p:nvGraphicFramePr>
        <p:xfrm>
          <a:off x="6248095" y="1463040"/>
          <a:ext cx="5394960" cy="2011680"/>
        </p:xfrm>
        <a:graphic>
          <a:graphicData uri="http://schemas.openxmlformats.org/drawingml/2006/table">
            <a:tbl>
              <a:tblPr firstRow="1" bandRow="1">
                <a:tableStyleId>{5C22544A-7EE6-4342-B048-85BDC9FD1C3A}</a:tableStyleId>
              </a:tblPr>
              <a:tblGrid>
                <a:gridCol w="1348740">
                  <a:extLst>
                    <a:ext uri="{9D8B030D-6E8A-4147-A177-3AD203B41FA5}">
                      <a16:colId xmlns:a16="http://schemas.microsoft.com/office/drawing/2014/main" val="20000"/>
                    </a:ext>
                  </a:extLst>
                </a:gridCol>
                <a:gridCol w="1348740">
                  <a:extLst>
                    <a:ext uri="{9D8B030D-6E8A-4147-A177-3AD203B41FA5}">
                      <a16:colId xmlns:a16="http://schemas.microsoft.com/office/drawing/2014/main" val="20001"/>
                    </a:ext>
                  </a:extLst>
                </a:gridCol>
                <a:gridCol w="1348740">
                  <a:extLst>
                    <a:ext uri="{9D8B030D-6E8A-4147-A177-3AD203B41FA5}">
                      <a16:colId xmlns:a16="http://schemas.microsoft.com/office/drawing/2014/main" val="20002"/>
                    </a:ext>
                  </a:extLst>
                </a:gridCol>
                <a:gridCol w="1348740">
                  <a:extLst>
                    <a:ext uri="{9D8B030D-6E8A-4147-A177-3AD203B41FA5}">
                      <a16:colId xmlns:a16="http://schemas.microsoft.com/office/drawing/2014/main" val="20003"/>
                    </a:ext>
                  </a:extLst>
                </a:gridCol>
              </a:tblGrid>
              <a:tr h="365760">
                <a:tc>
                  <a:txBody>
                    <a:bodyPr/>
                    <a:lstStyle/>
                    <a:p>
                      <a:pPr algn="l"/>
                      <a:r>
                        <a:rPr sz="1100" b="1">
                          <a:solidFill>
                            <a:srgbClr val="00D2FF"/>
                          </a:solidFill>
                          <a:latin typeface="Segoe UI"/>
                        </a:rPr>
                        <a:t>Modelo</a:t>
                      </a:r>
                    </a:p>
                  </a:txBody>
                  <a:tcPr>
                    <a:solidFill>
                      <a:srgbClr val="0A2540"/>
                    </a:solidFill>
                  </a:tcPr>
                </a:tc>
                <a:tc>
                  <a:txBody>
                    <a:bodyPr/>
                    <a:lstStyle/>
                    <a:p>
                      <a:pPr algn="ctr"/>
                      <a:r>
                        <a:rPr sz="1100" b="1">
                          <a:solidFill>
                            <a:srgbClr val="00D2FF"/>
                          </a:solidFill>
                          <a:latin typeface="Segoe UI"/>
                        </a:rPr>
                        <a:t>Tamanho / Tipo</a:t>
                      </a:r>
                    </a:p>
                  </a:txBody>
                  <a:tcPr>
                    <a:solidFill>
                      <a:srgbClr val="0A2540"/>
                    </a:solidFill>
                  </a:tcPr>
                </a:tc>
                <a:tc>
                  <a:txBody>
                    <a:bodyPr/>
                    <a:lstStyle/>
                    <a:p>
                      <a:pPr algn="ctr"/>
                      <a:r>
                        <a:rPr sz="1100" b="1">
                          <a:solidFill>
                            <a:srgbClr val="00D2FF"/>
                          </a:solidFill>
                          <a:latin typeface="Segoe UI"/>
                        </a:rPr>
                        <a:t>Contexto Suportado</a:t>
                      </a:r>
                    </a:p>
                  </a:txBody>
                  <a:tcPr>
                    <a:solidFill>
                      <a:srgbClr val="0A2540"/>
                    </a:solidFill>
                  </a:tcPr>
                </a:tc>
                <a:tc>
                  <a:txBody>
                    <a:bodyPr/>
                    <a:lstStyle/>
                    <a:p>
                      <a:pPr algn="ctr"/>
                      <a:r>
                        <a:rPr sz="1100" b="1">
                          <a:solidFill>
                            <a:srgbClr val="00D2FF"/>
                          </a:solidFill>
                          <a:latin typeface="Segoe UI"/>
                        </a:rPr>
                        <a:t>Status Atual</a:t>
                      </a:r>
                    </a:p>
                  </a:txBody>
                  <a:tcPr>
                    <a:solidFill>
                      <a:srgbClr val="0A2540"/>
                    </a:solidFill>
                  </a:tcPr>
                </a:tc>
                <a:extLst>
                  <a:ext uri="{0D108BD9-81ED-4DB2-BD59-A6C34878D82A}">
                    <a16:rowId xmlns:a16="http://schemas.microsoft.com/office/drawing/2014/main" val="10000"/>
                  </a:ext>
                </a:extLst>
              </a:tr>
              <a:tr h="365760">
                <a:tc>
                  <a:txBody>
                    <a:bodyPr/>
                    <a:lstStyle/>
                    <a:p>
                      <a:pPr algn="l"/>
                      <a:r>
                        <a:rPr sz="1000" b="0">
                          <a:solidFill>
                            <a:srgbClr val="0F172A"/>
                          </a:solidFill>
                          <a:latin typeface="Segoe UI"/>
                        </a:rPr>
                        <a:t>Qwopus3.5-4B-Coder</a:t>
                      </a:r>
                    </a:p>
                  </a:txBody>
                  <a:tcPr>
                    <a:solidFill>
                      <a:srgbClr val="F8FAFC"/>
                    </a:solidFill>
                  </a:tcPr>
                </a:tc>
                <a:tc>
                  <a:txBody>
                    <a:bodyPr/>
                    <a:lstStyle/>
                    <a:p>
                      <a:pPr algn="ctr"/>
                      <a:r>
                        <a:rPr sz="1000" b="0">
                          <a:solidFill>
                            <a:srgbClr val="0F172A"/>
                          </a:solidFill>
                          <a:latin typeface="Segoe UI"/>
                        </a:rPr>
                        <a:t>4B (Ultra leve)</a:t>
                      </a:r>
                    </a:p>
                  </a:txBody>
                  <a:tcPr>
                    <a:solidFill>
                      <a:srgbClr val="F8FAFC"/>
                    </a:solidFill>
                  </a:tcPr>
                </a:tc>
                <a:tc>
                  <a:txBody>
                    <a:bodyPr/>
                    <a:lstStyle/>
                    <a:p>
                      <a:pPr algn="ctr"/>
                      <a:r>
                        <a:rPr sz="1000" b="0">
                          <a:solidFill>
                            <a:srgbClr val="0F172A"/>
                          </a:solidFill>
                          <a:latin typeface="Segoe UI"/>
                        </a:rPr>
                        <a:t>73.728 tokens</a:t>
                      </a:r>
                    </a:p>
                  </a:txBody>
                  <a:tcPr>
                    <a:solidFill>
                      <a:srgbClr val="F8FAFC"/>
                    </a:solidFill>
                  </a:tcPr>
                </a:tc>
                <a:tc>
                  <a:txBody>
                    <a:bodyPr/>
                    <a:lstStyle/>
                    <a:p>
                      <a:pPr algn="ctr"/>
                      <a:r>
                        <a:rPr sz="1000" b="0">
                          <a:solidFill>
                            <a:srgbClr val="0F172A"/>
                          </a:solidFill>
                          <a:latin typeface="Segoe UI"/>
                        </a:rPr>
                        <a:t>Não Baixado (configurado)</a:t>
                      </a:r>
                    </a:p>
                  </a:txBody>
                  <a:tcPr>
                    <a:solidFill>
                      <a:srgbClr val="F8FAFC"/>
                    </a:solidFill>
                  </a:tcPr>
                </a:tc>
                <a:extLst>
                  <a:ext uri="{0D108BD9-81ED-4DB2-BD59-A6C34878D82A}">
                    <a16:rowId xmlns:a16="http://schemas.microsoft.com/office/drawing/2014/main" val="10001"/>
                  </a:ext>
                </a:extLst>
              </a:tr>
              <a:tr h="365760">
                <a:tc>
                  <a:txBody>
                    <a:bodyPr/>
                    <a:lstStyle/>
                    <a:p>
                      <a:pPr algn="l"/>
                      <a:r>
                        <a:rPr sz="1000" b="0">
                          <a:solidFill>
                            <a:srgbClr val="0F172A"/>
                          </a:solidFill>
                          <a:latin typeface="Segoe UI"/>
                        </a:rPr>
                        <a:t>gpt-oss-20b-Q8_0</a:t>
                      </a:r>
                    </a:p>
                  </a:txBody>
                  <a:tcPr>
                    <a:solidFill>
                      <a:srgbClr val="FFFFFF"/>
                    </a:solidFill>
                  </a:tcPr>
                </a:tc>
                <a:tc>
                  <a:txBody>
                    <a:bodyPr/>
                    <a:lstStyle/>
                    <a:p>
                      <a:pPr algn="ctr"/>
                      <a:r>
                        <a:rPr sz="1000" b="0">
                          <a:solidFill>
                            <a:srgbClr val="0F172A"/>
                          </a:solidFill>
                          <a:latin typeface="Segoe UI"/>
                        </a:rPr>
                        <a:t>20B (MoE, Equilibrado)</a:t>
                      </a:r>
                    </a:p>
                  </a:txBody>
                  <a:tcPr>
                    <a:solidFill>
                      <a:srgbClr val="FFFFFF"/>
                    </a:solidFill>
                  </a:tcPr>
                </a:tc>
                <a:tc>
                  <a:txBody>
                    <a:bodyPr/>
                    <a:lstStyle/>
                    <a:p>
                      <a:pPr algn="ctr"/>
                      <a:r>
                        <a:rPr sz="1000" b="0">
                          <a:solidFill>
                            <a:srgbClr val="0F172A"/>
                          </a:solidFill>
                          <a:latin typeface="Segoe UI"/>
                        </a:rPr>
                        <a:t>32.768 tokens</a:t>
                      </a:r>
                    </a:p>
                  </a:txBody>
                  <a:tcPr>
                    <a:solidFill>
                      <a:srgbClr val="FFFFFF"/>
                    </a:solidFill>
                  </a:tcPr>
                </a:tc>
                <a:tc>
                  <a:txBody>
                    <a:bodyPr/>
                    <a:lstStyle/>
                    <a:p>
                      <a:pPr algn="ctr"/>
                      <a:r>
                        <a:rPr sz="1000" b="0">
                          <a:solidFill>
                            <a:srgbClr val="0F172A"/>
                          </a:solidFill>
                          <a:latin typeface="Segoe UI"/>
                        </a:rPr>
                        <a:t>Baixado e Quente (Uso atual)</a:t>
                      </a:r>
                    </a:p>
                  </a:txBody>
                  <a:tcPr>
                    <a:solidFill>
                      <a:srgbClr val="FFFFFF"/>
                    </a:solidFill>
                  </a:tcPr>
                </a:tc>
                <a:extLst>
                  <a:ext uri="{0D108BD9-81ED-4DB2-BD59-A6C34878D82A}">
                    <a16:rowId xmlns:a16="http://schemas.microsoft.com/office/drawing/2014/main" val="10002"/>
                  </a:ext>
                </a:extLst>
              </a:tr>
              <a:tr h="365760">
                <a:tc>
                  <a:txBody>
                    <a:bodyPr/>
                    <a:lstStyle/>
                    <a:p>
                      <a:pPr algn="l"/>
                      <a:r>
                        <a:rPr sz="1000" b="0">
                          <a:solidFill>
                            <a:srgbClr val="0F172A"/>
                          </a:solidFill>
                          <a:latin typeface="Segoe UI"/>
                        </a:rPr>
                        <a:t>gemma-4-26B-A4B-it</a:t>
                      </a:r>
                    </a:p>
                  </a:txBody>
                  <a:tcPr>
                    <a:solidFill>
                      <a:srgbClr val="F8FAFC"/>
                    </a:solidFill>
                  </a:tcPr>
                </a:tc>
                <a:tc>
                  <a:txBody>
                    <a:bodyPr/>
                    <a:lstStyle/>
                    <a:p>
                      <a:pPr algn="ctr"/>
                      <a:r>
                        <a:rPr sz="1000" b="0">
                          <a:solidFill>
                            <a:srgbClr val="0F172A"/>
                          </a:solidFill>
                          <a:latin typeface="Segoe UI"/>
                        </a:rPr>
                        <a:t>26B (MoE, Completo)</a:t>
                      </a:r>
                    </a:p>
                  </a:txBody>
                  <a:tcPr>
                    <a:solidFill>
                      <a:srgbClr val="F8FAFC"/>
                    </a:solidFill>
                  </a:tcPr>
                </a:tc>
                <a:tc>
                  <a:txBody>
                    <a:bodyPr/>
                    <a:lstStyle/>
                    <a:p>
                      <a:pPr algn="ctr"/>
                      <a:r>
                        <a:rPr sz="1000" b="0">
                          <a:solidFill>
                            <a:srgbClr val="0F172A"/>
                          </a:solidFill>
                          <a:latin typeface="Segoe UI"/>
                        </a:rPr>
                        <a:t>131.072 tokens</a:t>
                      </a:r>
                    </a:p>
                  </a:txBody>
                  <a:tcPr>
                    <a:solidFill>
                      <a:srgbClr val="F8FAFC"/>
                    </a:solidFill>
                  </a:tcPr>
                </a:tc>
                <a:tc>
                  <a:txBody>
                    <a:bodyPr/>
                    <a:lstStyle/>
                    <a:p>
                      <a:pPr algn="ctr"/>
                      <a:r>
                        <a:rPr sz="1000" b="0">
                          <a:solidFill>
                            <a:srgbClr val="0F172A"/>
                          </a:solidFill>
                          <a:latin typeface="Segoe UI"/>
                        </a:rPr>
                        <a:t>Não Baixado (configurado)</a:t>
                      </a:r>
                    </a:p>
                  </a:txBody>
                  <a:tcPr>
                    <a:solidFill>
                      <a:srgbClr val="F8FAFC"/>
                    </a:solidFill>
                  </a:tcPr>
                </a:tc>
                <a:extLst>
                  <a:ext uri="{0D108BD9-81ED-4DB2-BD59-A6C34878D82A}">
                    <a16:rowId xmlns:a16="http://schemas.microsoft.com/office/drawing/2014/main" val="10003"/>
                  </a:ext>
                </a:extLst>
              </a:tr>
              <a:tr h="365760">
                <a:tc>
                  <a:txBody>
                    <a:bodyPr/>
                    <a:lstStyle/>
                    <a:p>
                      <a:pPr algn="l"/>
                      <a:r>
                        <a:rPr sz="1000" b="0">
                          <a:solidFill>
                            <a:srgbClr val="0F172A"/>
                          </a:solidFill>
                          <a:latin typeface="Segoe UI"/>
                        </a:rPr>
                        <a:t>Qwen3.6-35B-A3B</a:t>
                      </a:r>
                    </a:p>
                  </a:txBody>
                  <a:tcPr>
                    <a:solidFill>
                      <a:srgbClr val="FFFFFF"/>
                    </a:solidFill>
                  </a:tcPr>
                </a:tc>
                <a:tc>
                  <a:txBody>
                    <a:bodyPr/>
                    <a:lstStyle/>
                    <a:p>
                      <a:pPr algn="ctr"/>
                      <a:r>
                        <a:rPr sz="1000" b="0">
                          <a:solidFill>
                            <a:srgbClr val="0F172A"/>
                          </a:solidFill>
                          <a:latin typeface="Segoe UI"/>
                        </a:rPr>
                        <a:t>35B (MoE, Avançado)</a:t>
                      </a:r>
                    </a:p>
                  </a:txBody>
                  <a:tcPr>
                    <a:solidFill>
                      <a:srgbClr val="FFFFFF"/>
                    </a:solidFill>
                  </a:tcPr>
                </a:tc>
                <a:tc>
                  <a:txBody>
                    <a:bodyPr/>
                    <a:lstStyle/>
                    <a:p>
                      <a:pPr algn="ctr"/>
                      <a:r>
                        <a:rPr sz="1000" b="0">
                          <a:solidFill>
                            <a:srgbClr val="0F172A"/>
                          </a:solidFill>
                          <a:latin typeface="Segoe UI"/>
                        </a:rPr>
                        <a:t>131.072 tokens</a:t>
                      </a:r>
                    </a:p>
                  </a:txBody>
                  <a:tcPr>
                    <a:solidFill>
                      <a:srgbClr val="FFFFFF"/>
                    </a:solidFill>
                  </a:tcPr>
                </a:tc>
                <a:tc>
                  <a:txBody>
                    <a:bodyPr/>
                    <a:lstStyle/>
                    <a:p>
                      <a:pPr algn="ctr"/>
                      <a:r>
                        <a:rPr sz="1000" b="0">
                          <a:solidFill>
                            <a:srgbClr val="0F172A"/>
                          </a:solidFill>
                          <a:latin typeface="Segoe UI"/>
                        </a:rPr>
                        <a:t>Não Baixado (configurado)</a:t>
                      </a:r>
                    </a:p>
                  </a:txBody>
                  <a:tcP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MERGULHO NO KRONK SDK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Resumo / Takeaways</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22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Local-first viável — </a:t>
            </a:r>
            <a:r>
              <a:rPr b="0">
                <a:solidFill>
                  <a:srgbClr val="475569"/>
                </a:solidFill>
              </a:rPr>
              <a:t>Kronk com aceleração nativa Metal entrega vazão comercializável em desktop local</a:t>
            </a:r>
          </a:p>
          <a:p>
            <a:pPr>
              <a:lnSpc>
                <a:spcPct val="125000"/>
              </a:lnSpc>
              <a:spcBef>
                <a:spcPts val="800"/>
              </a:spcBef>
              <a:spcAft>
                <a:spcPts val="1000"/>
              </a:spcAft>
              <a:defRPr sz="1300">
                <a:latin typeface="Segoe UI"/>
              </a:defRPr>
            </a:pPr>
            <a:r>
              <a:rPr b="1">
                <a:solidFill>
                  <a:srgbClr val="006FE6"/>
                </a:solidFill>
              </a:rPr>
              <a:t>Conceito de MoE consistente — </a:t>
            </a:r>
            <a:r>
              <a:rPr b="0">
                <a:solidFill>
                  <a:srgbClr val="475569"/>
                </a:solidFill>
              </a:rPr>
              <a:t>especialistas segmentados economizam processamento em qualquer hardware</a:t>
            </a:r>
          </a:p>
          <a:p>
            <a:pPr>
              <a:lnSpc>
                <a:spcPct val="125000"/>
              </a:lnSpc>
              <a:spcBef>
                <a:spcPts val="800"/>
              </a:spcBef>
              <a:spcAft>
                <a:spcPts val="1000"/>
              </a:spcAft>
              <a:defRPr sz="1300">
                <a:latin typeface="Segoe UI"/>
              </a:defRPr>
            </a:pPr>
            <a:r>
              <a:rPr b="1">
                <a:solidFill>
                  <a:srgbClr val="006FE6"/>
                </a:solidFill>
              </a:rPr>
              <a:t>Documentação manda — </a:t>
            </a:r>
            <a:r>
              <a:rPr b="0">
                <a:solidFill>
                  <a:srgbClr val="475569"/>
                </a:solidFill>
              </a:rPr>
              <a:t>a escala invertida de ngpu-layers do Kronk exige atenção para não travar em CPU</a:t>
            </a:r>
          </a:p>
          <a:p>
            <a:pPr>
              <a:lnSpc>
                <a:spcPct val="125000"/>
              </a:lnSpc>
              <a:spcBef>
                <a:spcPts val="800"/>
              </a:spcBef>
              <a:spcAft>
                <a:spcPts val="1000"/>
              </a:spcAft>
              <a:defRPr sz="1300">
                <a:latin typeface="Segoe UI"/>
              </a:defRPr>
            </a:pPr>
            <a:r>
              <a:rPr b="1">
                <a:solidFill>
                  <a:srgbClr val="006FE6"/>
                </a:solidFill>
              </a:rPr>
              <a:t>Empirismo na prática — </a:t>
            </a:r>
            <a:r>
              <a:rPr b="0">
                <a:solidFill>
                  <a:srgbClr val="475569"/>
                </a:solidFill>
              </a:rPr>
              <a:t>otimização de IA exige medição de bottlenecks reais, não chutes</a:t>
            </a:r>
          </a:p>
          <a:p>
            <a:pPr>
              <a:lnSpc>
                <a:spcPct val="125000"/>
              </a:lnSpc>
              <a:spcBef>
                <a:spcPts val="800"/>
              </a:spcBef>
              <a:spcAft>
                <a:spcPts val="1000"/>
              </a:spcAft>
              <a:defRPr sz="1300">
                <a:latin typeface="Segoe UI"/>
              </a:defRPr>
            </a:pPr>
            <a:r>
              <a:rPr b="1">
                <a:solidFill>
                  <a:srgbClr val="006FE6"/>
                </a:solidFill>
              </a:rPr>
              <a:t>Flexibilidade de runtime — </a:t>
            </a:r>
            <a:r>
              <a:rPr b="0">
                <a:solidFill>
                  <a:srgbClr val="475569"/>
                </a:solidFill>
              </a:rPr>
              <a:t>controle de raciocínio e troca de modelos ao vivo na infra em execução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852160" y="731520"/>
            <a:ext cx="5943600" cy="5029200"/>
          </a:xfrm>
          <a:prstGeom prst="rect">
            <a:avLst/>
          </a:prstGeom>
          <a:noFill/>
        </p:spPr>
        <p:txBody>
          <a:bodyPr wrap="square" lIns="0" tIns="0" rIns="0" bIns="0">
            <a:spAutoFit/>
          </a:bodyPr>
          <a:lstStyle/>
          <a:p>
            <a:pPr algn="r">
              <a:defRPr sz="18000" b="1">
                <a:solidFill>
                  <a:srgbClr val="133459"/>
                </a:solidFill>
                <a:latin typeface="Segoe UI"/>
              </a:defRPr>
            </a:pPr>
            <a:r>
              <a:t>03</a:t>
            </a:r>
          </a:p>
        </p:txBody>
      </p:sp>
      <p:sp>
        <p:nvSpPr>
          <p:cNvPr id="3" name="TextBox 2"/>
          <p:cNvSpPr txBox="1"/>
          <p:nvPr/>
        </p:nvSpPr>
        <p:spPr>
          <a:xfrm>
            <a:off x="1005840" y="2011680"/>
            <a:ext cx="6858000" cy="3657600"/>
          </a:xfrm>
          <a:prstGeom prst="rect">
            <a:avLst/>
          </a:prstGeom>
          <a:noFill/>
        </p:spPr>
        <p:txBody>
          <a:bodyPr wrap="square" lIns="0" tIns="0" rIns="0" bIns="0">
            <a:spAutoFit/>
          </a:bodyPr>
          <a:lstStyle/>
          <a:p>
            <a:pPr>
              <a:spcAft>
                <a:spcPts val="1200"/>
              </a:spcAft>
              <a:defRPr sz="1100" b="1">
                <a:solidFill>
                  <a:srgbClr val="00D2FF"/>
                </a:solidFill>
                <a:latin typeface="Segoe UI"/>
              </a:defRPr>
            </a:pPr>
            <a:r>
              <a:t>CONTEÚDO DA APRESENTAÇÃO  ·  CAPÍTULO 03</a:t>
            </a:r>
          </a:p>
          <a:p>
            <a:pPr>
              <a:spcAft>
                <a:spcPts val="1500"/>
              </a:spcAft>
              <a:defRPr sz="3600" b="1">
                <a:solidFill>
                  <a:srgbClr val="FFFFFF"/>
                </a:solidFill>
                <a:latin typeface="Segoe UI"/>
              </a:defRPr>
            </a:pPr>
            <a:r>
              <a:t>POR DENTRO DO CÓDIGO</a:t>
            </a:r>
          </a:p>
          <a:p>
            <a:pPr>
              <a:spcBef>
                <a:spcPts val="1500"/>
              </a:spcBef>
              <a:defRPr sz="1500">
                <a:solidFill>
                  <a:srgbClr val="94A3B8"/>
                </a:solidFill>
                <a:latin typeface="Segoe UI"/>
              </a:defRPr>
            </a:pPr>
            <a:r>
              <a:t>Análise técnica comparativa: do servidor MCP ingênuo ao indexador semântico</a:t>
            </a:r>
          </a:p>
        </p:txBody>
      </p:sp>
      <p:sp>
        <p:nvSpPr>
          <p:cNvPr id="4" name="Rectangle 3"/>
          <p:cNvSpPr/>
          <p:nvPr/>
        </p:nvSpPr>
        <p:spPr>
          <a:xfrm>
            <a:off x="1005840" y="3977639"/>
            <a:ext cx="1645920" cy="36576"/>
          </a:xfrm>
          <a:prstGeom prst="rect">
            <a:avLst/>
          </a:prstGeom>
          <a:solidFill>
            <a:srgbClr val="00D2FF"/>
          </a:solidFill>
          <a:ln>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O Desafio do Contexto: Por que 25 Tasks?</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23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Ruído Estrutural do Backlog — </a:t>
            </a:r>
            <a:r>
              <a:rPr b="0">
                <a:solidFill>
                  <a:srgbClr val="475569"/>
                </a:solidFill>
              </a:rPr>
              <a:t>Projetos reais contêm centenas de tickets, arquivos legados e documentações</a:t>
            </a:r>
          </a:p>
          <a:p>
            <a:pPr>
              <a:lnSpc>
                <a:spcPct val="125000"/>
              </a:lnSpc>
              <a:spcBef>
                <a:spcPts val="800"/>
              </a:spcBef>
              <a:spcAft>
                <a:spcPts val="1000"/>
              </a:spcAft>
              <a:defRPr sz="1300">
                <a:latin typeface="Segoe UI"/>
              </a:defRPr>
            </a:pPr>
            <a:r>
              <a:rPr b="1">
                <a:solidFill>
                  <a:srgbClr val="006FE6"/>
                </a:solidFill>
              </a:rPr>
              <a:t>Inchaço de Janela de Contexto — </a:t>
            </a:r>
            <a:r>
              <a:rPr b="0">
                <a:solidFill>
                  <a:srgbClr val="475569"/>
                </a:solidFill>
              </a:rPr>
              <a:t>Abordagem ingênua (manda tudo) consome ~47k tokens por chamada</a:t>
            </a:r>
          </a:p>
          <a:p>
            <a:pPr>
              <a:lnSpc>
                <a:spcPct val="125000"/>
              </a:lnSpc>
              <a:spcBef>
                <a:spcPts val="800"/>
              </a:spcBef>
              <a:spcAft>
                <a:spcPts val="1000"/>
              </a:spcAft>
              <a:defRPr sz="1300">
                <a:latin typeface="Segoe UI"/>
              </a:defRPr>
            </a:pPr>
            <a:r>
              <a:rPr b="1">
                <a:solidFill>
                  <a:srgbClr val="006FE6"/>
                </a:solidFill>
              </a:rPr>
              <a:t>Diluição de Atenção (Lost in the Middle) — </a:t>
            </a:r>
            <a:r>
              <a:rPr b="0">
                <a:solidFill>
                  <a:srgbClr val="475569"/>
                </a:solidFill>
              </a:rPr>
              <a:t>Modelos tendem a ignorar detalhes ocultos no meio de prompts gigantes</a:t>
            </a:r>
          </a:p>
          <a:p>
            <a:pPr>
              <a:lnSpc>
                <a:spcPct val="125000"/>
              </a:lnSpc>
              <a:spcBef>
                <a:spcPts val="800"/>
              </a:spcBef>
              <a:spcAft>
                <a:spcPts val="1000"/>
              </a:spcAft>
              <a:defRPr sz="1300">
                <a:latin typeface="Segoe UI"/>
              </a:defRPr>
            </a:pPr>
            <a:r>
              <a:rPr b="1">
                <a:solidFill>
                  <a:srgbClr val="006FE6"/>
                </a:solidFill>
              </a:rPr>
              <a:t>Degradação de Velocidade — </a:t>
            </a:r>
            <a:r>
              <a:rPr b="0">
                <a:solidFill>
                  <a:srgbClr val="475569"/>
                </a:solidFill>
              </a:rPr>
              <a:t>Processar 47k de histórico local-first eleva o tempo de prefill inviabilizando a resposta</a:t>
            </a:r>
          </a:p>
          <a:p>
            <a:pPr>
              <a:lnSpc>
                <a:spcPct val="125000"/>
              </a:lnSpc>
              <a:spcBef>
                <a:spcPts val="800"/>
              </a:spcBef>
              <a:spcAft>
                <a:spcPts val="1000"/>
              </a:spcAft>
              <a:defRPr sz="1300">
                <a:latin typeface="Segoe UI"/>
              </a:defRPr>
            </a:pPr>
            <a:r>
              <a:rPr b="1">
                <a:solidFill>
                  <a:srgbClr val="006FE6"/>
                </a:solidFill>
              </a:rPr>
              <a:t>Inviabilidade Financeira — </a:t>
            </a:r>
            <a:r>
              <a:rPr b="0">
                <a:solidFill>
                  <a:srgbClr val="475569"/>
                </a:solidFill>
              </a:rPr>
              <a:t>Enviar ruído para APIs pagas destrói a viabilidade comercial do projeto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A Solução Inteligente: Busca Semântica</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24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Embeddings de Documentos — </a:t>
            </a:r>
            <a:r>
              <a:rPr b="0">
                <a:solidFill>
                  <a:srgbClr val="475569"/>
                </a:solidFill>
              </a:rPr>
              <a:t>Modelo embeddinggemma converte cada arquivo markdown em um vetor numérico denso</a:t>
            </a:r>
          </a:p>
          <a:p>
            <a:pPr>
              <a:lnSpc>
                <a:spcPct val="125000"/>
              </a:lnSpc>
              <a:spcBef>
                <a:spcPts val="800"/>
              </a:spcBef>
              <a:spcAft>
                <a:spcPts val="1000"/>
              </a:spcAft>
              <a:defRPr sz="1300">
                <a:latin typeface="Segoe UI"/>
              </a:defRPr>
            </a:pPr>
            <a:r>
              <a:rPr b="1">
                <a:solidFill>
                  <a:srgbClr val="006FE6"/>
                </a:solidFill>
              </a:rPr>
              <a:t>Coordenadas de Significado — </a:t>
            </a:r>
            <a:r>
              <a:rPr b="0">
                <a:solidFill>
                  <a:srgbClr val="475569"/>
                </a:solidFill>
              </a:rPr>
              <a:t>O vetor de 768 dimensões mapeia a semântica do texto em um espaço geométrico</a:t>
            </a:r>
          </a:p>
          <a:p>
            <a:pPr>
              <a:lnSpc>
                <a:spcPct val="125000"/>
              </a:lnSpc>
              <a:spcBef>
                <a:spcPts val="800"/>
              </a:spcBef>
              <a:spcAft>
                <a:spcPts val="1000"/>
              </a:spcAft>
              <a:defRPr sz="1300">
                <a:latin typeface="Segoe UI"/>
              </a:defRPr>
            </a:pPr>
            <a:r>
              <a:rPr b="1">
                <a:solidFill>
                  <a:srgbClr val="006FE6"/>
                </a:solidFill>
              </a:rPr>
              <a:t>Busca por Proximidade — </a:t>
            </a:r>
            <a:r>
              <a:rPr b="0">
                <a:solidFill>
                  <a:srgbClr val="475569"/>
                </a:solidFill>
              </a:rPr>
              <a:t>A pergunta do desenvolvedor é vetorizada e comparada geometricamente com o backlog</a:t>
            </a:r>
          </a:p>
          <a:p>
            <a:pPr>
              <a:lnSpc>
                <a:spcPct val="125000"/>
              </a:lnSpc>
              <a:spcBef>
                <a:spcPts val="800"/>
              </a:spcBef>
              <a:spcAft>
                <a:spcPts val="1000"/>
              </a:spcAft>
              <a:defRPr sz="1300">
                <a:latin typeface="Segoe UI"/>
              </a:defRPr>
            </a:pPr>
            <a:r>
              <a:rPr b="1">
                <a:solidFill>
                  <a:srgbClr val="006FE6"/>
                </a:solidFill>
              </a:rPr>
              <a:t>Superação de Palavras-Chave — </a:t>
            </a:r>
            <a:r>
              <a:rPr b="0">
                <a:solidFill>
                  <a:srgbClr val="475569"/>
                </a:solidFill>
              </a:rPr>
              <a:t>Termos correlatos (ex: 'faturamento' e 'reembolso') aproximam-se sem termos idênticos</a:t>
            </a:r>
          </a:p>
          <a:p>
            <a:pPr>
              <a:lnSpc>
                <a:spcPct val="125000"/>
              </a:lnSpc>
              <a:spcBef>
                <a:spcPts val="800"/>
              </a:spcBef>
              <a:spcAft>
                <a:spcPts val="1000"/>
              </a:spcAft>
              <a:defRPr sz="1300">
                <a:latin typeface="Segoe UI"/>
              </a:defRPr>
            </a:pPr>
            <a:r>
              <a:rPr b="1">
                <a:solidFill>
                  <a:srgbClr val="006FE6"/>
                </a:solidFill>
              </a:rPr>
              <a:t>Filtragem Cirúrgica — </a:t>
            </a:r>
            <a:r>
              <a:rPr b="0">
                <a:solidFill>
                  <a:srgbClr val="475569"/>
                </a:solidFill>
              </a:rPr>
              <a:t>Recupera apenas as top-3 tarefas mais compatíveis, derrubando o contexto em 90%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O Motor do Vetor: DuckDB + VSS + HNSW</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25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Mecanismo In-Memory — </a:t>
            </a:r>
            <a:r>
              <a:rPr b="0">
                <a:solidFill>
                  <a:srgbClr val="475569"/>
                </a:solidFill>
              </a:rPr>
              <a:t>DuckDB inicializa instantaneamente em RAM dentro do próprio processo Go do MCP</a:t>
            </a:r>
          </a:p>
          <a:p>
            <a:pPr>
              <a:lnSpc>
                <a:spcPct val="125000"/>
              </a:lnSpc>
              <a:spcBef>
                <a:spcPts val="800"/>
              </a:spcBef>
              <a:spcAft>
                <a:spcPts val="1000"/>
              </a:spcAft>
              <a:defRPr sz="1300">
                <a:latin typeface="Segoe UI"/>
              </a:defRPr>
            </a:pPr>
            <a:r>
              <a:rPr b="1">
                <a:solidFill>
                  <a:srgbClr val="006FE6"/>
                </a:solidFill>
              </a:rPr>
              <a:t>Extensão DuckDB VSS — </a:t>
            </a:r>
            <a:r>
              <a:rPr b="0">
                <a:solidFill>
                  <a:srgbClr val="475569"/>
                </a:solidFill>
              </a:rPr>
              <a:t>Adiciona suporte nativo a tipos vetoriais (FLOAT[768]) e funções matemáticas</a:t>
            </a:r>
          </a:p>
          <a:p>
            <a:pPr>
              <a:lnSpc>
                <a:spcPct val="125000"/>
              </a:lnSpc>
              <a:spcBef>
                <a:spcPts val="800"/>
              </a:spcBef>
              <a:spcAft>
                <a:spcPts val="1000"/>
              </a:spcAft>
              <a:defRPr sz="1300">
                <a:latin typeface="Segoe UI"/>
              </a:defRPr>
            </a:pPr>
            <a:r>
              <a:rPr b="1">
                <a:solidFill>
                  <a:srgbClr val="006FE6"/>
                </a:solidFill>
              </a:rPr>
              <a:t>Índice HNSW (Hierarchical Navigable Small World) — </a:t>
            </a:r>
            <a:r>
              <a:rPr b="0">
                <a:solidFill>
                  <a:srgbClr val="475569"/>
                </a:solidFill>
              </a:rPr>
              <a:t>Algoritmo de grafo para busca rápida de vizinhos próximos</a:t>
            </a:r>
          </a:p>
          <a:p>
            <a:pPr>
              <a:lnSpc>
                <a:spcPct val="125000"/>
              </a:lnSpc>
              <a:spcBef>
                <a:spcPts val="800"/>
              </a:spcBef>
              <a:spcAft>
                <a:spcPts val="1000"/>
              </a:spcAft>
              <a:defRPr sz="1300">
                <a:latin typeface="Segoe UI"/>
              </a:defRPr>
            </a:pPr>
            <a:r>
              <a:rPr b="1">
                <a:solidFill>
                  <a:srgbClr val="006FE6"/>
                </a:solidFill>
              </a:rPr>
              <a:t>Busca em Tempo Logarítmico — </a:t>
            </a:r>
            <a:r>
              <a:rPr b="0">
                <a:solidFill>
                  <a:srgbClr val="475569"/>
                </a:solidFill>
              </a:rPr>
              <a:t>Evita varredura linear lenta, escalando perfeitamente para milhões de registros</a:t>
            </a:r>
          </a:p>
          <a:p>
            <a:pPr>
              <a:lnSpc>
                <a:spcPct val="125000"/>
              </a:lnSpc>
              <a:spcBef>
                <a:spcPts val="800"/>
              </a:spcBef>
              <a:spcAft>
                <a:spcPts val="1000"/>
              </a:spcAft>
              <a:defRPr sz="1300">
                <a:latin typeface="Segoe UI"/>
              </a:defRPr>
            </a:pPr>
            <a:r>
              <a:rPr b="1">
                <a:solidFill>
                  <a:srgbClr val="006FE6"/>
                </a:solidFill>
              </a:rPr>
              <a:t>Similaridade de Cosseno via SQL — </a:t>
            </a:r>
            <a:r>
              <a:rPr b="0">
                <a:solidFill>
                  <a:srgbClr val="475569"/>
                </a:solidFill>
              </a:rPr>
              <a:t>Query simples em banco relacional calcula e ordena os vetores por relevância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A base compartilhada: lendo o vault</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26 / 38</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Lógica unificada — </a:t>
            </a:r>
            <a:r>
              <a:rPr b="0">
                <a:solidFill>
                  <a:srgbClr val="475569"/>
                </a:solidFill>
              </a:rPr>
              <a:t>os dois servidores MCP de demo consomem exatamente a mesma função interna</a:t>
            </a:r>
          </a:p>
          <a:p>
            <a:pPr>
              <a:lnSpc>
                <a:spcPct val="125000"/>
              </a:lnSpc>
              <a:spcBef>
                <a:spcPts val="800"/>
              </a:spcBef>
              <a:spcAft>
                <a:spcPts val="1000"/>
              </a:spcAft>
              <a:defRPr sz="1300">
                <a:latin typeface="Segoe UI"/>
              </a:defRPr>
            </a:pPr>
            <a:r>
              <a:rPr b="1">
                <a:solidFill>
                  <a:srgbClr val="006FE6"/>
                </a:solidFill>
              </a:rPr>
              <a:t>Escaneamento simples — </a:t>
            </a:r>
            <a:r>
              <a:rPr b="0">
                <a:solidFill>
                  <a:srgbClr val="475569"/>
                </a:solidFill>
              </a:rPr>
              <a:t>percorre a pasta recursivamente coletando o caminho relativo e texto bruto</a:t>
            </a:r>
          </a:p>
          <a:p>
            <a:pPr>
              <a:lnSpc>
                <a:spcPct val="125000"/>
              </a:lnSpc>
              <a:spcBef>
                <a:spcPts val="800"/>
              </a:spcBef>
              <a:spcAft>
                <a:spcPts val="1000"/>
              </a:spcAft>
              <a:defRPr sz="1300">
                <a:latin typeface="Segoe UI"/>
              </a:defRPr>
            </a:pPr>
            <a:r>
              <a:rPr b="1">
                <a:solidFill>
                  <a:srgbClr val="006FE6"/>
                </a:solidFill>
              </a:rPr>
              <a:t>Escala do teste — </a:t>
            </a:r>
            <a:r>
              <a:rPr b="0">
                <a:solidFill>
                  <a:srgbClr val="475569"/>
                </a:solidFill>
              </a:rPr>
              <a:t>processa os 26 arquivos em Markdown simulando o backlog fictício</a:t>
            </a:r>
          </a:p>
          <a:p>
            <a:pPr>
              <a:lnSpc>
                <a:spcPct val="125000"/>
              </a:lnSpc>
              <a:spcBef>
                <a:spcPts val="800"/>
              </a:spcBef>
              <a:spcAft>
                <a:spcPts val="1000"/>
              </a:spcAft>
              <a:defRPr sz="1300">
                <a:latin typeface="Segoe UI"/>
              </a:defRPr>
            </a:pPr>
            <a:r>
              <a:rPr b="1">
                <a:solidFill>
                  <a:srgbClr val="006FE6"/>
                </a:solidFill>
              </a:rPr>
              <a:t>O divisor de águas — </a:t>
            </a:r>
            <a:r>
              <a:rPr b="0">
                <a:solidFill>
                  <a:srgbClr val="475569"/>
                </a:solidFill>
              </a:rPr>
              <a:t>o que dita a eficiência não é o carregamento, mas o filtro de busca</a:t>
            </a:r>
          </a:p>
        </p:txBody>
      </p:sp>
      <p:sp>
        <p:nvSpPr>
          <p:cNvPr id="10" name="Rectangle 9"/>
          <p:cNvSpPr/>
          <p:nvPr/>
        </p:nvSpPr>
        <p:spPr>
          <a:xfrm>
            <a:off x="6248095" y="1280160"/>
            <a:ext cx="5394960" cy="4846320"/>
          </a:xfrm>
          <a:prstGeom prst="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8095" y="1280160"/>
            <a:ext cx="5394960" cy="32004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85255" y="1399032"/>
            <a:ext cx="82296" cy="82296"/>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513271" y="1399032"/>
            <a:ext cx="82296" cy="82296"/>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641287" y="1399032"/>
            <a:ext cx="82296" cy="82296"/>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62495" y="1316736"/>
            <a:ext cx="3566160" cy="228600"/>
          </a:xfrm>
          <a:prstGeom prst="rect">
            <a:avLst/>
          </a:prstGeom>
          <a:noFill/>
        </p:spPr>
        <p:txBody>
          <a:bodyPr wrap="none" lIns="0" tIns="0" rIns="0" bIns="0">
            <a:spAutoFit/>
          </a:bodyPr>
          <a:lstStyle/>
          <a:p>
            <a:pPr algn="ctr">
              <a:defRPr sz="950" b="1">
                <a:solidFill>
                  <a:srgbClr val="475569"/>
                </a:solidFill>
                <a:latin typeface="Consolas"/>
              </a:defRPr>
            </a:pPr>
            <a:r>
              <a:t>internal/vault/reader.go</a:t>
            </a:r>
          </a:p>
        </p:txBody>
      </p:sp>
      <p:sp>
        <p:nvSpPr>
          <p:cNvPr id="16" name="TextBox 15"/>
          <p:cNvSpPr txBox="1"/>
          <p:nvPr/>
        </p:nvSpPr>
        <p:spPr>
          <a:xfrm>
            <a:off x="6412687" y="1737360"/>
            <a:ext cx="5065776" cy="4297680"/>
          </a:xfrm>
          <a:prstGeom prst="rect">
            <a:avLst/>
          </a:prstGeom>
          <a:noFill/>
        </p:spPr>
        <p:txBody>
          <a:bodyPr wrap="square" lIns="0" tIns="0" rIns="0" bIns="0">
            <a:spAutoFit/>
          </a:bodyPr>
          <a:lstStyle/>
          <a:p>
            <a:pPr>
              <a:defRPr sz="950">
                <a:solidFill>
                  <a:srgbClr val="0F172A"/>
                </a:solidFill>
                <a:latin typeface="Consolas"/>
              </a:defRPr>
            </a:pPr>
            <a:r>
              <a:t>func LoadAll(root string) ([]Document, error) {</a:t>
            </a:r>
          </a:p>
          <a:p>
            <a:pPr>
              <a:spcAft>
                <a:spcPts val="200"/>
              </a:spcAft>
              <a:defRPr sz="950">
                <a:solidFill>
                  <a:srgbClr val="0F172A"/>
                </a:solidFill>
                <a:latin typeface="Consolas"/>
              </a:defRPr>
            </a:pPr>
            <a:r>
              <a:t>    var docs []Document</a:t>
            </a:r>
          </a:p>
          <a:p>
            <a:pPr>
              <a:spcAft>
                <a:spcPts val="200"/>
              </a:spcAft>
              <a:defRPr sz="950">
                <a:solidFill>
                  <a:srgbClr val="0F172A"/>
                </a:solidFill>
                <a:latin typeface="Consolas"/>
              </a:defRPr>
            </a:pPr>
            <a:r>
              <a:t>    filepath.WalkDir(root, func(path string, d os.DirEntry, err error) error {</a:t>
            </a:r>
          </a:p>
          <a:p>
            <a:pPr>
              <a:spcAft>
                <a:spcPts val="200"/>
              </a:spcAft>
              <a:defRPr sz="950">
                <a:solidFill>
                  <a:srgbClr val="0F172A"/>
                </a:solidFill>
                <a:latin typeface="Consolas"/>
              </a:defRPr>
            </a:pPr>
            <a:r>
              <a:t>        if d.IsDir() || !strings.HasSuffix(d.Name(), ".md") {</a:t>
            </a:r>
          </a:p>
          <a:p>
            <a:pPr>
              <a:spcAft>
                <a:spcPts val="200"/>
              </a:spcAft>
              <a:defRPr sz="950">
                <a:solidFill>
                  <a:srgbClr val="0F172A"/>
                </a:solidFill>
                <a:latin typeface="Consolas"/>
              </a:defRPr>
            </a:pPr>
            <a:r>
              <a:t>            return nil</a:t>
            </a:r>
          </a:p>
          <a:p>
            <a:pPr>
              <a:spcAft>
                <a:spcPts val="200"/>
              </a:spcAft>
              <a:defRPr sz="950">
                <a:solidFill>
                  <a:srgbClr val="0F172A"/>
                </a:solidFill>
                <a:latin typeface="Consolas"/>
              </a:defRPr>
            </a:pPr>
            <a:r>
              <a:t>        }</a:t>
            </a:r>
          </a:p>
          <a:p>
            <a:pPr>
              <a:spcAft>
                <a:spcPts val="200"/>
              </a:spcAft>
              <a:defRPr sz="950">
                <a:solidFill>
                  <a:srgbClr val="0F172A"/>
                </a:solidFill>
                <a:latin typeface="Consolas"/>
              </a:defRPr>
            </a:pPr>
            <a:r>
              <a:t>        content, _ := os.ReadFile(path)</a:t>
            </a:r>
          </a:p>
          <a:p>
            <a:pPr>
              <a:spcAft>
                <a:spcPts val="200"/>
              </a:spcAft>
              <a:defRPr sz="950">
                <a:solidFill>
                  <a:srgbClr val="0F172A"/>
                </a:solidFill>
                <a:latin typeface="Consolas"/>
              </a:defRPr>
            </a:pPr>
            <a:r>
              <a:t>        rel, _ := filepath.Rel(root, path)</a:t>
            </a:r>
          </a:p>
          <a:p>
            <a:pPr>
              <a:spcAft>
                <a:spcPts val="200"/>
              </a:spcAft>
              <a:defRPr sz="950">
                <a:solidFill>
                  <a:srgbClr val="0F172A"/>
                </a:solidFill>
                <a:latin typeface="Consolas"/>
              </a:defRPr>
            </a:pPr>
            <a:r>
              <a:t>        docs = append(docs, Document{Path: rel, Content: string(content)})</a:t>
            </a:r>
          </a:p>
          <a:p>
            <a:pPr>
              <a:spcAft>
                <a:spcPts val="200"/>
              </a:spcAft>
              <a:defRPr sz="950">
                <a:solidFill>
                  <a:srgbClr val="0F172A"/>
                </a:solidFill>
                <a:latin typeface="Consolas"/>
              </a:defRPr>
            </a:pPr>
            <a:r>
              <a:t>        return nil</a:t>
            </a:r>
          </a:p>
          <a:p>
            <a:pPr>
              <a:spcAft>
                <a:spcPts val="200"/>
              </a:spcAft>
              <a:defRPr sz="950">
                <a:solidFill>
                  <a:srgbClr val="0F172A"/>
                </a:solidFill>
                <a:latin typeface="Consolas"/>
              </a:defRPr>
            </a:pPr>
            <a:r>
              <a:t>    })</a:t>
            </a:r>
          </a:p>
          <a:p>
            <a:pPr>
              <a:spcAft>
                <a:spcPts val="200"/>
              </a:spcAft>
              <a:defRPr sz="950">
                <a:solidFill>
                  <a:srgbClr val="0F172A"/>
                </a:solidFill>
                <a:latin typeface="Consolas"/>
              </a:defRPr>
            </a:pPr>
            <a:r>
              <a:t>    return docs, nil</a:t>
            </a:r>
          </a:p>
          <a:p>
            <a:pPr>
              <a:spcAft>
                <a:spcPts val="200"/>
              </a:spcAft>
              <a:defRPr sz="950">
                <a:solidFill>
                  <a:srgbClr val="0F172A"/>
                </a:solidFill>
                <a:latin typeface="Consolas"/>
              </a:defRPr>
            </a:pPr>
            <a: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Cena 1: Servidor MCP sem Filtragem (vault_dumb)</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27 / 38</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Uma única ferramenta unificada — </a:t>
            </a:r>
            <a:r>
              <a:rPr b="0">
                <a:solidFill>
                  <a:srgbClr val="475569"/>
                </a:solidFill>
              </a:rPr>
              <a:t>read_vault exposta sem necessidade de argumentos de entrada</a:t>
            </a:r>
          </a:p>
          <a:p>
            <a:pPr>
              <a:lnSpc>
                <a:spcPct val="125000"/>
              </a:lnSpc>
              <a:spcBef>
                <a:spcPts val="800"/>
              </a:spcBef>
              <a:spcAft>
                <a:spcPts val="1000"/>
              </a:spcAft>
              <a:defRPr sz="1300">
                <a:latin typeface="Segoe UI"/>
              </a:defRPr>
            </a:pPr>
            <a:r>
              <a:rPr b="1">
                <a:solidFill>
                  <a:srgbClr val="006FE6"/>
                </a:solidFill>
              </a:rPr>
              <a:t>Processamento sem filtro — </a:t>
            </a:r>
            <a:r>
              <a:rPr b="0">
                <a:solidFill>
                  <a:srgbClr val="475569"/>
                </a:solidFill>
              </a:rPr>
              <a:t>carrega todas as tarefas, concatena em um payload cru e devolve de uma vez</a:t>
            </a:r>
          </a:p>
          <a:p>
            <a:pPr>
              <a:lnSpc>
                <a:spcPct val="125000"/>
              </a:lnSpc>
              <a:spcBef>
                <a:spcPts val="800"/>
              </a:spcBef>
              <a:spcAft>
                <a:spcPts val="1000"/>
              </a:spcAft>
              <a:defRPr sz="1300">
                <a:latin typeface="Segoe UI"/>
              </a:defRPr>
            </a:pPr>
            <a:r>
              <a:rPr b="1">
                <a:solidFill>
                  <a:srgbClr val="006FE6"/>
                </a:solidFill>
              </a:rPr>
              <a:t>Ignorância de relevância — </a:t>
            </a:r>
            <a:r>
              <a:rPr b="0">
                <a:solidFill>
                  <a:srgbClr val="475569"/>
                </a:solidFill>
              </a:rPr>
              <a:t>o agente pede contexto de uma única task, e recebe o backlog inteiro</a:t>
            </a:r>
          </a:p>
          <a:p>
            <a:pPr>
              <a:lnSpc>
                <a:spcPct val="125000"/>
              </a:lnSpc>
              <a:spcBef>
                <a:spcPts val="800"/>
              </a:spcBef>
              <a:spcAft>
                <a:spcPts val="1000"/>
              </a:spcAft>
              <a:defRPr sz="1300">
                <a:latin typeface="Segoe UI"/>
              </a:defRPr>
            </a:pPr>
            <a:r>
              <a:rPr b="1">
                <a:solidFill>
                  <a:srgbClr val="006FE6"/>
                </a:solidFill>
              </a:rPr>
              <a:t>Custo de simplicidade — </a:t>
            </a:r>
            <a:r>
              <a:rPr b="0">
                <a:solidFill>
                  <a:srgbClr val="475569"/>
                </a:solidFill>
              </a:rPr>
              <a:t>apenas 20 linhas de desenvolvimento Go, resultando em ~47k tokens na nuvem</a:t>
            </a:r>
          </a:p>
        </p:txBody>
      </p:sp>
      <p:sp>
        <p:nvSpPr>
          <p:cNvPr id="10" name="Rectangle 9"/>
          <p:cNvSpPr/>
          <p:nvPr/>
        </p:nvSpPr>
        <p:spPr>
          <a:xfrm>
            <a:off x="6248095" y="1280160"/>
            <a:ext cx="5394960" cy="4846320"/>
          </a:xfrm>
          <a:prstGeom prst="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8095" y="1280160"/>
            <a:ext cx="5394960" cy="32004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85255" y="1399032"/>
            <a:ext cx="82296" cy="82296"/>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513271" y="1399032"/>
            <a:ext cx="82296" cy="82296"/>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641287" y="1399032"/>
            <a:ext cx="82296" cy="82296"/>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62495" y="1316736"/>
            <a:ext cx="3566160" cy="228600"/>
          </a:xfrm>
          <a:prstGeom prst="rect">
            <a:avLst/>
          </a:prstGeom>
          <a:noFill/>
        </p:spPr>
        <p:txBody>
          <a:bodyPr wrap="none" lIns="0" tIns="0" rIns="0" bIns="0">
            <a:spAutoFit/>
          </a:bodyPr>
          <a:lstStyle/>
          <a:p>
            <a:pPr algn="ctr">
              <a:defRPr sz="950" b="1">
                <a:solidFill>
                  <a:srgbClr val="475569"/>
                </a:solidFill>
                <a:latin typeface="Consolas"/>
              </a:defRPr>
            </a:pPr>
            <a:r>
              <a:t>internal/vault/reader.go</a:t>
            </a:r>
          </a:p>
        </p:txBody>
      </p:sp>
      <p:sp>
        <p:nvSpPr>
          <p:cNvPr id="16" name="TextBox 15"/>
          <p:cNvSpPr txBox="1"/>
          <p:nvPr/>
        </p:nvSpPr>
        <p:spPr>
          <a:xfrm>
            <a:off x="6412687" y="1737360"/>
            <a:ext cx="5065776" cy="4297680"/>
          </a:xfrm>
          <a:prstGeom prst="rect">
            <a:avLst/>
          </a:prstGeom>
          <a:noFill/>
        </p:spPr>
        <p:txBody>
          <a:bodyPr wrap="square" lIns="0" tIns="0" rIns="0" bIns="0">
            <a:spAutoFit/>
          </a:bodyPr>
          <a:lstStyle/>
          <a:p>
            <a:pPr>
              <a:defRPr sz="950">
                <a:solidFill>
                  <a:srgbClr val="0F172A"/>
                </a:solidFill>
                <a:latin typeface="Consolas"/>
              </a:defRPr>
            </a:pPr>
            <a:r>
              <a:t>mcp.AddTool(server, &amp;mcp.Tool{</a:t>
            </a:r>
          </a:p>
          <a:p>
            <a:pPr>
              <a:spcAft>
                <a:spcPts val="200"/>
              </a:spcAft>
              <a:defRPr sz="950">
                <a:solidFill>
                  <a:srgbClr val="0F172A"/>
                </a:solidFill>
                <a:latin typeface="Consolas"/>
              </a:defRPr>
            </a:pPr>
            <a:r>
              <a:t>    Name: "read_vault",</a:t>
            </a:r>
          </a:p>
          <a:p>
            <a:pPr>
              <a:spcAft>
                <a:spcPts val="200"/>
              </a:spcAft>
              <a:defRPr sz="950">
                <a:solidFill>
                  <a:srgbClr val="0F172A"/>
                </a:solidFill>
                <a:latin typeface="Consolas"/>
              </a:defRPr>
            </a:pPr>
            <a:r>
              <a:t>    Description: "Returns the full contents of every Markdown file...",</a:t>
            </a:r>
          </a:p>
          <a:p>
            <a:pPr>
              <a:spcAft>
                <a:spcPts val="200"/>
              </a:spcAft>
              <a:defRPr sz="950">
                <a:solidFill>
                  <a:srgbClr val="0F172A"/>
                </a:solidFill>
                <a:latin typeface="Consolas"/>
              </a:defRPr>
            </a:pPr>
            <a:r>
              <a:t>}, readVaultHandler(vaultPath))</a:t>
            </a:r>
          </a:p>
          <a:p>
            <a:pPr>
              <a:spcAft>
                <a:spcPts val="200"/>
              </a:spcAft>
              <a:defRPr sz="950">
                <a:solidFill>
                  <a:srgbClr val="0F172A"/>
                </a:solidFill>
                <a:latin typeface="Consolas"/>
              </a:defRPr>
            </a:pPr>
            <a:endParaRPr/>
          </a:p>
          <a:p>
            <a:pPr>
              <a:spcAft>
                <a:spcPts val="200"/>
              </a:spcAft>
              <a:defRPr sz="950">
                <a:solidFill>
                  <a:srgbClr val="0F172A"/>
                </a:solidFill>
                <a:latin typeface="Consolas"/>
              </a:defRPr>
            </a:pPr>
            <a:r>
              <a:t>func readVaultHandler(vaultPath string) ... {</a:t>
            </a:r>
          </a:p>
          <a:p>
            <a:pPr>
              <a:spcAft>
                <a:spcPts val="200"/>
              </a:spcAft>
              <a:defRPr sz="950">
                <a:solidFill>
                  <a:srgbClr val="0F172A"/>
                </a:solidFill>
                <a:latin typeface="Consolas"/>
              </a:defRPr>
            </a:pPr>
            <a:r>
              <a:t>    docs, _ := vault.LoadAll(vaultPath)</a:t>
            </a:r>
          </a:p>
          <a:p>
            <a:pPr>
              <a:spcAft>
                <a:spcPts val="200"/>
              </a:spcAft>
              <a:defRPr sz="950">
                <a:solidFill>
                  <a:srgbClr val="0F172A"/>
                </a:solidFill>
                <a:latin typeface="Consolas"/>
              </a:defRPr>
            </a:pPr>
            <a:r>
              <a:t>    // concatena tudo: --- FILE: path ---\ncontent\n\n</a:t>
            </a:r>
          </a:p>
          <a:p>
            <a:pPr>
              <a:spcAft>
                <a:spcPts val="200"/>
              </a:spcAft>
              <a:defRPr sz="950">
                <a:solidFill>
                  <a:srgbClr val="0F172A"/>
                </a:solidFill>
                <a:latin typeface="Consolas"/>
              </a:defRPr>
            </a:pPr>
            <a: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Cena 2, parte 1: montando o índice vetorial</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28 / 38</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Modelo secundário local — </a:t>
            </a:r>
            <a:r>
              <a:rPr b="0">
                <a:solidFill>
                  <a:srgbClr val="475569"/>
                </a:solidFill>
              </a:rPr>
              <a:t>carrega o embeddinggemma-300m, especialista veloz em mapear significados</a:t>
            </a:r>
          </a:p>
          <a:p>
            <a:pPr>
              <a:lnSpc>
                <a:spcPct val="125000"/>
              </a:lnSpc>
              <a:spcBef>
                <a:spcPts val="800"/>
              </a:spcBef>
              <a:spcAft>
                <a:spcPts val="1000"/>
              </a:spcAft>
              <a:defRPr sz="1300">
                <a:latin typeface="Segoe UI"/>
              </a:defRPr>
            </a:pPr>
            <a:r>
              <a:rPr b="1">
                <a:solidFill>
                  <a:srgbClr val="006FE6"/>
                </a:solidFill>
              </a:rPr>
              <a:t>Representação matemática — </a:t>
            </a:r>
            <a:r>
              <a:rPr b="0">
                <a:solidFill>
                  <a:srgbClr val="475569"/>
                </a:solidFill>
              </a:rPr>
              <a:t>gera vetores de 768 floats (coordenadas) representando semântica dos arquivos</a:t>
            </a:r>
          </a:p>
          <a:p>
            <a:pPr>
              <a:lnSpc>
                <a:spcPct val="125000"/>
              </a:lnSpc>
              <a:spcBef>
                <a:spcPts val="800"/>
              </a:spcBef>
              <a:spcAft>
                <a:spcPts val="1000"/>
              </a:spcAft>
              <a:defRPr sz="1300">
                <a:latin typeface="Segoe UI"/>
              </a:defRPr>
            </a:pPr>
            <a:r>
              <a:rPr b="1">
                <a:solidFill>
                  <a:srgbClr val="006FE6"/>
                </a:solidFill>
              </a:rPr>
              <a:t>Banco de dados embutido — </a:t>
            </a:r>
            <a:r>
              <a:rPr b="0">
                <a:solidFill>
                  <a:srgbClr val="475569"/>
                </a:solidFill>
              </a:rPr>
              <a:t>inicializa DuckDB localmente acoplado com índice HNSW para vizinhos próximos</a:t>
            </a:r>
          </a:p>
          <a:p>
            <a:pPr>
              <a:lnSpc>
                <a:spcPct val="125000"/>
              </a:lnSpc>
              <a:spcBef>
                <a:spcPts val="800"/>
              </a:spcBef>
              <a:spcAft>
                <a:spcPts val="1000"/>
              </a:spcAft>
              <a:defRPr sz="1300">
                <a:latin typeface="Segoe UI"/>
              </a:defRPr>
            </a:pPr>
            <a:r>
              <a:rPr b="1">
                <a:solidFill>
                  <a:srgbClr val="006FE6"/>
                </a:solidFill>
              </a:rPr>
              <a:t>Mapeamento único — </a:t>
            </a:r>
            <a:r>
              <a:rPr b="0">
                <a:solidFill>
                  <a:srgbClr val="475569"/>
                </a:solidFill>
              </a:rPr>
              <a:t>a vetorização e inserção ocorrem somente na inicialização do servidor, sem delay na requisição</a:t>
            </a:r>
          </a:p>
        </p:txBody>
      </p:sp>
      <p:sp>
        <p:nvSpPr>
          <p:cNvPr id="10" name="Rectangle 9"/>
          <p:cNvSpPr/>
          <p:nvPr/>
        </p:nvSpPr>
        <p:spPr>
          <a:xfrm>
            <a:off x="6248095" y="1280160"/>
            <a:ext cx="5394960" cy="4846320"/>
          </a:xfrm>
          <a:prstGeom prst="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8095" y="1280160"/>
            <a:ext cx="5394960" cy="32004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85255" y="1399032"/>
            <a:ext cx="82296" cy="82296"/>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513271" y="1399032"/>
            <a:ext cx="82296" cy="82296"/>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641287" y="1399032"/>
            <a:ext cx="82296" cy="82296"/>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62495" y="1316736"/>
            <a:ext cx="3566160" cy="228600"/>
          </a:xfrm>
          <a:prstGeom prst="rect">
            <a:avLst/>
          </a:prstGeom>
          <a:noFill/>
        </p:spPr>
        <p:txBody>
          <a:bodyPr wrap="none" lIns="0" tIns="0" rIns="0" bIns="0">
            <a:spAutoFit/>
          </a:bodyPr>
          <a:lstStyle/>
          <a:p>
            <a:pPr algn="ctr">
              <a:defRPr sz="950" b="1">
                <a:solidFill>
                  <a:srgbClr val="475569"/>
                </a:solidFill>
                <a:latin typeface="Consolas"/>
              </a:defRPr>
            </a:pPr>
            <a:r>
              <a:t>internal/vault/reader.go</a:t>
            </a:r>
          </a:p>
        </p:txBody>
      </p:sp>
      <p:sp>
        <p:nvSpPr>
          <p:cNvPr id="16" name="TextBox 15"/>
          <p:cNvSpPr txBox="1"/>
          <p:nvPr/>
        </p:nvSpPr>
        <p:spPr>
          <a:xfrm>
            <a:off x="6412687" y="1737360"/>
            <a:ext cx="5065776" cy="4297680"/>
          </a:xfrm>
          <a:prstGeom prst="rect">
            <a:avLst/>
          </a:prstGeom>
          <a:noFill/>
        </p:spPr>
        <p:txBody>
          <a:bodyPr wrap="square" lIns="0" tIns="0" rIns="0" bIns="0">
            <a:spAutoFit/>
          </a:bodyPr>
          <a:lstStyle/>
          <a:p>
            <a:pPr>
              <a:defRPr sz="950">
                <a:solidFill>
                  <a:srgbClr val="0F172A"/>
                </a:solidFill>
                <a:latin typeface="Consolas"/>
              </a:defRPr>
            </a:pPr>
            <a:r>
              <a:t>krnEmbed, _ := kronk.New(model.WithModelFiles(</a:t>
            </a:r>
          </a:p>
          <a:p>
            <a:pPr>
              <a:spcAft>
                <a:spcPts val="200"/>
              </a:spcAft>
              <a:defRPr sz="950">
                <a:solidFill>
                  <a:srgbClr val="0F172A"/>
                </a:solidFill>
                <a:latin typeface="Consolas"/>
              </a:defRPr>
            </a:pPr>
            <a:r>
              <a:t>    []string{embedModelPath}))</a:t>
            </a:r>
          </a:p>
          <a:p>
            <a:pPr>
              <a:spcAft>
                <a:spcPts val="200"/>
              </a:spcAft>
              <a:defRPr sz="950">
                <a:solidFill>
                  <a:srgbClr val="0F172A"/>
                </a:solidFill>
                <a:latin typeface="Consolas"/>
              </a:defRPr>
            </a:pPr>
            <a:r>
              <a:t>docs, _ := vault.LoadAll(vaultPath)</a:t>
            </a:r>
          </a:p>
          <a:p>
            <a:pPr>
              <a:spcAft>
                <a:spcPts val="200"/>
              </a:spcAft>
              <a:defRPr sz="950">
                <a:solidFill>
                  <a:srgbClr val="0F172A"/>
                </a:solidFill>
                <a:latin typeface="Consolas"/>
              </a:defRPr>
            </a:pPr>
            <a:r>
              <a:t>dims, _ := embeddingDims(krnEmbed)</a:t>
            </a:r>
          </a:p>
          <a:p>
            <a:pPr>
              <a:spcAft>
                <a:spcPts val="200"/>
              </a:spcAft>
              <a:defRPr sz="950">
                <a:solidFill>
                  <a:srgbClr val="0F172A"/>
                </a:solidFill>
                <a:latin typeface="Consolas"/>
              </a:defRPr>
            </a:pPr>
            <a:r>
              <a:t>db, _ := store.LoadVault(ctx, krnEmbed, docs, dims)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Cena 2, parte 2: a busca de verdade</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29 / 38</a:t>
            </a:r>
          </a:p>
        </p:txBody>
      </p:sp>
      <p:sp>
        <p:nvSpPr>
          <p:cNvPr id="8" name="Rectangle 7"/>
          <p:cNvSpPr/>
          <p:nvPr/>
        </p:nvSpPr>
        <p:spPr>
          <a:xfrm>
            <a:off x="548640" y="1280160"/>
            <a:ext cx="5303520"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554480"/>
            <a:ext cx="4709160" cy="429768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Vetorização de query — </a:t>
            </a:r>
            <a:r>
              <a:rPr b="0">
                <a:solidFill>
                  <a:srgbClr val="475569"/>
                </a:solidFill>
              </a:rPr>
              <a:t>transforma a pergunta do usuário no mesmo formato de coordenadas numéricas</a:t>
            </a:r>
          </a:p>
          <a:p>
            <a:pPr>
              <a:lnSpc>
                <a:spcPct val="125000"/>
              </a:lnSpc>
              <a:spcBef>
                <a:spcPts val="800"/>
              </a:spcBef>
              <a:spcAft>
                <a:spcPts val="1000"/>
              </a:spcAft>
              <a:defRPr sz="1300">
                <a:latin typeface="Segoe UI"/>
              </a:defRPr>
            </a:pPr>
            <a:r>
              <a:rPr b="1">
                <a:solidFill>
                  <a:srgbClr val="006FE6"/>
                </a:solidFill>
              </a:rPr>
              <a:t>Busca vetorial via SQL — </a:t>
            </a:r>
            <a:r>
              <a:rPr b="0">
                <a:solidFill>
                  <a:srgbClr val="475569"/>
                </a:solidFill>
              </a:rPr>
              <a:t>executa query no DuckDB calculando similaridade de cosseno com os vetores salvos</a:t>
            </a:r>
          </a:p>
          <a:p>
            <a:pPr>
              <a:lnSpc>
                <a:spcPct val="125000"/>
              </a:lnSpc>
              <a:spcBef>
                <a:spcPts val="800"/>
              </a:spcBef>
              <a:spcAft>
                <a:spcPts val="1000"/>
              </a:spcAft>
              <a:defRPr sz="1300">
                <a:latin typeface="Segoe UI"/>
              </a:defRPr>
            </a:pPr>
            <a:r>
              <a:rPr b="1">
                <a:solidFill>
                  <a:srgbClr val="006FE6"/>
                </a:solidFill>
              </a:rPr>
              <a:t>Busca por significado — </a:t>
            </a:r>
            <a:r>
              <a:rPr b="0">
                <a:solidFill>
                  <a:srgbClr val="475569"/>
                </a:solidFill>
              </a:rPr>
              <a:t>encontra termos análogos (ex: faturamento recupera cupom) sem palavras idênticas</a:t>
            </a:r>
          </a:p>
          <a:p>
            <a:pPr>
              <a:lnSpc>
                <a:spcPct val="125000"/>
              </a:lnSpc>
              <a:spcBef>
                <a:spcPts val="800"/>
              </a:spcBef>
              <a:spcAft>
                <a:spcPts val="1000"/>
              </a:spcAft>
              <a:defRPr sz="1300">
                <a:latin typeface="Segoe UI"/>
              </a:defRPr>
            </a:pPr>
            <a:r>
              <a:rPr b="1">
                <a:solidFill>
                  <a:srgbClr val="006FE6"/>
                </a:solidFill>
              </a:rPr>
              <a:t>Retorno ultra enxuto — </a:t>
            </a:r>
            <a:r>
              <a:rPr b="0">
                <a:solidFill>
                  <a:srgbClr val="475569"/>
                </a:solidFill>
              </a:rPr>
              <a:t>reduz o volume de texto enviado do repositório inteiro para apenas os top-3 úteis</a:t>
            </a:r>
          </a:p>
        </p:txBody>
      </p:sp>
      <p:sp>
        <p:nvSpPr>
          <p:cNvPr id="10" name="Rectangle 9"/>
          <p:cNvSpPr/>
          <p:nvPr/>
        </p:nvSpPr>
        <p:spPr>
          <a:xfrm>
            <a:off x="6248095" y="1280160"/>
            <a:ext cx="5394960" cy="4846320"/>
          </a:xfrm>
          <a:prstGeom prst="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8095" y="1280160"/>
            <a:ext cx="5394960" cy="32004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85255" y="1399032"/>
            <a:ext cx="82296" cy="82296"/>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513271" y="1399032"/>
            <a:ext cx="82296" cy="82296"/>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641287" y="1399032"/>
            <a:ext cx="82296" cy="82296"/>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62495" y="1316736"/>
            <a:ext cx="3566160" cy="228600"/>
          </a:xfrm>
          <a:prstGeom prst="rect">
            <a:avLst/>
          </a:prstGeom>
          <a:noFill/>
        </p:spPr>
        <p:txBody>
          <a:bodyPr wrap="none" lIns="0" tIns="0" rIns="0" bIns="0">
            <a:spAutoFit/>
          </a:bodyPr>
          <a:lstStyle/>
          <a:p>
            <a:pPr algn="ctr">
              <a:defRPr sz="950" b="1">
                <a:solidFill>
                  <a:srgbClr val="475569"/>
                </a:solidFill>
                <a:latin typeface="Consolas"/>
              </a:defRPr>
            </a:pPr>
            <a:r>
              <a:t>search_vault.sql</a:t>
            </a:r>
          </a:p>
        </p:txBody>
      </p:sp>
      <p:sp>
        <p:nvSpPr>
          <p:cNvPr id="16" name="TextBox 15"/>
          <p:cNvSpPr txBox="1"/>
          <p:nvPr/>
        </p:nvSpPr>
        <p:spPr>
          <a:xfrm>
            <a:off x="6412687" y="1737360"/>
            <a:ext cx="5065776" cy="4297680"/>
          </a:xfrm>
          <a:prstGeom prst="rect">
            <a:avLst/>
          </a:prstGeom>
          <a:noFill/>
        </p:spPr>
        <p:txBody>
          <a:bodyPr wrap="square" lIns="0" tIns="0" rIns="0" bIns="0">
            <a:spAutoFit/>
          </a:bodyPr>
          <a:lstStyle/>
          <a:p>
            <a:pPr>
              <a:defRPr sz="950">
                <a:solidFill>
                  <a:srgbClr val="0F172A"/>
                </a:solidFill>
                <a:latin typeface="Consolas"/>
              </a:defRPr>
            </a:pPr>
            <a:r>
              <a:t>SELECT path, text,</a:t>
            </a:r>
          </a:p>
          <a:p>
            <a:pPr>
              <a:spcAft>
                <a:spcPts val="200"/>
              </a:spcAft>
              <a:defRPr sz="950">
                <a:solidFill>
                  <a:srgbClr val="0F172A"/>
                </a:solidFill>
                <a:latin typeface="Consolas"/>
              </a:defRPr>
            </a:pPr>
            <a:r>
              <a:t>       array_cosine_similarity(embedding, ?::FLOAT[768]) AS similarity</a:t>
            </a:r>
          </a:p>
          <a:p>
            <a:pPr>
              <a:spcAft>
                <a:spcPts val="200"/>
              </a:spcAft>
              <a:defRPr sz="950">
                <a:solidFill>
                  <a:srgbClr val="0F172A"/>
                </a:solidFill>
                <a:latin typeface="Consolas"/>
              </a:defRPr>
            </a:pPr>
            <a:r>
              <a:t>FROM items</a:t>
            </a:r>
          </a:p>
          <a:p>
            <a:pPr>
              <a:spcAft>
                <a:spcPts val="200"/>
              </a:spcAft>
              <a:defRPr sz="950">
                <a:solidFill>
                  <a:srgbClr val="0F172A"/>
                </a:solidFill>
                <a:latin typeface="Consolas"/>
              </a:defRPr>
            </a:pPr>
            <a:r>
              <a:t>ORDER BY similarity DESC</a:t>
            </a:r>
          </a:p>
          <a:p>
            <a:pPr>
              <a:spcAft>
                <a:spcPts val="200"/>
              </a:spcAft>
              <a:defRPr sz="950">
                <a:solidFill>
                  <a:srgbClr val="0F172A"/>
                </a:solidFill>
                <a:latin typeface="Consolas"/>
              </a:defRPr>
            </a:pPr>
            <a:r>
              <a:t>LIMIT 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POR DENTRO DO CÓDIGO MCP</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Lado a lado: mesma pergunta, dois caminhos</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30 / 38</a:t>
            </a:r>
          </a:p>
        </p:txBody>
      </p:sp>
      <p:graphicFrame>
        <p:nvGraphicFramePr>
          <p:cNvPr id="8" name="Table 7"/>
          <p:cNvGraphicFramePr>
            <a:graphicFrameLocks noGrp="1"/>
          </p:cNvGraphicFramePr>
          <p:nvPr/>
        </p:nvGraphicFramePr>
        <p:xfrm>
          <a:off x="548640" y="1737360"/>
          <a:ext cx="11094415" cy="3200400"/>
        </p:xfrm>
        <a:graphic>
          <a:graphicData uri="http://schemas.openxmlformats.org/drawingml/2006/table">
            <a:tbl>
              <a:tblPr firstRow="1" bandRow="1">
                <a:tableStyleId>{5C22544A-7EE6-4342-B048-85BDC9FD1C3A}</a:tableStyleId>
              </a:tblPr>
              <a:tblGrid>
                <a:gridCol w="3698138">
                  <a:extLst>
                    <a:ext uri="{9D8B030D-6E8A-4147-A177-3AD203B41FA5}">
                      <a16:colId xmlns:a16="http://schemas.microsoft.com/office/drawing/2014/main" val="20000"/>
                    </a:ext>
                  </a:extLst>
                </a:gridCol>
                <a:gridCol w="3698138">
                  <a:extLst>
                    <a:ext uri="{9D8B030D-6E8A-4147-A177-3AD203B41FA5}">
                      <a16:colId xmlns:a16="http://schemas.microsoft.com/office/drawing/2014/main" val="20001"/>
                    </a:ext>
                  </a:extLst>
                </a:gridCol>
                <a:gridCol w="3698139">
                  <a:extLst>
                    <a:ext uri="{9D8B030D-6E8A-4147-A177-3AD203B41FA5}">
                      <a16:colId xmlns:a16="http://schemas.microsoft.com/office/drawing/2014/main" val="20002"/>
                    </a:ext>
                  </a:extLst>
                </a:gridCol>
              </a:tblGrid>
              <a:tr h="457200">
                <a:tc>
                  <a:txBody>
                    <a:bodyPr/>
                    <a:lstStyle/>
                    <a:p>
                      <a:pPr algn="l"/>
                      <a:r>
                        <a:rPr sz="1200" b="1">
                          <a:solidFill>
                            <a:srgbClr val="00D2FF"/>
                          </a:solidFill>
                          <a:latin typeface="Segoe UI"/>
                        </a:rPr>
                        <a:t>Métrica / Recurso</a:t>
                      </a:r>
                    </a:p>
                  </a:txBody>
                  <a:tcPr>
                    <a:solidFill>
                      <a:srgbClr val="0A2540"/>
                    </a:solidFill>
                  </a:tcPr>
                </a:tc>
                <a:tc>
                  <a:txBody>
                    <a:bodyPr/>
                    <a:lstStyle/>
                    <a:p>
                      <a:pPr algn="ctr"/>
                      <a:r>
                        <a:rPr sz="1200" b="1">
                          <a:solidFill>
                            <a:srgbClr val="00D2FF"/>
                          </a:solidFill>
                          <a:latin typeface="Segoe UI"/>
                        </a:rPr>
                        <a:t>vault_dumb (Cena 1)</a:t>
                      </a:r>
                    </a:p>
                  </a:txBody>
                  <a:tcPr>
                    <a:solidFill>
                      <a:srgbClr val="0A2540"/>
                    </a:solidFill>
                  </a:tcPr>
                </a:tc>
                <a:tc>
                  <a:txBody>
                    <a:bodyPr/>
                    <a:lstStyle/>
                    <a:p>
                      <a:pPr algn="ctr"/>
                      <a:r>
                        <a:rPr sz="1200" b="1">
                          <a:solidFill>
                            <a:srgbClr val="00D2FF"/>
                          </a:solidFill>
                          <a:latin typeface="Segoe UI"/>
                        </a:rPr>
                        <a:t>vault_smart (Cena 2)</a:t>
                      </a:r>
                    </a:p>
                  </a:txBody>
                  <a:tcPr>
                    <a:solidFill>
                      <a:srgbClr val="0A2540"/>
                    </a:solidFill>
                  </a:tcPr>
                </a:tc>
                <a:extLst>
                  <a:ext uri="{0D108BD9-81ED-4DB2-BD59-A6C34878D82A}">
                    <a16:rowId xmlns:a16="http://schemas.microsoft.com/office/drawing/2014/main" val="10000"/>
                  </a:ext>
                </a:extLst>
              </a:tr>
              <a:tr h="457200">
                <a:tc>
                  <a:txBody>
                    <a:bodyPr/>
                    <a:lstStyle/>
                    <a:p>
                      <a:pPr algn="l"/>
                      <a:r>
                        <a:rPr sz="1100" b="0">
                          <a:solidFill>
                            <a:srgbClr val="0F172A"/>
                          </a:solidFill>
                          <a:latin typeface="Segoe UI"/>
                        </a:rPr>
                        <a:t>Nome da Ferramenta</a:t>
                      </a:r>
                    </a:p>
                  </a:txBody>
                  <a:tcPr>
                    <a:solidFill>
                      <a:srgbClr val="F8FAFC"/>
                    </a:solidFill>
                  </a:tcPr>
                </a:tc>
                <a:tc>
                  <a:txBody>
                    <a:bodyPr/>
                    <a:lstStyle/>
                    <a:p>
                      <a:pPr algn="ctr"/>
                      <a:r>
                        <a:rPr sz="1100" b="0">
                          <a:solidFill>
                            <a:srgbClr val="0F172A"/>
                          </a:solidFill>
                          <a:latin typeface="Segoe UI"/>
                        </a:rPr>
                        <a:t>read_vault</a:t>
                      </a:r>
                    </a:p>
                  </a:txBody>
                  <a:tcPr>
                    <a:solidFill>
                      <a:srgbClr val="F8FAFC"/>
                    </a:solidFill>
                  </a:tcPr>
                </a:tc>
                <a:tc>
                  <a:txBody>
                    <a:bodyPr/>
                    <a:lstStyle/>
                    <a:p>
                      <a:pPr algn="ctr"/>
                      <a:r>
                        <a:rPr sz="1100" b="0">
                          <a:solidFill>
                            <a:srgbClr val="0F172A"/>
                          </a:solidFill>
                          <a:latin typeface="Segoe UI"/>
                        </a:rPr>
                        <a:t>search_vault(query, top_k)</a:t>
                      </a:r>
                    </a:p>
                  </a:txBody>
                  <a:tcPr>
                    <a:solidFill>
                      <a:srgbClr val="F8FAFC"/>
                    </a:solidFill>
                  </a:tcPr>
                </a:tc>
                <a:extLst>
                  <a:ext uri="{0D108BD9-81ED-4DB2-BD59-A6C34878D82A}">
                    <a16:rowId xmlns:a16="http://schemas.microsoft.com/office/drawing/2014/main" val="10001"/>
                  </a:ext>
                </a:extLst>
              </a:tr>
              <a:tr h="457200">
                <a:tc>
                  <a:txBody>
                    <a:bodyPr/>
                    <a:lstStyle/>
                    <a:p>
                      <a:pPr algn="l"/>
                      <a:r>
                        <a:rPr sz="1100" b="0">
                          <a:solidFill>
                            <a:srgbClr val="0F172A"/>
                          </a:solidFill>
                          <a:latin typeface="Segoe UI"/>
                        </a:rPr>
                        <a:t>Mecanismo Interno</a:t>
                      </a:r>
                    </a:p>
                  </a:txBody>
                  <a:tcPr>
                    <a:solidFill>
                      <a:srgbClr val="FFFFFF"/>
                    </a:solidFill>
                  </a:tcPr>
                </a:tc>
                <a:tc>
                  <a:txBody>
                    <a:bodyPr/>
                    <a:lstStyle/>
                    <a:p>
                      <a:pPr algn="ctr"/>
                      <a:r>
                        <a:rPr sz="1100" b="0">
                          <a:solidFill>
                            <a:srgbClr val="0F172A"/>
                          </a:solidFill>
                          <a:latin typeface="Segoe UI"/>
                        </a:rPr>
                        <a:t>Concatenação crua</a:t>
                      </a:r>
                    </a:p>
                  </a:txBody>
                  <a:tcPr>
                    <a:solidFill>
                      <a:srgbClr val="FFFFFF"/>
                    </a:solidFill>
                  </a:tcPr>
                </a:tc>
                <a:tc>
                  <a:txBody>
                    <a:bodyPr/>
                    <a:lstStyle/>
                    <a:p>
                      <a:pPr algn="ctr"/>
                      <a:r>
                        <a:rPr sz="1100" b="0">
                          <a:solidFill>
                            <a:srgbClr val="0F172A"/>
                          </a:solidFill>
                          <a:latin typeface="Segoe UI"/>
                        </a:rPr>
                        <a:t>Embeddings + Busca Vetorial</a:t>
                      </a:r>
                    </a:p>
                  </a:txBody>
                  <a:tcPr>
                    <a:solidFill>
                      <a:srgbClr val="FFFFFF"/>
                    </a:solidFill>
                  </a:tcPr>
                </a:tc>
                <a:extLst>
                  <a:ext uri="{0D108BD9-81ED-4DB2-BD59-A6C34878D82A}">
                    <a16:rowId xmlns:a16="http://schemas.microsoft.com/office/drawing/2014/main" val="10002"/>
                  </a:ext>
                </a:extLst>
              </a:tr>
              <a:tr h="457200">
                <a:tc>
                  <a:txBody>
                    <a:bodyPr/>
                    <a:lstStyle/>
                    <a:p>
                      <a:pPr algn="l"/>
                      <a:r>
                        <a:rPr sz="1100" b="0">
                          <a:solidFill>
                            <a:srgbClr val="0F172A"/>
                          </a:solidFill>
                          <a:latin typeface="Segoe UI"/>
                        </a:rPr>
                        <a:t>Armazenamento</a:t>
                      </a:r>
                    </a:p>
                  </a:txBody>
                  <a:tcPr>
                    <a:solidFill>
                      <a:srgbClr val="F8FAFC"/>
                    </a:solidFill>
                  </a:tcPr>
                </a:tc>
                <a:tc>
                  <a:txBody>
                    <a:bodyPr/>
                    <a:lstStyle/>
                    <a:p>
                      <a:pPr algn="ctr"/>
                      <a:r>
                        <a:rPr sz="1100" b="0">
                          <a:solidFill>
                            <a:srgbClr val="0F172A"/>
                          </a:solidFill>
                          <a:latin typeface="Segoe UI"/>
                        </a:rPr>
                        <a:t>Memória volátil simples</a:t>
                      </a:r>
                    </a:p>
                  </a:txBody>
                  <a:tcPr>
                    <a:solidFill>
                      <a:srgbClr val="F8FAFC"/>
                    </a:solidFill>
                  </a:tcPr>
                </a:tc>
                <a:tc>
                  <a:txBody>
                    <a:bodyPr/>
                    <a:lstStyle/>
                    <a:p>
                      <a:pPr algn="ctr"/>
                      <a:r>
                        <a:rPr sz="1100" b="0">
                          <a:solidFill>
                            <a:srgbClr val="0F172A"/>
                          </a:solidFill>
                          <a:latin typeface="Segoe UI"/>
                        </a:rPr>
                        <a:t>DuckDB em RAM + Índice HNSW</a:t>
                      </a:r>
                    </a:p>
                  </a:txBody>
                  <a:tcPr>
                    <a:solidFill>
                      <a:srgbClr val="F8FAFC"/>
                    </a:solidFill>
                  </a:tcPr>
                </a:tc>
                <a:extLst>
                  <a:ext uri="{0D108BD9-81ED-4DB2-BD59-A6C34878D82A}">
                    <a16:rowId xmlns:a16="http://schemas.microsoft.com/office/drawing/2014/main" val="10003"/>
                  </a:ext>
                </a:extLst>
              </a:tr>
              <a:tr h="457200">
                <a:tc>
                  <a:txBody>
                    <a:bodyPr/>
                    <a:lstStyle/>
                    <a:p>
                      <a:pPr algn="l"/>
                      <a:r>
                        <a:rPr sz="1100" b="0">
                          <a:solidFill>
                            <a:srgbClr val="0F172A"/>
                          </a:solidFill>
                          <a:latin typeface="Segoe UI"/>
                        </a:rPr>
                        <a:t>Preparação no Boot</a:t>
                      </a:r>
                    </a:p>
                  </a:txBody>
                  <a:tcPr>
                    <a:solidFill>
                      <a:srgbClr val="FFFFFF"/>
                    </a:solidFill>
                  </a:tcPr>
                </a:tc>
                <a:tc>
                  <a:txBody>
                    <a:bodyPr/>
                    <a:lstStyle/>
                    <a:p>
                      <a:pPr algn="ctr"/>
                      <a:r>
                        <a:rPr sz="1100" b="0">
                          <a:solidFill>
                            <a:srgbClr val="0F172A"/>
                          </a:solidFill>
                          <a:latin typeface="Segoe UI"/>
                        </a:rPr>
                        <a:t>Nenhuma</a:t>
                      </a:r>
                    </a:p>
                  </a:txBody>
                  <a:tcPr>
                    <a:solidFill>
                      <a:srgbClr val="FFFFFF"/>
                    </a:solidFill>
                  </a:tcPr>
                </a:tc>
                <a:tc>
                  <a:txBody>
                    <a:bodyPr/>
                    <a:lstStyle/>
                    <a:p>
                      <a:pPr algn="ctr"/>
                      <a:r>
                        <a:rPr sz="1100" b="0">
                          <a:solidFill>
                            <a:srgbClr val="0F172A"/>
                          </a:solidFill>
                          <a:latin typeface="Segoe UI"/>
                        </a:rPr>
                        <a:t>Mapeamento semântico no startup</a:t>
                      </a:r>
                    </a:p>
                  </a:txBody>
                  <a:tcPr>
                    <a:solidFill>
                      <a:srgbClr val="FFFFFF"/>
                    </a:solidFill>
                  </a:tcPr>
                </a:tc>
                <a:extLst>
                  <a:ext uri="{0D108BD9-81ED-4DB2-BD59-A6C34878D82A}">
                    <a16:rowId xmlns:a16="http://schemas.microsoft.com/office/drawing/2014/main" val="10004"/>
                  </a:ext>
                </a:extLst>
              </a:tr>
              <a:tr h="457200">
                <a:tc>
                  <a:txBody>
                    <a:bodyPr/>
                    <a:lstStyle/>
                    <a:p>
                      <a:pPr algn="l"/>
                      <a:r>
                        <a:rPr sz="1100" b="0">
                          <a:solidFill>
                            <a:srgbClr val="0F172A"/>
                          </a:solidFill>
                          <a:latin typeface="Segoe UI"/>
                        </a:rPr>
                        <a:t>Tokens Consumidos</a:t>
                      </a:r>
                    </a:p>
                  </a:txBody>
                  <a:tcPr>
                    <a:solidFill>
                      <a:srgbClr val="F8FAFC"/>
                    </a:solidFill>
                  </a:tcPr>
                </a:tc>
                <a:tc>
                  <a:txBody>
                    <a:bodyPr/>
                    <a:lstStyle/>
                    <a:p>
                      <a:pPr algn="ctr"/>
                      <a:r>
                        <a:rPr sz="1100" b="0">
                          <a:solidFill>
                            <a:srgbClr val="0F172A"/>
                          </a:solidFill>
                          <a:latin typeface="Segoe UI"/>
                        </a:rPr>
                        <a:t>~47.000 tokens (alto custo)</a:t>
                      </a:r>
                    </a:p>
                  </a:txBody>
                  <a:tcPr>
                    <a:solidFill>
                      <a:srgbClr val="F8FAFC"/>
                    </a:solidFill>
                  </a:tcPr>
                </a:tc>
                <a:tc>
                  <a:txBody>
                    <a:bodyPr/>
                    <a:lstStyle/>
                    <a:p>
                      <a:pPr algn="ctr"/>
                      <a:r>
                        <a:rPr sz="1100" b="0">
                          <a:solidFill>
                            <a:srgbClr val="0F172A"/>
                          </a:solidFill>
                          <a:latin typeface="Segoe UI"/>
                        </a:rPr>
                        <a:t>~4.000 tokens (alta otimização)</a:t>
                      </a:r>
                    </a:p>
                  </a:txBody>
                  <a:tcPr>
                    <a:solidFill>
                      <a:srgbClr val="F8FAFC"/>
                    </a:solidFill>
                  </a:tcPr>
                </a:tc>
                <a:extLst>
                  <a:ext uri="{0D108BD9-81ED-4DB2-BD59-A6C34878D82A}">
                    <a16:rowId xmlns:a16="http://schemas.microsoft.com/office/drawing/2014/main" val="10005"/>
                  </a:ext>
                </a:extLst>
              </a:tr>
              <a:tr h="457200">
                <a:tc>
                  <a:txBody>
                    <a:bodyPr/>
                    <a:lstStyle/>
                    <a:p>
                      <a:pPr algn="l"/>
                      <a:r>
                        <a:rPr sz="1100" b="0">
                          <a:solidFill>
                            <a:srgbClr val="0F172A"/>
                          </a:solidFill>
                          <a:latin typeface="Segoe UI"/>
                        </a:rPr>
                        <a:t>Complexidade de Código</a:t>
                      </a:r>
                    </a:p>
                  </a:txBody>
                  <a:tcPr>
                    <a:solidFill>
                      <a:srgbClr val="FFFFFF"/>
                    </a:solidFill>
                  </a:tcPr>
                </a:tc>
                <a:tc>
                  <a:txBody>
                    <a:bodyPr/>
                    <a:lstStyle/>
                    <a:p>
                      <a:pPr algn="ctr"/>
                      <a:r>
                        <a:rPr sz="1100" b="0">
                          <a:solidFill>
                            <a:srgbClr val="0F172A"/>
                          </a:solidFill>
                          <a:latin typeface="Segoe UI"/>
                        </a:rPr>
                        <a:t>Mínima (~20 linhas Go)</a:t>
                      </a:r>
                    </a:p>
                  </a:txBody>
                  <a:tcPr>
                    <a:solidFill>
                      <a:srgbClr val="FFFFFF"/>
                    </a:solidFill>
                  </a:tcPr>
                </a:tc>
                <a:tc>
                  <a:txBody>
                    <a:bodyPr/>
                    <a:lstStyle/>
                    <a:p>
                      <a:pPr algn="ctr"/>
                      <a:r>
                        <a:rPr sz="1100" b="0">
                          <a:solidFill>
                            <a:srgbClr val="0F172A"/>
                          </a:solidFill>
                          <a:latin typeface="Segoe UI"/>
                        </a:rPr>
                        <a:t>Moderada (~80 linhas Go)</a:t>
                      </a:r>
                    </a:p>
                  </a:txBody>
                  <a:tcP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852160" y="731520"/>
            <a:ext cx="5943600" cy="5029200"/>
          </a:xfrm>
          <a:prstGeom prst="rect">
            <a:avLst/>
          </a:prstGeom>
          <a:noFill/>
        </p:spPr>
        <p:txBody>
          <a:bodyPr wrap="square" lIns="0" tIns="0" rIns="0" bIns="0">
            <a:spAutoFit/>
          </a:bodyPr>
          <a:lstStyle/>
          <a:p>
            <a:pPr algn="r">
              <a:defRPr sz="18000" b="1">
                <a:solidFill>
                  <a:srgbClr val="133459"/>
                </a:solidFill>
                <a:latin typeface="Segoe UI"/>
              </a:defRPr>
            </a:pPr>
            <a:r>
              <a:t>04</a:t>
            </a:r>
          </a:p>
        </p:txBody>
      </p:sp>
      <p:sp>
        <p:nvSpPr>
          <p:cNvPr id="3" name="TextBox 2"/>
          <p:cNvSpPr txBox="1"/>
          <p:nvPr/>
        </p:nvSpPr>
        <p:spPr>
          <a:xfrm>
            <a:off x="1005840" y="2011680"/>
            <a:ext cx="6858000" cy="3657600"/>
          </a:xfrm>
          <a:prstGeom prst="rect">
            <a:avLst/>
          </a:prstGeom>
          <a:noFill/>
        </p:spPr>
        <p:txBody>
          <a:bodyPr wrap="square" lIns="0" tIns="0" rIns="0" bIns="0">
            <a:spAutoFit/>
          </a:bodyPr>
          <a:lstStyle/>
          <a:p>
            <a:pPr>
              <a:spcAft>
                <a:spcPts val="1200"/>
              </a:spcAft>
              <a:defRPr sz="1100" b="1">
                <a:solidFill>
                  <a:srgbClr val="00D2FF"/>
                </a:solidFill>
                <a:latin typeface="Segoe UI"/>
              </a:defRPr>
            </a:pPr>
            <a:r>
              <a:t>CONTEÚDO DA APRESENTAÇÃO  ·  CAPÍTULO 04</a:t>
            </a:r>
          </a:p>
          <a:p>
            <a:pPr>
              <a:spcAft>
                <a:spcPts val="1500"/>
              </a:spcAft>
              <a:defRPr sz="3600" b="1">
                <a:solidFill>
                  <a:srgbClr val="FFFFFF"/>
                </a:solidFill>
                <a:latin typeface="Segoe UI"/>
              </a:defRPr>
            </a:pPr>
            <a:r>
              <a:t>A PROVA REAL: DEMOS</a:t>
            </a:r>
          </a:p>
          <a:p>
            <a:pPr>
              <a:spcBef>
                <a:spcPts val="1500"/>
              </a:spcBef>
              <a:defRPr sz="1500">
                <a:solidFill>
                  <a:srgbClr val="94A3B8"/>
                </a:solidFill>
                <a:latin typeface="Segoe UI"/>
              </a:defRPr>
            </a:pPr>
            <a:r>
              <a:t>Cena 1 (nuvem + dumb) contra Cena 2 (local + smart) ao vivo na tela</a:t>
            </a:r>
          </a:p>
        </p:txBody>
      </p:sp>
      <p:sp>
        <p:nvSpPr>
          <p:cNvPr id="4" name="Rectangle 3"/>
          <p:cNvSpPr/>
          <p:nvPr/>
        </p:nvSpPr>
        <p:spPr>
          <a:xfrm>
            <a:off x="1005840" y="3977639"/>
            <a:ext cx="1645920" cy="36576"/>
          </a:xfrm>
          <a:prstGeom prst="rect">
            <a:avLst/>
          </a:prstGeom>
          <a:solidFill>
            <a:srgbClr val="00D2FF"/>
          </a:solidFill>
          <a:ln>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A PROVA REAL - DEMOS</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Chegou a hora</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31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Cenários idênticos — </a:t>
            </a:r>
            <a:r>
              <a:rPr b="0">
                <a:solidFill>
                  <a:srgbClr val="475569"/>
                </a:solidFill>
              </a:rPr>
              <a:t>mesmo agente Cline, mesma pergunta disparada pelo prompt</a:t>
            </a:r>
          </a:p>
          <a:p>
            <a:pPr>
              <a:lnSpc>
                <a:spcPct val="125000"/>
              </a:lnSpc>
              <a:spcBef>
                <a:spcPts val="800"/>
              </a:spcBef>
              <a:spcAft>
                <a:spcPts val="1000"/>
              </a:spcAft>
              <a:defRPr sz="1300">
                <a:latin typeface="Segoe UI"/>
              </a:defRPr>
            </a:pPr>
            <a:r>
              <a:rPr b="1">
                <a:solidFill>
                  <a:srgbClr val="006FE6"/>
                </a:solidFill>
              </a:rPr>
              <a:t>Abordagens antagônicas — </a:t>
            </a:r>
            <a:r>
              <a:rPr b="0">
                <a:solidFill>
                  <a:srgbClr val="475569"/>
                </a:solidFill>
              </a:rPr>
              <a:t>busca semântica inteligente contra dump de dados massivos</a:t>
            </a:r>
          </a:p>
          <a:p>
            <a:pPr>
              <a:lnSpc>
                <a:spcPct val="125000"/>
              </a:lnSpc>
              <a:spcBef>
                <a:spcPts val="800"/>
              </a:spcBef>
              <a:spcAft>
                <a:spcPts val="1000"/>
              </a:spcAft>
              <a:defRPr sz="1300">
                <a:latin typeface="Segoe UI"/>
              </a:defRPr>
            </a:pPr>
            <a:r>
              <a:rPr b="1">
                <a:solidFill>
                  <a:srgbClr val="006FE6"/>
                </a:solidFill>
              </a:rPr>
              <a:t>Dois ambientes de testes de custos — </a:t>
            </a:r>
            <a:r>
              <a:rPr b="0">
                <a:solidFill>
                  <a:srgbClr val="475569"/>
                </a:solidFill>
              </a:rPr>
              <a:t>Cena 1 (Nuvem paga) vs Cena 2 (Kronk local)</a:t>
            </a:r>
          </a:p>
          <a:p>
            <a:pPr>
              <a:lnSpc>
                <a:spcPct val="125000"/>
              </a:lnSpc>
              <a:spcBef>
                <a:spcPts val="800"/>
              </a:spcBef>
              <a:spcAft>
                <a:spcPts val="1000"/>
              </a:spcAft>
              <a:defRPr sz="1300">
                <a:latin typeface="Segoe UI"/>
              </a:defRPr>
            </a:pPr>
            <a:r>
              <a:rPr b="1">
                <a:solidFill>
                  <a:srgbClr val="006FE6"/>
                </a:solidFill>
              </a:rPr>
              <a:t>Visualização direta — </a:t>
            </a:r>
            <a:r>
              <a:rPr b="0">
                <a:solidFill>
                  <a:srgbClr val="475569"/>
                </a:solidFill>
              </a:rPr>
              <a:t>acompanhe os contadores integrados de tokens e custos na UI</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A PROVA REAL - DEMOS</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Apresentando a Cena 1</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32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Backend do Provedor — </a:t>
            </a:r>
            <a:r>
              <a:rPr b="0">
                <a:solidFill>
                  <a:srgbClr val="475569"/>
                </a:solidFill>
              </a:rPr>
              <a:t>API de nuvem comercial do parceiro integrada com créditos de uso</a:t>
            </a:r>
          </a:p>
          <a:p>
            <a:pPr>
              <a:lnSpc>
                <a:spcPct val="125000"/>
              </a:lnSpc>
              <a:spcBef>
                <a:spcPts val="800"/>
              </a:spcBef>
              <a:spcAft>
                <a:spcPts val="1000"/>
              </a:spcAft>
              <a:defRPr sz="1300">
                <a:latin typeface="Segoe UI"/>
              </a:defRPr>
            </a:pPr>
            <a:r>
              <a:rPr b="1">
                <a:solidFill>
                  <a:srgbClr val="006FE6"/>
                </a:solidFill>
              </a:rPr>
              <a:t>Servidor MCP ativo — </a:t>
            </a:r>
            <a:r>
              <a:rPr b="0">
                <a:solidFill>
                  <a:srgbClr val="475569"/>
                </a:solidFill>
              </a:rPr>
              <a:t>vault_dumb escutando na porta local :9001</a:t>
            </a:r>
          </a:p>
          <a:p>
            <a:pPr>
              <a:lnSpc>
                <a:spcPct val="125000"/>
              </a:lnSpc>
              <a:spcBef>
                <a:spcPts val="800"/>
              </a:spcBef>
              <a:spcAft>
                <a:spcPts val="1000"/>
              </a:spcAft>
              <a:defRPr sz="1300">
                <a:latin typeface="Segoe UI"/>
              </a:defRPr>
            </a:pPr>
            <a:r>
              <a:rPr b="1">
                <a:solidFill>
                  <a:srgbClr val="006FE6"/>
                </a:solidFill>
              </a:rPr>
              <a:t>Preparação dos contadores — </a:t>
            </a:r>
            <a:r>
              <a:rPr b="0">
                <a:solidFill>
                  <a:srgbClr val="475569"/>
                </a:solidFill>
              </a:rPr>
              <a:t>zerados para garantir transparência na medição dos gastos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A PROVA REAL - DEMOS</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Cena 1 ao vivo  [DEMO]</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33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O prompt de comando — </a:t>
            </a:r>
            <a:r>
              <a:rPr b="0">
                <a:solidFill>
                  <a:srgbClr val="475569"/>
                </a:solidFill>
              </a:rPr>
              <a:t>'Leia a TASK-001 no vault do Obsidian e resolva o problema de concorrência'</a:t>
            </a:r>
          </a:p>
          <a:p>
            <a:pPr>
              <a:lnSpc>
                <a:spcPct val="125000"/>
              </a:lnSpc>
              <a:spcBef>
                <a:spcPts val="800"/>
              </a:spcBef>
              <a:spcAft>
                <a:spcPts val="1000"/>
              </a:spcAft>
              <a:defRPr sz="1300">
                <a:latin typeface="Segoe UI"/>
              </a:defRPr>
            </a:pPr>
            <a:r>
              <a:rPr b="1">
                <a:solidFill>
                  <a:srgbClr val="006FE6"/>
                </a:solidFill>
              </a:rPr>
              <a:t>Decisão autônoma — </a:t>
            </a:r>
            <a:r>
              <a:rPr b="0">
                <a:solidFill>
                  <a:srgbClr val="475569"/>
                </a:solidFill>
              </a:rPr>
              <a:t>o agente escolhe chamar read_vault (única ferramenta disponível)</a:t>
            </a:r>
          </a:p>
          <a:p>
            <a:pPr>
              <a:lnSpc>
                <a:spcPct val="125000"/>
              </a:lnSpc>
              <a:spcBef>
                <a:spcPts val="800"/>
              </a:spcBef>
              <a:spcAft>
                <a:spcPts val="1000"/>
              </a:spcAft>
              <a:defRPr sz="1300">
                <a:latin typeface="Segoe UI"/>
              </a:defRPr>
            </a:pPr>
            <a:r>
              <a:rPr b="1">
                <a:solidFill>
                  <a:srgbClr val="006FE6"/>
                </a:solidFill>
              </a:rPr>
              <a:t>Volume de processamento — </a:t>
            </a:r>
            <a:r>
              <a:rPr b="0">
                <a:solidFill>
                  <a:srgbClr val="475569"/>
                </a:solidFill>
              </a:rPr>
              <a:t>observe a subida massiva do contador de tokens e custo disparando na tela</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A PROVA REAL - DEMOS</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Métricas de Consumo: Cena 1</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34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Controle de custos reais — </a:t>
            </a:r>
            <a:r>
              <a:rPr b="0">
                <a:solidFill>
                  <a:srgbClr val="475569"/>
                </a:solidFill>
              </a:rPr>
              <a:t>exibição direta do consumo financeiro e de volume medidos no terminal</a:t>
            </a:r>
          </a:p>
          <a:p>
            <a:pPr>
              <a:lnSpc>
                <a:spcPct val="125000"/>
              </a:lnSpc>
              <a:spcBef>
                <a:spcPts val="800"/>
              </a:spcBef>
              <a:spcAft>
                <a:spcPts val="1000"/>
              </a:spcAft>
              <a:defRPr sz="1300">
                <a:latin typeface="Segoe UI"/>
              </a:defRPr>
            </a:pPr>
            <a:r>
              <a:rPr b="1">
                <a:solidFill>
                  <a:srgbClr val="006FE6"/>
                </a:solidFill>
              </a:rPr>
              <a:t>O impacto do desperdício — </a:t>
            </a:r>
            <a:r>
              <a:rPr b="0">
                <a:solidFill>
                  <a:srgbClr val="475569"/>
                </a:solidFill>
              </a:rPr>
              <a:t>volume expressivo de tokens consumidos apenas na coleta do contexto</a:t>
            </a:r>
          </a:p>
          <a:p>
            <a:pPr>
              <a:lnSpc>
                <a:spcPct val="125000"/>
              </a:lnSpc>
              <a:spcBef>
                <a:spcPts val="800"/>
              </a:spcBef>
              <a:spcAft>
                <a:spcPts val="1000"/>
              </a:spcAft>
              <a:defRPr sz="1300">
                <a:latin typeface="Segoe UI"/>
              </a:defRPr>
            </a:pPr>
            <a:r>
              <a:rPr b="1">
                <a:solidFill>
                  <a:srgbClr val="006FE6"/>
                </a:solidFill>
              </a:rPr>
              <a:t>Análise do gargalo — </a:t>
            </a:r>
            <a:r>
              <a:rPr b="0">
                <a:solidFill>
                  <a:srgbClr val="475569"/>
                </a:solidFill>
              </a:rPr>
              <a:t>a simplicidade de código do dumb mcp penaliza financeiramente o negócio</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A PROVA REAL - DEMOS</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Apresentando a Cena 2</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35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Infraestrutura de inferência — </a:t>
            </a:r>
            <a:r>
              <a:rPr b="0">
                <a:solidFill>
                  <a:srgbClr val="475569"/>
                </a:solidFill>
              </a:rPr>
              <a:t>Kronk rodando localmente na máquina do desenvolvedor (:11435)</a:t>
            </a:r>
          </a:p>
          <a:p>
            <a:pPr>
              <a:lnSpc>
                <a:spcPct val="125000"/>
              </a:lnSpc>
              <a:spcBef>
                <a:spcPts val="800"/>
              </a:spcBef>
              <a:spcAft>
                <a:spcPts val="1000"/>
              </a:spcAft>
              <a:defRPr sz="1300">
                <a:latin typeface="Segoe UI"/>
              </a:defRPr>
            </a:pPr>
            <a:r>
              <a:rPr b="1">
                <a:solidFill>
                  <a:srgbClr val="006FE6"/>
                </a:solidFill>
              </a:rPr>
              <a:t>Servidor MCP ativo — </a:t>
            </a:r>
            <a:r>
              <a:rPr b="0">
                <a:solidFill>
                  <a:srgbClr val="475569"/>
                </a:solidFill>
              </a:rPr>
              <a:t>vault_smart habilitado de forma exclusiva na porta local :9002</a:t>
            </a:r>
          </a:p>
          <a:p>
            <a:pPr>
              <a:lnSpc>
                <a:spcPct val="125000"/>
              </a:lnSpc>
              <a:spcBef>
                <a:spcPts val="800"/>
              </a:spcBef>
              <a:spcAft>
                <a:spcPts val="1000"/>
              </a:spcAft>
              <a:defRPr sz="1300">
                <a:latin typeface="Segoe UI"/>
              </a:defRPr>
            </a:pPr>
            <a:r>
              <a:rPr b="1">
                <a:solidFill>
                  <a:srgbClr val="006FE6"/>
                </a:solidFill>
              </a:rPr>
              <a:t>Simetria de teste — </a:t>
            </a:r>
            <a:r>
              <a:rPr b="0">
                <a:solidFill>
                  <a:srgbClr val="475569"/>
                </a:solidFill>
              </a:rPr>
              <a:t>mesmo prompt textual colado exatamente de forma idêntica</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A PROVA REAL - DEMOS</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Cena 2 ao vivo  [DEMO]</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36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Início do fluxo — </a:t>
            </a:r>
            <a:r>
              <a:rPr b="0">
                <a:solidFill>
                  <a:srgbClr val="475569"/>
                </a:solidFill>
              </a:rPr>
              <a:t>envio do prompt idêntico sem acesso de rede externa</a:t>
            </a:r>
          </a:p>
          <a:p>
            <a:pPr>
              <a:lnSpc>
                <a:spcPct val="125000"/>
              </a:lnSpc>
              <a:spcBef>
                <a:spcPts val="800"/>
              </a:spcBef>
              <a:spcAft>
                <a:spcPts val="1000"/>
              </a:spcAft>
              <a:defRPr sz="1300">
                <a:latin typeface="Segoe UI"/>
              </a:defRPr>
            </a:pPr>
            <a:r>
              <a:rPr b="1">
                <a:solidFill>
                  <a:srgbClr val="006FE6"/>
                </a:solidFill>
              </a:rPr>
              <a:t>Chamada qualificada — </a:t>
            </a:r>
            <a:r>
              <a:rPr b="0">
                <a:solidFill>
                  <a:srgbClr val="475569"/>
                </a:solidFill>
              </a:rPr>
              <a:t>agente Cline decide consultar a ferramenta search_vault</a:t>
            </a:r>
          </a:p>
          <a:p>
            <a:pPr>
              <a:lnSpc>
                <a:spcPct val="125000"/>
              </a:lnSpc>
              <a:spcBef>
                <a:spcPts val="800"/>
              </a:spcBef>
              <a:spcAft>
                <a:spcPts val="1000"/>
              </a:spcAft>
              <a:defRPr sz="1300">
                <a:latin typeface="Segoe UI"/>
              </a:defRPr>
            </a:pPr>
            <a:r>
              <a:rPr b="1">
                <a:solidFill>
                  <a:srgbClr val="006FE6"/>
                </a:solidFill>
              </a:rPr>
              <a:t>Processamento cirúrgico — </a:t>
            </a:r>
            <a:r>
              <a:rPr b="0">
                <a:solidFill>
                  <a:srgbClr val="475569"/>
                </a:solidFill>
              </a:rPr>
              <a:t>o modelo local recebe apenas os 3 documentos com semântica compatível</a:t>
            </a:r>
          </a:p>
          <a:p>
            <a:pPr>
              <a:lnSpc>
                <a:spcPct val="125000"/>
              </a:lnSpc>
              <a:spcBef>
                <a:spcPts val="800"/>
              </a:spcBef>
              <a:spcAft>
                <a:spcPts val="1000"/>
              </a:spcAft>
              <a:defRPr sz="1300">
                <a:latin typeface="Segoe UI"/>
              </a:defRPr>
            </a:pPr>
            <a:r>
              <a:rPr b="1">
                <a:solidFill>
                  <a:srgbClr val="006FE6"/>
                </a:solidFill>
              </a:rPr>
              <a:t>Custo financeiro absoluto — </a:t>
            </a:r>
            <a:r>
              <a:rPr b="0">
                <a:solidFill>
                  <a:srgbClr val="475569"/>
                </a:solidFill>
              </a:rPr>
              <a:t>zero dólares e zero centavos consumidos rodando de forma local-first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A PROVA REAL - DEMOS</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Comparativo Consolidado: Cena 1 vs Cena 2</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37 / 38</a:t>
            </a:r>
          </a:p>
        </p:txBody>
      </p:sp>
      <p:graphicFrame>
        <p:nvGraphicFramePr>
          <p:cNvPr id="8" name="Table 7"/>
          <p:cNvGraphicFramePr>
            <a:graphicFrameLocks noGrp="1"/>
          </p:cNvGraphicFramePr>
          <p:nvPr/>
        </p:nvGraphicFramePr>
        <p:xfrm>
          <a:off x="548640" y="1737360"/>
          <a:ext cx="11094415" cy="2743200"/>
        </p:xfrm>
        <a:graphic>
          <a:graphicData uri="http://schemas.openxmlformats.org/drawingml/2006/table">
            <a:tbl>
              <a:tblPr firstRow="1" bandRow="1">
                <a:tableStyleId>{5C22544A-7EE6-4342-B048-85BDC9FD1C3A}</a:tableStyleId>
              </a:tblPr>
              <a:tblGrid>
                <a:gridCol w="3698138">
                  <a:extLst>
                    <a:ext uri="{9D8B030D-6E8A-4147-A177-3AD203B41FA5}">
                      <a16:colId xmlns:a16="http://schemas.microsoft.com/office/drawing/2014/main" val="20000"/>
                    </a:ext>
                  </a:extLst>
                </a:gridCol>
                <a:gridCol w="3698138">
                  <a:extLst>
                    <a:ext uri="{9D8B030D-6E8A-4147-A177-3AD203B41FA5}">
                      <a16:colId xmlns:a16="http://schemas.microsoft.com/office/drawing/2014/main" val="20001"/>
                    </a:ext>
                  </a:extLst>
                </a:gridCol>
                <a:gridCol w="3698139">
                  <a:extLst>
                    <a:ext uri="{9D8B030D-6E8A-4147-A177-3AD203B41FA5}">
                      <a16:colId xmlns:a16="http://schemas.microsoft.com/office/drawing/2014/main" val="20002"/>
                    </a:ext>
                  </a:extLst>
                </a:gridCol>
              </a:tblGrid>
              <a:tr h="457200">
                <a:tc>
                  <a:txBody>
                    <a:bodyPr/>
                    <a:lstStyle/>
                    <a:p>
                      <a:pPr algn="l"/>
                      <a:r>
                        <a:rPr sz="1200" b="1">
                          <a:solidFill>
                            <a:srgbClr val="00D2FF"/>
                          </a:solidFill>
                          <a:latin typeface="Segoe UI"/>
                        </a:rPr>
                        <a:t>Comparativo</a:t>
                      </a:r>
                    </a:p>
                  </a:txBody>
                  <a:tcPr>
                    <a:solidFill>
                      <a:srgbClr val="0A2540"/>
                    </a:solidFill>
                  </a:tcPr>
                </a:tc>
                <a:tc>
                  <a:txBody>
                    <a:bodyPr/>
                    <a:lstStyle/>
                    <a:p>
                      <a:pPr algn="ctr"/>
                      <a:r>
                        <a:rPr sz="1200" b="1">
                          <a:solidFill>
                            <a:srgbClr val="00D2FF"/>
                          </a:solidFill>
                          <a:latin typeface="Segoe UI"/>
                        </a:rPr>
                        <a:t>Cena 1 (Nuvem + Dumb MCP)</a:t>
                      </a:r>
                    </a:p>
                  </a:txBody>
                  <a:tcPr>
                    <a:solidFill>
                      <a:srgbClr val="0A2540"/>
                    </a:solidFill>
                  </a:tcPr>
                </a:tc>
                <a:tc>
                  <a:txBody>
                    <a:bodyPr/>
                    <a:lstStyle/>
                    <a:p>
                      <a:pPr algn="ctr"/>
                      <a:r>
                        <a:rPr sz="1200" b="1">
                          <a:solidFill>
                            <a:srgbClr val="00D2FF"/>
                          </a:solidFill>
                          <a:latin typeface="Segoe UI"/>
                        </a:rPr>
                        <a:t>Cena 2 (Kronk + Smart MCP)</a:t>
                      </a:r>
                    </a:p>
                  </a:txBody>
                  <a:tcPr>
                    <a:solidFill>
                      <a:srgbClr val="0A2540"/>
                    </a:solidFill>
                  </a:tcPr>
                </a:tc>
                <a:extLst>
                  <a:ext uri="{0D108BD9-81ED-4DB2-BD59-A6C34878D82A}">
                    <a16:rowId xmlns:a16="http://schemas.microsoft.com/office/drawing/2014/main" val="10000"/>
                  </a:ext>
                </a:extLst>
              </a:tr>
              <a:tr h="457200">
                <a:tc>
                  <a:txBody>
                    <a:bodyPr/>
                    <a:lstStyle/>
                    <a:p>
                      <a:pPr algn="l"/>
                      <a:r>
                        <a:rPr sz="1100" b="0">
                          <a:solidFill>
                            <a:srgbClr val="0F172A"/>
                          </a:solidFill>
                          <a:latin typeface="Segoe UI"/>
                        </a:rPr>
                        <a:t>Tokens Consumidos</a:t>
                      </a:r>
                    </a:p>
                  </a:txBody>
                  <a:tcPr>
                    <a:solidFill>
                      <a:srgbClr val="F8FAFC"/>
                    </a:solidFill>
                  </a:tcPr>
                </a:tc>
                <a:tc>
                  <a:txBody>
                    <a:bodyPr/>
                    <a:lstStyle/>
                    <a:p>
                      <a:pPr algn="ctr"/>
                      <a:r>
                        <a:rPr sz="1100" b="0">
                          <a:solidFill>
                            <a:srgbClr val="0F172A"/>
                          </a:solidFill>
                          <a:latin typeface="Segoe UI"/>
                        </a:rPr>
                        <a:t>Massivo (~47.000 tokens)</a:t>
                      </a:r>
                    </a:p>
                  </a:txBody>
                  <a:tcPr>
                    <a:solidFill>
                      <a:srgbClr val="F8FAFC"/>
                    </a:solidFill>
                  </a:tcPr>
                </a:tc>
                <a:tc>
                  <a:txBody>
                    <a:bodyPr/>
                    <a:lstStyle/>
                    <a:p>
                      <a:pPr algn="ctr"/>
                      <a:r>
                        <a:rPr sz="1100" b="0">
                          <a:solidFill>
                            <a:srgbClr val="0F172A"/>
                          </a:solidFill>
                          <a:latin typeface="Segoe UI"/>
                        </a:rPr>
                        <a:t>Otimizado (~4.000 tokens)</a:t>
                      </a:r>
                    </a:p>
                  </a:txBody>
                  <a:tcPr>
                    <a:solidFill>
                      <a:srgbClr val="F8FAFC"/>
                    </a:solidFill>
                  </a:tcPr>
                </a:tc>
                <a:extLst>
                  <a:ext uri="{0D108BD9-81ED-4DB2-BD59-A6C34878D82A}">
                    <a16:rowId xmlns:a16="http://schemas.microsoft.com/office/drawing/2014/main" val="10001"/>
                  </a:ext>
                </a:extLst>
              </a:tr>
              <a:tr h="457200">
                <a:tc>
                  <a:txBody>
                    <a:bodyPr/>
                    <a:lstStyle/>
                    <a:p>
                      <a:pPr algn="l"/>
                      <a:r>
                        <a:rPr sz="1100" b="0">
                          <a:solidFill>
                            <a:srgbClr val="0F172A"/>
                          </a:solidFill>
                          <a:latin typeface="Segoe UI"/>
                        </a:rPr>
                        <a:t>Custo Financeiro</a:t>
                      </a:r>
                    </a:p>
                  </a:txBody>
                  <a:tcPr>
                    <a:solidFill>
                      <a:srgbClr val="FFFFFF"/>
                    </a:solidFill>
                  </a:tcPr>
                </a:tc>
                <a:tc>
                  <a:txBody>
                    <a:bodyPr/>
                    <a:lstStyle/>
                    <a:p>
                      <a:pPr algn="ctr"/>
                      <a:r>
                        <a:rPr sz="1100" b="0">
                          <a:solidFill>
                            <a:srgbClr val="0F172A"/>
                          </a:solidFill>
                          <a:latin typeface="Segoe UI"/>
                        </a:rPr>
                        <a:t>Cobrança real em dólares</a:t>
                      </a:r>
                    </a:p>
                  </a:txBody>
                  <a:tcPr>
                    <a:solidFill>
                      <a:srgbClr val="FFFFFF"/>
                    </a:solidFill>
                  </a:tcPr>
                </a:tc>
                <a:tc>
                  <a:txBody>
                    <a:bodyPr/>
                    <a:lstStyle/>
                    <a:p>
                      <a:pPr algn="ctr"/>
                      <a:r>
                        <a:rPr sz="1100" b="0">
                          <a:solidFill>
                            <a:srgbClr val="0F172A"/>
                          </a:solidFill>
                          <a:latin typeface="Segoe UI"/>
                        </a:rPr>
                        <a:t>$0.00 (Processamento local)</a:t>
                      </a:r>
                    </a:p>
                  </a:txBody>
                  <a:tcPr>
                    <a:solidFill>
                      <a:srgbClr val="FFFFFF"/>
                    </a:solidFill>
                  </a:tcPr>
                </a:tc>
                <a:extLst>
                  <a:ext uri="{0D108BD9-81ED-4DB2-BD59-A6C34878D82A}">
                    <a16:rowId xmlns:a16="http://schemas.microsoft.com/office/drawing/2014/main" val="10002"/>
                  </a:ext>
                </a:extLst>
              </a:tr>
              <a:tr h="457200">
                <a:tc>
                  <a:txBody>
                    <a:bodyPr/>
                    <a:lstStyle/>
                    <a:p>
                      <a:pPr algn="l"/>
                      <a:r>
                        <a:rPr sz="1100" b="0">
                          <a:solidFill>
                            <a:srgbClr val="0F172A"/>
                          </a:solidFill>
                          <a:latin typeface="Segoe UI"/>
                        </a:rPr>
                        <a:t>Privacidade de Dados</a:t>
                      </a:r>
                    </a:p>
                  </a:txBody>
                  <a:tcPr>
                    <a:solidFill>
                      <a:srgbClr val="F8FAFC"/>
                    </a:solidFill>
                  </a:tcPr>
                </a:tc>
                <a:tc>
                  <a:txBody>
                    <a:bodyPr/>
                    <a:lstStyle/>
                    <a:p>
                      <a:pPr algn="ctr"/>
                      <a:r>
                        <a:rPr sz="1100" b="0">
                          <a:solidFill>
                            <a:srgbClr val="0F172A"/>
                          </a:solidFill>
                          <a:latin typeface="Segoe UI"/>
                        </a:rPr>
                        <a:t>Código enviado para servidores externos</a:t>
                      </a:r>
                    </a:p>
                  </a:txBody>
                  <a:tcPr>
                    <a:solidFill>
                      <a:srgbClr val="F8FAFC"/>
                    </a:solidFill>
                  </a:tcPr>
                </a:tc>
                <a:tc>
                  <a:txBody>
                    <a:bodyPr/>
                    <a:lstStyle/>
                    <a:p>
                      <a:pPr algn="ctr"/>
                      <a:r>
                        <a:rPr sz="1100" b="0">
                          <a:solidFill>
                            <a:srgbClr val="0F172A"/>
                          </a:solidFill>
                          <a:latin typeface="Segoe UI"/>
                        </a:rPr>
                        <a:t>100% contido localmente nesta máquina</a:t>
                      </a:r>
                    </a:p>
                  </a:txBody>
                  <a:tcPr>
                    <a:solidFill>
                      <a:srgbClr val="F8FAFC"/>
                    </a:solidFill>
                  </a:tcPr>
                </a:tc>
                <a:extLst>
                  <a:ext uri="{0D108BD9-81ED-4DB2-BD59-A6C34878D82A}">
                    <a16:rowId xmlns:a16="http://schemas.microsoft.com/office/drawing/2014/main" val="10003"/>
                  </a:ext>
                </a:extLst>
              </a:tr>
              <a:tr h="457200">
                <a:tc>
                  <a:txBody>
                    <a:bodyPr/>
                    <a:lstStyle/>
                    <a:p>
                      <a:pPr algn="l"/>
                      <a:r>
                        <a:rPr sz="1100" b="0">
                          <a:solidFill>
                            <a:srgbClr val="0F172A"/>
                          </a:solidFill>
                          <a:latin typeface="Segoe UI"/>
                        </a:rPr>
                        <a:t>Necessidade de Rede</a:t>
                      </a:r>
                    </a:p>
                  </a:txBody>
                  <a:tcPr>
                    <a:solidFill>
                      <a:srgbClr val="FFFFFF"/>
                    </a:solidFill>
                  </a:tcPr>
                </a:tc>
                <a:tc>
                  <a:txBody>
                    <a:bodyPr/>
                    <a:lstStyle/>
                    <a:p>
                      <a:pPr algn="ctr"/>
                      <a:r>
                        <a:rPr sz="1100" b="0">
                          <a:solidFill>
                            <a:srgbClr val="0F172A"/>
                          </a:solidFill>
                          <a:latin typeface="Segoe UI"/>
                        </a:rPr>
                        <a:t>Acesso à internet obrigatório</a:t>
                      </a:r>
                    </a:p>
                  </a:txBody>
                  <a:tcPr>
                    <a:solidFill>
                      <a:srgbClr val="FFFFFF"/>
                    </a:solidFill>
                  </a:tcPr>
                </a:tc>
                <a:tc>
                  <a:txBody>
                    <a:bodyPr/>
                    <a:lstStyle/>
                    <a:p>
                      <a:pPr algn="ctr"/>
                      <a:r>
                        <a:rPr sz="1100" b="0">
                          <a:solidFill>
                            <a:srgbClr val="0F172A"/>
                          </a:solidFill>
                          <a:latin typeface="Segoe UI"/>
                        </a:rPr>
                        <a:t>Totalmente offline (Wi-Fi desativado)</a:t>
                      </a:r>
                    </a:p>
                  </a:txBody>
                  <a:tcPr>
                    <a:solidFill>
                      <a:srgbClr val="FFFFFF"/>
                    </a:solidFill>
                  </a:tcPr>
                </a:tc>
                <a:extLst>
                  <a:ext uri="{0D108BD9-81ED-4DB2-BD59-A6C34878D82A}">
                    <a16:rowId xmlns:a16="http://schemas.microsoft.com/office/drawing/2014/main" val="10004"/>
                  </a:ext>
                </a:extLst>
              </a:tr>
              <a:tr h="457200">
                <a:tc>
                  <a:txBody>
                    <a:bodyPr/>
                    <a:lstStyle/>
                    <a:p>
                      <a:pPr algn="l"/>
                      <a:r>
                        <a:rPr sz="1100" b="0">
                          <a:solidFill>
                            <a:srgbClr val="0F172A"/>
                          </a:solidFill>
                          <a:latin typeface="Segoe UI"/>
                        </a:rPr>
                        <a:t>Qualidade de Resposta</a:t>
                      </a:r>
                    </a:p>
                  </a:txBody>
                  <a:tcPr>
                    <a:solidFill>
                      <a:srgbClr val="F8FAFC"/>
                    </a:solidFill>
                  </a:tcPr>
                </a:tc>
                <a:tc>
                  <a:txBody>
                    <a:bodyPr/>
                    <a:lstStyle/>
                    <a:p>
                      <a:pPr algn="ctr"/>
                      <a:r>
                        <a:rPr sz="1100" b="0">
                          <a:solidFill>
                            <a:srgbClr val="0F172A"/>
                          </a:solidFill>
                          <a:latin typeface="Segoe UI"/>
                        </a:rPr>
                        <a:t>Modelo pode se dispersar no backlog</a:t>
                      </a:r>
                    </a:p>
                  </a:txBody>
                  <a:tcPr>
                    <a:solidFill>
                      <a:srgbClr val="F8FAFC"/>
                    </a:solidFill>
                  </a:tcPr>
                </a:tc>
                <a:tc>
                  <a:txBody>
                    <a:bodyPr/>
                    <a:lstStyle/>
                    <a:p>
                      <a:pPr algn="ctr"/>
                      <a:r>
                        <a:rPr sz="1100" b="0">
                          <a:solidFill>
                            <a:srgbClr val="0F172A"/>
                          </a:solidFill>
                          <a:latin typeface="Segoe UI"/>
                        </a:rPr>
                        <a:t>Foco absoluto no contexto cirúrgico</a:t>
                      </a:r>
                    </a:p>
                  </a:txBody>
                  <a:tcPr>
                    <a:solidFill>
                      <a:srgbClr val="F8FAFC"/>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852160" y="731520"/>
            <a:ext cx="5943600" cy="5029200"/>
          </a:xfrm>
          <a:prstGeom prst="rect">
            <a:avLst/>
          </a:prstGeom>
          <a:noFill/>
        </p:spPr>
        <p:txBody>
          <a:bodyPr wrap="square" lIns="0" tIns="0" rIns="0" bIns="0">
            <a:spAutoFit/>
          </a:bodyPr>
          <a:lstStyle/>
          <a:p>
            <a:pPr algn="r">
              <a:defRPr sz="18000" b="1">
                <a:solidFill>
                  <a:srgbClr val="133459"/>
                </a:solidFill>
                <a:latin typeface="Segoe UI"/>
              </a:defRPr>
            </a:pPr>
            <a:r>
              <a:t>05</a:t>
            </a:r>
          </a:p>
        </p:txBody>
      </p:sp>
      <p:sp>
        <p:nvSpPr>
          <p:cNvPr id="3" name="TextBox 2"/>
          <p:cNvSpPr txBox="1"/>
          <p:nvPr/>
        </p:nvSpPr>
        <p:spPr>
          <a:xfrm>
            <a:off x="1005840" y="2011680"/>
            <a:ext cx="6858000" cy="3657600"/>
          </a:xfrm>
          <a:prstGeom prst="rect">
            <a:avLst/>
          </a:prstGeom>
          <a:noFill/>
        </p:spPr>
        <p:txBody>
          <a:bodyPr wrap="square" lIns="0" tIns="0" rIns="0" bIns="0">
            <a:spAutoFit/>
          </a:bodyPr>
          <a:lstStyle/>
          <a:p>
            <a:pPr>
              <a:spcAft>
                <a:spcPts val="1200"/>
              </a:spcAft>
              <a:defRPr sz="1100" b="1">
                <a:solidFill>
                  <a:srgbClr val="00D2FF"/>
                </a:solidFill>
                <a:latin typeface="Segoe UI"/>
              </a:defRPr>
            </a:pPr>
            <a:r>
              <a:t>CONTEÚDO DA APRESENTAÇÃO  ·  CAPÍTULO 05</a:t>
            </a:r>
          </a:p>
          <a:p>
            <a:pPr>
              <a:spcAft>
                <a:spcPts val="1500"/>
              </a:spcAft>
              <a:defRPr sz="3600" b="1">
                <a:solidFill>
                  <a:srgbClr val="FFFFFF"/>
                </a:solidFill>
                <a:latin typeface="Segoe UI"/>
              </a:defRPr>
            </a:pPr>
            <a:r>
              <a:t>CONCLUINDO A JORNADA</a:t>
            </a:r>
          </a:p>
          <a:p>
            <a:pPr>
              <a:spcBef>
                <a:spcPts val="1500"/>
              </a:spcBef>
              <a:defRPr sz="1500">
                <a:solidFill>
                  <a:srgbClr val="94A3B8"/>
                </a:solidFill>
                <a:latin typeface="Segoe UI"/>
              </a:defRPr>
            </a:pPr>
            <a:r>
              <a:t>Key takeaways, caminhos de escala e o futuro do desenvolvedor Go</a:t>
            </a:r>
          </a:p>
        </p:txBody>
      </p:sp>
      <p:sp>
        <p:nvSpPr>
          <p:cNvPr id="4" name="Rectangle 3"/>
          <p:cNvSpPr/>
          <p:nvPr/>
        </p:nvSpPr>
        <p:spPr>
          <a:xfrm>
            <a:off x="1005840" y="3977639"/>
            <a:ext cx="1645920" cy="36576"/>
          </a:xfrm>
          <a:prstGeom prst="rect">
            <a:avLst/>
          </a:prstGeom>
          <a:solidFill>
            <a:srgbClr val="00D2FF"/>
          </a:solidFill>
          <a:ln>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228600"/>
          </a:xfrm>
          <a:prstGeom prst="rect">
            <a:avLst/>
          </a:prstGeom>
          <a:noFill/>
        </p:spPr>
        <p:txBody>
          <a:bodyPr wrap="square" lIns="0" tIns="0" rIns="0" bIns="0">
            <a:spAutoFit/>
          </a:bodyPr>
          <a:lstStyle/>
          <a:p>
            <a:pPr>
              <a:defRPr sz="900" b="1">
                <a:solidFill>
                  <a:srgbClr val="00D2FF"/>
                </a:solidFill>
                <a:latin typeface="Segoe UI"/>
              </a:defRPr>
            </a:pPr>
            <a:r>
              <a:t>FECHAMENTO DA TALK</a:t>
            </a:r>
          </a:p>
        </p:txBody>
      </p:sp>
      <p:sp>
        <p:nvSpPr>
          <p:cNvPr id="3" name="TextBox 2"/>
          <p:cNvSpPr txBox="1"/>
          <p:nvPr/>
        </p:nvSpPr>
        <p:spPr>
          <a:xfrm>
            <a:off x="548640" y="502920"/>
            <a:ext cx="10972800" cy="457200"/>
          </a:xfrm>
          <a:prstGeom prst="rect">
            <a:avLst/>
          </a:prstGeom>
          <a:noFill/>
        </p:spPr>
        <p:txBody>
          <a:bodyPr wrap="square" lIns="0" tIns="0" rIns="0" bIns="0">
            <a:spAutoFit/>
          </a:bodyPr>
          <a:lstStyle/>
          <a:p>
            <a:pPr>
              <a:defRPr sz="2200" b="1">
                <a:solidFill>
                  <a:srgbClr val="FFFFFF"/>
                </a:solidFill>
                <a:latin typeface="Segoe UI"/>
              </a:defRPr>
            </a:pPr>
            <a:r>
              <a:t>Fechamento</a:t>
            </a:r>
          </a:p>
        </p:txBody>
      </p:sp>
      <p:sp>
        <p:nvSpPr>
          <p:cNvPr id="4" name="Rectangle 3"/>
          <p:cNvSpPr/>
          <p:nvPr/>
        </p:nvSpPr>
        <p:spPr>
          <a:xfrm>
            <a:off x="548640" y="105156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6263640"/>
            <a:ext cx="11094415" cy="9144"/>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355080"/>
            <a:ext cx="5486400" cy="274320"/>
          </a:xfrm>
          <a:prstGeom prst="rect">
            <a:avLst/>
          </a:prstGeom>
          <a:noFill/>
        </p:spPr>
        <p:txBody>
          <a:bodyPr wrap="none" lIns="0" tIns="0" rIns="0" bIns="0">
            <a:spAutoFit/>
          </a:bodyPr>
          <a:lstStyle/>
          <a:p>
            <a:pPr>
              <a:defRPr sz="850">
                <a:solidFill>
                  <a:srgbClr val="94A3B8"/>
                </a:solidFill>
                <a:latin typeface="Segoe UI"/>
              </a:defRPr>
            </a:pPr>
            <a:r>
              <a:t>GolangSP 2026  |  IA sem Nuvem, em Golang</a:t>
            </a:r>
          </a:p>
        </p:txBody>
      </p:sp>
      <p:sp>
        <p:nvSpPr>
          <p:cNvPr id="7" name="TextBox 6"/>
          <p:cNvSpPr txBox="1"/>
          <p:nvPr/>
        </p:nvSpPr>
        <p:spPr>
          <a:xfrm>
            <a:off x="9144000" y="6355080"/>
            <a:ext cx="2499055" cy="274320"/>
          </a:xfrm>
          <a:prstGeom prst="rect">
            <a:avLst/>
          </a:prstGeom>
          <a:noFill/>
        </p:spPr>
        <p:txBody>
          <a:bodyPr wrap="none" lIns="0" tIns="0" rIns="0" bIns="0">
            <a:spAutoFit/>
          </a:bodyPr>
          <a:lstStyle/>
          <a:p>
            <a:pPr algn="r">
              <a:defRPr sz="850">
                <a:solidFill>
                  <a:srgbClr val="94A3B8"/>
                </a:solidFill>
                <a:latin typeface="Segoe UI"/>
              </a:defRPr>
            </a:pPr>
            <a:r>
              <a:t>38 / 38</a:t>
            </a:r>
          </a:p>
        </p:txBody>
      </p:sp>
      <p:sp>
        <p:nvSpPr>
          <p:cNvPr id="8" name="Rectangle 7"/>
          <p:cNvSpPr/>
          <p:nvPr/>
        </p:nvSpPr>
        <p:spPr>
          <a:xfrm>
            <a:off x="548640" y="1280160"/>
            <a:ext cx="11094415" cy="48463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45920"/>
            <a:ext cx="10271455" cy="4114800"/>
          </a:xfrm>
          <a:prstGeom prst="rect">
            <a:avLst/>
          </a:prstGeom>
          <a:noFill/>
        </p:spPr>
        <p:txBody>
          <a:bodyPr wrap="square" lIns="0" tIns="0" rIns="0" bIns="0">
            <a:spAutoFit/>
          </a:bodyPr>
          <a:lstStyle/>
          <a:p>
            <a:pPr>
              <a:lnSpc>
                <a:spcPct val="125000"/>
              </a:lnSpc>
              <a:spcAft>
                <a:spcPts val="1000"/>
              </a:spcAft>
              <a:defRPr sz="1300">
                <a:latin typeface="Segoe UI"/>
              </a:defRPr>
            </a:pPr>
            <a:r>
              <a:rPr b="1">
                <a:solidFill>
                  <a:srgbClr val="006FE6"/>
                </a:solidFill>
              </a:rPr>
              <a:t>Go como infraestrutura — </a:t>
            </a:r>
            <a:r>
              <a:rPr b="0">
                <a:solidFill>
                  <a:srgbClr val="475569"/>
                </a:solidFill>
              </a:rPr>
              <a:t>Go é de longe a linguagem mais recomendada para orquestrar dados de IA locais</a:t>
            </a:r>
          </a:p>
          <a:p>
            <a:pPr>
              <a:lnSpc>
                <a:spcPct val="125000"/>
              </a:lnSpc>
              <a:spcBef>
                <a:spcPts val="800"/>
              </a:spcBef>
              <a:spcAft>
                <a:spcPts val="1000"/>
              </a:spcAft>
              <a:defRPr sz="1300">
                <a:latin typeface="Segoe UI"/>
              </a:defRPr>
            </a:pPr>
            <a:r>
              <a:rPr b="1">
                <a:solidFill>
                  <a:srgbClr val="006FE6"/>
                </a:solidFill>
              </a:rPr>
              <a:t>Independência real — </a:t>
            </a:r>
            <a:r>
              <a:rPr b="0">
                <a:solidFill>
                  <a:srgbClr val="475569"/>
                </a:solidFill>
              </a:rPr>
              <a:t>construímos pipelines, embeddings e bancos vetoriais sem recorrer a pilhas externas</a:t>
            </a:r>
          </a:p>
          <a:p>
            <a:pPr>
              <a:lnSpc>
                <a:spcPct val="125000"/>
              </a:lnSpc>
              <a:spcBef>
                <a:spcPts val="800"/>
              </a:spcBef>
              <a:spcAft>
                <a:spcPts val="1000"/>
              </a:spcAft>
              <a:defRPr sz="1300">
                <a:latin typeface="Segoe UI"/>
              </a:defRPr>
            </a:pPr>
            <a:r>
              <a:rPr b="1">
                <a:solidFill>
                  <a:srgbClr val="006FE6"/>
                </a:solidFill>
              </a:rPr>
              <a:t>Código livre — </a:t>
            </a:r>
            <a:r>
              <a:rPr b="0">
                <a:solidFill>
                  <a:srgbClr val="475569"/>
                </a:solidFill>
              </a:rPr>
              <a:t>todos os testes, MCPs e este deck estão disponíveis em repositório público</a:t>
            </a:r>
          </a:p>
          <a:p>
            <a:pPr>
              <a:lnSpc>
                <a:spcPct val="125000"/>
              </a:lnSpc>
              <a:spcBef>
                <a:spcPts val="800"/>
              </a:spcBef>
              <a:spcAft>
                <a:spcPts val="1000"/>
              </a:spcAft>
              <a:defRPr sz="1300">
                <a:latin typeface="Segoe UI"/>
              </a:defRPr>
            </a:pPr>
            <a:r>
              <a:rPr b="1">
                <a:solidFill>
                  <a:srgbClr val="006FE6"/>
                </a:solidFill>
              </a:rPr>
              <a:t>Repositório da Demo — </a:t>
            </a:r>
            <a:r>
              <a:rPr b="0">
                <a:solidFill>
                  <a:srgbClr val="475569"/>
                </a:solidFill>
              </a:rPr>
              <a:t>github.com/jeffersonferreira/kronk-tech-demo-golangsp</a:t>
            </a:r>
          </a:p>
        </p:txBody>
      </p:sp>
      <p:pic>
        <p:nvPicPr>
          <p:cNvPr id="10" name="Picture 9" descr="gopher_new.png"/>
          <p:cNvPicPr>
            <a:picLocks noChangeAspect="1"/>
          </p:cNvPicPr>
          <p:nvPr/>
        </p:nvPicPr>
        <p:blipFill>
          <a:blip r:embed="rId3"/>
          <a:stretch>
            <a:fillRect/>
          </a:stretch>
        </p:blipFill>
        <p:spPr>
          <a:xfrm>
            <a:off x="8961120" y="2011680"/>
            <a:ext cx="2377440" cy="231302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6473</Words>
  <Application>Microsoft Macintosh PowerPoint</Application>
  <PresentationFormat>Widescreen</PresentationFormat>
  <Paragraphs>519</Paragraphs>
  <Slides>44</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Jefferson Ferreira</cp:lastModifiedBy>
  <cp:revision>2</cp:revision>
  <dcterms:created xsi:type="dcterms:W3CDTF">2013-01-27T09:14:16Z</dcterms:created>
  <dcterms:modified xsi:type="dcterms:W3CDTF">2026-06-25T11:05:18Z</dcterms:modified>
  <cp:category/>
</cp:coreProperties>
</file>